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6" r:id="rId7"/>
    <p:sldId id="267" r:id="rId8"/>
    <p:sldId id="268" r:id="rId9"/>
    <p:sldId id="261" r:id="rId10"/>
    <p:sldId id="262" r:id="rId11"/>
    <p:sldId id="264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sz="1400" dirty="0" smtClean="0"/>
              <a:t>Material Readiness by Plant</a:t>
            </a:r>
            <a:endParaRPr lang="en-IN" sz="1400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1186971423336154E-2"/>
          <c:y val="6.5731891877519086E-2"/>
          <c:w val="0.94583058562992128"/>
          <c:h val="0.767486542354420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Plant -B</c:v>
                </c:pt>
                <c:pt idx="1">
                  <c:v>Plant -C</c:v>
                </c:pt>
                <c:pt idx="2">
                  <c:v>Plant -D</c:v>
                </c:pt>
                <c:pt idx="3">
                  <c:v>Plant - E</c:v>
                </c:pt>
                <c:pt idx="4">
                  <c:v>Plant - F</c:v>
                </c:pt>
                <c:pt idx="5">
                  <c:v>Plant - G</c:v>
                </c:pt>
                <c:pt idx="6">
                  <c:v>Plant - H</c:v>
                </c:pt>
                <c:pt idx="7">
                  <c:v>Plant - I</c:v>
                </c:pt>
                <c:pt idx="8">
                  <c:v>Plant - J</c:v>
                </c:pt>
                <c:pt idx="9">
                  <c:v>Plant - K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0.7</c:v>
                </c:pt>
                <c:pt idx="1">
                  <c:v>0.6</c:v>
                </c:pt>
                <c:pt idx="2">
                  <c:v>0.45</c:v>
                </c:pt>
                <c:pt idx="3">
                  <c:v>0.8</c:v>
                </c:pt>
                <c:pt idx="4">
                  <c:v>0.56000000000000005</c:v>
                </c:pt>
                <c:pt idx="5">
                  <c:v>0.68</c:v>
                </c:pt>
                <c:pt idx="6">
                  <c:v>0.98</c:v>
                </c:pt>
                <c:pt idx="7">
                  <c:v>0.75</c:v>
                </c:pt>
                <c:pt idx="8">
                  <c:v>0.65</c:v>
                </c:pt>
                <c:pt idx="9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-1618708128"/>
        <c:axId val="-1618705408"/>
      </c:barChart>
      <c:catAx>
        <c:axId val="-161870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618705408"/>
        <c:crossesAt val="0"/>
        <c:auto val="1"/>
        <c:lblAlgn val="ctr"/>
        <c:lblOffset val="100"/>
        <c:noMultiLvlLbl val="0"/>
      </c:catAx>
      <c:valAx>
        <c:axId val="-161870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618708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FFF3-5AF8-47C3-8FC2-0D5C0C322C1F}" type="datetimeFigureOut">
              <a:rPr lang="en-IN" smtClean="0"/>
              <a:t>2026/01/17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9FF0-B64D-49D6-BC22-A11D90A32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7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FFF3-5AF8-47C3-8FC2-0D5C0C322C1F}" type="datetimeFigureOut">
              <a:rPr lang="en-IN" smtClean="0"/>
              <a:t>2026/01/17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9FF0-B64D-49D6-BC22-A11D90A32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280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FFF3-5AF8-47C3-8FC2-0D5C0C322C1F}" type="datetimeFigureOut">
              <a:rPr lang="en-IN" smtClean="0"/>
              <a:t>2026/01/17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9FF0-B64D-49D6-BC22-A11D90A32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802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FFF3-5AF8-47C3-8FC2-0D5C0C322C1F}" type="datetimeFigureOut">
              <a:rPr lang="en-IN" smtClean="0"/>
              <a:t>2026/01/17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9FF0-B64D-49D6-BC22-A11D90A32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571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FFF3-5AF8-47C3-8FC2-0D5C0C322C1F}" type="datetimeFigureOut">
              <a:rPr lang="en-IN" smtClean="0"/>
              <a:t>2026/01/17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9FF0-B64D-49D6-BC22-A11D90A32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169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FFF3-5AF8-47C3-8FC2-0D5C0C322C1F}" type="datetimeFigureOut">
              <a:rPr lang="en-IN" smtClean="0"/>
              <a:t>2026/01/17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9FF0-B64D-49D6-BC22-A11D90A32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14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FFF3-5AF8-47C3-8FC2-0D5C0C322C1F}" type="datetimeFigureOut">
              <a:rPr lang="en-IN" smtClean="0"/>
              <a:t>2026/01/17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9FF0-B64D-49D6-BC22-A11D90A32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873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FFF3-5AF8-47C3-8FC2-0D5C0C322C1F}" type="datetimeFigureOut">
              <a:rPr lang="en-IN" smtClean="0"/>
              <a:t>2026/01/17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9FF0-B64D-49D6-BC22-A11D90A32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354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FFF3-5AF8-47C3-8FC2-0D5C0C322C1F}" type="datetimeFigureOut">
              <a:rPr lang="en-IN" smtClean="0"/>
              <a:t>2026/01/17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9FF0-B64D-49D6-BC22-A11D90A32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334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FFF3-5AF8-47C3-8FC2-0D5C0C322C1F}" type="datetimeFigureOut">
              <a:rPr lang="en-IN" smtClean="0"/>
              <a:t>2026/01/17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9FF0-B64D-49D6-BC22-A11D90A32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794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FFF3-5AF8-47C3-8FC2-0D5C0C322C1F}" type="datetimeFigureOut">
              <a:rPr lang="en-IN" smtClean="0"/>
              <a:t>2026/01/17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9FF0-B64D-49D6-BC22-A11D90A32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053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6FFF3-5AF8-47C3-8FC2-0D5C0C322C1F}" type="datetimeFigureOut">
              <a:rPr lang="en-IN" smtClean="0"/>
              <a:t>2026/01/17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99FF0-B64D-49D6-BC22-A11D90A32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942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4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6.wdp"/><Relationship Id="rId5" Type="http://schemas.openxmlformats.org/officeDocument/2006/relationships/image" Target="../media/image11.png"/><Relationship Id="rId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826" y="-1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110000"/>
                  <a:satMod val="105000"/>
                  <a:tint val="67000"/>
                  <a:alpha val="40000"/>
                </a:schemeClr>
              </a:gs>
              <a:gs pos="50000">
                <a:schemeClr val="accent1">
                  <a:lumMod val="105000"/>
                  <a:satMod val="103000"/>
                  <a:tint val="73000"/>
                  <a:alpha val="65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  <a:alpha val="42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lowchart: Terminator 2"/>
          <p:cNvSpPr/>
          <p:nvPr/>
        </p:nvSpPr>
        <p:spPr>
          <a:xfrm rot="16200000">
            <a:off x="1184128" y="2740008"/>
            <a:ext cx="4419076" cy="1146184"/>
          </a:xfrm>
          <a:prstGeom prst="flowChartTerminator">
            <a:avLst/>
          </a:prstGeom>
          <a:gradFill>
            <a:gsLst>
              <a:gs pos="0">
                <a:schemeClr val="accent6">
                  <a:lumMod val="110000"/>
                  <a:satMod val="105000"/>
                  <a:tint val="67000"/>
                  <a:alpha val="5200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4079397" y="2043338"/>
            <a:ext cx="8022791" cy="169277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APACHE APC MES</a:t>
            </a:r>
          </a:p>
          <a:p>
            <a:r>
              <a:rPr lang="en-US" sz="32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Material Management System</a:t>
            </a:r>
          </a:p>
          <a:p>
            <a:r>
              <a:rPr lang="en-US" altLang="zh-CN" sz="3200" b="1" dirty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_</a:t>
            </a:r>
            <a:r>
              <a:rPr lang="zh-CN" altLang="en-US" sz="3200" b="1" dirty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蓝图设计 </a:t>
            </a:r>
            <a:r>
              <a:rPr lang="en-US" altLang="zh-CN" sz="3200" b="1" dirty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Blueprint Design</a:t>
            </a:r>
            <a:r>
              <a:rPr lang="en-US" sz="3200" b="1" dirty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3325091" y="5597237"/>
            <a:ext cx="8866910" cy="12607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Presented by : Manohar-G ( APC-IT ) </a:t>
            </a:r>
          </a:p>
          <a:p>
            <a:pPr algn="ctr"/>
            <a:r>
              <a:rPr lang="en-GB" b="1" dirty="0" smtClean="0">
                <a:solidFill>
                  <a:srgbClr val="FF0000"/>
                </a:solidFill>
              </a:rPr>
              <a:t>2025 September 24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371" y="6294820"/>
            <a:ext cx="877455" cy="583907"/>
          </a:xfrm>
          <a:prstGeom prst="rect">
            <a:avLst/>
          </a:prstGeom>
        </p:spPr>
      </p:pic>
      <p:sp>
        <p:nvSpPr>
          <p:cNvPr id="33" name="Flowchart: Delay 32"/>
          <p:cNvSpPr/>
          <p:nvPr/>
        </p:nvSpPr>
        <p:spPr>
          <a:xfrm rot="10800000">
            <a:off x="9652000" y="0"/>
            <a:ext cx="2540000" cy="1874982"/>
          </a:xfrm>
          <a:prstGeom prst="flowChartDelay">
            <a:avLst/>
          </a:prstGeom>
          <a:blipFill dpi="0" rotWithShape="0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/>
          <p:cNvSpPr txBox="1"/>
          <p:nvPr/>
        </p:nvSpPr>
        <p:spPr>
          <a:xfrm>
            <a:off x="4401128" y="4037642"/>
            <a:ext cx="217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/>
                </a:solidFill>
              </a:rPr>
              <a:t>Report Presented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-16512" y="-3"/>
            <a:ext cx="3335288" cy="68579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51742" y="134064"/>
            <a:ext cx="2313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Apache Footwear India Private Limited </a:t>
            </a:r>
            <a:endParaRPr lang="en-IN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786" y="232206"/>
            <a:ext cx="307986" cy="30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26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38" y="-10948"/>
            <a:ext cx="12160038" cy="435823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🛠 </a:t>
            </a:r>
            <a:r>
              <a:rPr lang="en-IN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Meeting Focus Areas</a:t>
            </a:r>
            <a:endParaRPr lang="en-GB" sz="2000" b="1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02975"/>
          </a:xfrm>
          <a:prstGeom prst="rect">
            <a:avLst/>
          </a:prstGeom>
        </p:spPr>
      </p:pic>
      <p:sp>
        <p:nvSpPr>
          <p:cNvPr id="19" name="Rectangle 8">
            <a:extLst>
              <a:ext uri="{FF2B5EF4-FFF2-40B4-BE49-F238E27FC236}">
                <a16:creationId xmlns="" xmlns:a16="http://schemas.microsoft.com/office/drawing/2014/main" id="{2FA75AB2-F309-4DAD-878C-2A59E7CE3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830" y="5048527"/>
            <a:ext cx="814701" cy="54864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0" tIns="0" rIns="0" bIns="0" anchor="ctr"/>
          <a:lstStyle/>
          <a:p>
            <a:pPr algn="ctr" latinLnBrk="1" hangingPunct="0">
              <a:buClr>
                <a:srgbClr val="006600"/>
              </a:buClr>
              <a:buSzPct val="85000"/>
              <a:buFont typeface="Wingdings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latin typeface="+mj-lt"/>
                <a:ea typeface="微软雅黑" pitchFamily="34" charset="-122"/>
                <a:cs typeface="Arial" pitchFamily="34" charset="0"/>
              </a:rPr>
              <a:t>6</a:t>
            </a:r>
            <a:endParaRPr lang="en-US" altLang="zh-CN" sz="1800" dirty="0">
              <a:solidFill>
                <a:schemeClr val="tx1"/>
              </a:solidFill>
              <a:latin typeface="+mj-lt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21" name="Rectangle 8">
            <a:extLst>
              <a:ext uri="{FF2B5EF4-FFF2-40B4-BE49-F238E27FC236}">
                <a16:creationId xmlns="" xmlns:a16="http://schemas.microsoft.com/office/drawing/2014/main" id="{2FA75AB2-F309-4DAD-878C-2A59E7CE3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830" y="4137982"/>
            <a:ext cx="814701" cy="54864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0" tIns="0" rIns="0" bIns="0" anchor="ctr"/>
          <a:lstStyle/>
          <a:p>
            <a:pPr algn="ctr" latinLnBrk="1" hangingPunct="0">
              <a:buClr>
                <a:srgbClr val="006600"/>
              </a:buClr>
              <a:buSzPct val="85000"/>
              <a:buFont typeface="Wingdings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latin typeface="+mj-lt"/>
                <a:ea typeface="微软雅黑" pitchFamily="34" charset="-122"/>
                <a:cs typeface="Arial" pitchFamily="34" charset="0"/>
              </a:rPr>
              <a:t>5</a:t>
            </a:r>
            <a:endParaRPr lang="en-US" altLang="zh-CN" sz="1800" dirty="0">
              <a:solidFill>
                <a:schemeClr val="tx1"/>
              </a:solidFill>
              <a:latin typeface="+mj-lt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22" name="Rectangle 8">
            <a:extLst>
              <a:ext uri="{FF2B5EF4-FFF2-40B4-BE49-F238E27FC236}">
                <a16:creationId xmlns="" xmlns:a16="http://schemas.microsoft.com/office/drawing/2014/main" id="{2FA75AB2-F309-4DAD-878C-2A59E7CE3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832" y="3300985"/>
            <a:ext cx="814701" cy="54864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0" tIns="0" rIns="0" bIns="0" anchor="ctr"/>
          <a:lstStyle/>
          <a:p>
            <a:pPr algn="ctr" latinLnBrk="1" hangingPunct="0">
              <a:buClr>
                <a:srgbClr val="006600"/>
              </a:buClr>
              <a:buSzPct val="85000"/>
              <a:buFont typeface="Wingdings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latin typeface="+mj-lt"/>
                <a:ea typeface="微软雅黑" pitchFamily="34" charset="-122"/>
                <a:cs typeface="Arial" pitchFamily="34" charset="0"/>
              </a:rPr>
              <a:t>4</a:t>
            </a:r>
            <a:endParaRPr lang="en-US" altLang="zh-CN" sz="1800" dirty="0">
              <a:solidFill>
                <a:schemeClr val="tx1"/>
              </a:solidFill>
              <a:latin typeface="+mj-lt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2FA75AB2-F309-4DAD-878C-2A59E7CE3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833" y="1626991"/>
            <a:ext cx="814701" cy="54864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0" tIns="0" rIns="0" bIns="0" anchor="ctr"/>
          <a:lstStyle/>
          <a:p>
            <a:pPr algn="ctr" latinLnBrk="1" hangingPunct="0">
              <a:buClr>
                <a:srgbClr val="006600"/>
              </a:buClr>
              <a:buSzPct val="85000"/>
              <a:buFont typeface="Wingdings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latin typeface="+mj-lt"/>
                <a:ea typeface="微软雅黑" pitchFamily="34" charset="-122"/>
                <a:cs typeface="Arial" pitchFamily="34" charset="0"/>
              </a:rPr>
              <a:t>2</a:t>
            </a:r>
          </a:p>
        </p:txBody>
      </p:sp>
      <p:sp>
        <p:nvSpPr>
          <p:cNvPr id="26" name="Rectangle 8">
            <a:extLst>
              <a:ext uri="{FF2B5EF4-FFF2-40B4-BE49-F238E27FC236}">
                <a16:creationId xmlns="" xmlns:a16="http://schemas.microsoft.com/office/drawing/2014/main" id="{2FA75AB2-F309-4DAD-878C-2A59E7CE3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833" y="786780"/>
            <a:ext cx="814701" cy="54864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0" tIns="0" rIns="0" bIns="0" anchor="ctr"/>
          <a:lstStyle/>
          <a:p>
            <a:pPr algn="ctr" latinLnBrk="1" hangingPunct="0">
              <a:buClr>
                <a:srgbClr val="006600"/>
              </a:buClr>
              <a:buSzPct val="85000"/>
              <a:buFont typeface="Wingdings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latin typeface="+mj-lt"/>
                <a:ea typeface="微软雅黑" pitchFamily="34" charset="-122"/>
                <a:cs typeface="Arial" pitchFamily="34" charset="0"/>
              </a:rPr>
              <a:t>1</a:t>
            </a:r>
          </a:p>
        </p:txBody>
      </p:sp>
      <p:sp>
        <p:nvSpPr>
          <p:cNvPr id="27" name="Rectangle 5">
            <a:extLst>
              <a:ext uri="{FF2B5EF4-FFF2-40B4-BE49-F238E27FC236}">
                <a16:creationId xmlns="" xmlns:a16="http://schemas.microsoft.com/office/drawing/2014/main" id="{B20B0CB0-034C-4E7D-A9A4-8FC43CA0A5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088690" y="786780"/>
            <a:ext cx="5773407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180000" tIns="46800" rIns="72000" bIns="46800" anchor="ctr"/>
          <a:lstStyle/>
          <a:p>
            <a:pPr eaLnBrk="0" latinLnBrk="1" hangingPunct="0">
              <a:buClr>
                <a:srgbClr val="006600"/>
              </a:buClr>
              <a:buSzPct val="85000"/>
            </a:pPr>
            <a:r>
              <a:rPr lang="zh-CN" altLang="en-US" b="1" dirty="0">
                <a:solidFill>
                  <a:srgbClr val="DB6A03"/>
                </a:solidFill>
                <a:latin typeface="+mj-lt"/>
                <a:ea typeface="微软雅黑" pitchFamily="34" charset="-122"/>
              </a:rPr>
              <a:t>项目范围 </a:t>
            </a:r>
            <a:r>
              <a:rPr lang="en-US" altLang="zh-CN" b="1" dirty="0">
                <a:solidFill>
                  <a:srgbClr val="DB6A03"/>
                </a:solidFill>
                <a:latin typeface="+mj-lt"/>
                <a:ea typeface="微软雅黑" pitchFamily="34" charset="-122"/>
              </a:rPr>
              <a:t>Project Scope</a:t>
            </a:r>
            <a:endParaRPr lang="zh-CN" altLang="en-US" b="1" dirty="0">
              <a:solidFill>
                <a:srgbClr val="DB6A03"/>
              </a:solidFill>
              <a:latin typeface="+mj-lt"/>
              <a:ea typeface="微软雅黑" pitchFamily="34" charset="-122"/>
            </a:endParaRPr>
          </a:p>
        </p:txBody>
      </p:sp>
      <p:sp>
        <p:nvSpPr>
          <p:cNvPr id="28" name="Rectangle 8">
            <a:extLst>
              <a:ext uri="{FF2B5EF4-FFF2-40B4-BE49-F238E27FC236}">
                <a16:creationId xmlns="" xmlns:a16="http://schemas.microsoft.com/office/drawing/2014/main" id="{5BFE36D3-9A88-44FB-B11C-F9E300E6B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832" y="2463988"/>
            <a:ext cx="814701" cy="54864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0" tIns="0" rIns="0" bIns="0" anchor="ctr"/>
          <a:lstStyle/>
          <a:p>
            <a:pPr algn="ctr" latinLnBrk="1" hangingPunct="0">
              <a:buClr>
                <a:srgbClr val="006600"/>
              </a:buClr>
              <a:buSzPct val="85000"/>
              <a:buFont typeface="Wingdings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latin typeface="+mj-lt"/>
                <a:ea typeface="微软雅黑" pitchFamily="34" charset="-122"/>
                <a:cs typeface="Arial" pitchFamily="34" charset="0"/>
              </a:rPr>
              <a:t>3</a:t>
            </a:r>
          </a:p>
        </p:txBody>
      </p:sp>
      <p:sp>
        <p:nvSpPr>
          <p:cNvPr id="31" name="Rectangle 5">
            <a:extLst>
              <a:ext uri="{FF2B5EF4-FFF2-40B4-BE49-F238E27FC236}">
                <a16:creationId xmlns="" xmlns:a16="http://schemas.microsoft.com/office/drawing/2014/main" id="{B20B0CB0-034C-4E7D-A9A4-8FC43CA0A5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088687" y="785173"/>
            <a:ext cx="5773407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180000" tIns="46800" rIns="72000" bIns="46800" anchor="ctr"/>
          <a:lstStyle/>
          <a:p>
            <a:pPr eaLnBrk="0" latinLnBrk="1" hangingPunct="0">
              <a:buClr>
                <a:srgbClr val="006600"/>
              </a:buClr>
              <a:buSzPct val="85000"/>
            </a:pPr>
            <a:r>
              <a:rPr lang="zh-CN" altLang="en-US" b="1" dirty="0">
                <a:solidFill>
                  <a:srgbClr val="DB6A03"/>
                </a:solidFill>
                <a:latin typeface="+mj-lt"/>
                <a:ea typeface="微软雅黑" pitchFamily="34" charset="-122"/>
              </a:rPr>
              <a:t>项目范围 </a:t>
            </a:r>
            <a:r>
              <a:rPr lang="en-US" altLang="zh-CN" b="1" dirty="0">
                <a:solidFill>
                  <a:srgbClr val="DB6A03"/>
                </a:solidFill>
                <a:latin typeface="+mj-lt"/>
                <a:ea typeface="微软雅黑" pitchFamily="34" charset="-122"/>
              </a:rPr>
              <a:t>Project Scope</a:t>
            </a:r>
            <a:endParaRPr lang="zh-CN" altLang="en-US" b="1" dirty="0">
              <a:solidFill>
                <a:srgbClr val="DB6A03"/>
              </a:solidFill>
              <a:latin typeface="+mj-lt"/>
              <a:ea typeface="微软雅黑" pitchFamily="34" charset="-122"/>
            </a:endParaRPr>
          </a:p>
        </p:txBody>
      </p:sp>
      <p:sp>
        <p:nvSpPr>
          <p:cNvPr id="35" name="Rectangle 5">
            <a:extLst>
              <a:ext uri="{FF2B5EF4-FFF2-40B4-BE49-F238E27FC236}">
                <a16:creationId xmlns="" xmlns:a16="http://schemas.microsoft.com/office/drawing/2014/main" id="{B20B0CB0-034C-4E7D-A9A4-8FC43CA0A5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088686" y="785173"/>
            <a:ext cx="5773407" cy="54864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80000" tIns="46800" rIns="72000" bIns="46800" anchor="ctr"/>
          <a:lstStyle/>
          <a:p>
            <a:pPr eaLnBrk="0" latinLnBrk="1" hangingPunct="0">
              <a:buClr>
                <a:srgbClr val="006600"/>
              </a:buClr>
              <a:buSzPct val="85000"/>
            </a:pPr>
            <a:r>
              <a:rPr lang="zh-CN" altLang="en-US" b="1" dirty="0">
                <a:solidFill>
                  <a:schemeClr val="tx1"/>
                </a:solidFill>
                <a:latin typeface="+mj-lt"/>
                <a:ea typeface="微软雅黑" pitchFamily="34" charset="-122"/>
              </a:rPr>
              <a:t>项目范围 </a:t>
            </a:r>
            <a:r>
              <a:rPr lang="en-US" altLang="zh-CN" b="1" dirty="0">
                <a:solidFill>
                  <a:schemeClr val="tx1"/>
                </a:solidFill>
                <a:latin typeface="+mj-lt"/>
                <a:ea typeface="微软雅黑" pitchFamily="34" charset="-122"/>
              </a:rPr>
              <a:t>Project Scope</a:t>
            </a:r>
            <a:endParaRPr lang="zh-CN" altLang="en-US" b="1" dirty="0">
              <a:solidFill>
                <a:schemeClr val="tx1"/>
              </a:solidFill>
              <a:latin typeface="+mj-lt"/>
              <a:ea typeface="微软雅黑" pitchFamily="34" charset="-122"/>
            </a:endParaRPr>
          </a:p>
        </p:txBody>
      </p:sp>
      <p:sp>
        <p:nvSpPr>
          <p:cNvPr id="37" name="Rectangle 5">
            <a:extLst>
              <a:ext uri="{FF2B5EF4-FFF2-40B4-BE49-F238E27FC236}">
                <a16:creationId xmlns:a16="http://schemas.microsoft.com/office/drawing/2014/main" xmlns="" id="{B20B0CB0-034C-4E7D-A9A4-8FC43CA0A5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088683" y="2469396"/>
            <a:ext cx="5773407" cy="538235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80000" tIns="46800" rIns="72000" bIns="46800" anchor="ctr"/>
          <a:lstStyle/>
          <a:p>
            <a:pPr eaLnBrk="0" latinLnBrk="1" hangingPunct="0">
              <a:buClr>
                <a:srgbClr val="006600"/>
              </a:buClr>
              <a:buSzPct val="85000"/>
            </a:pPr>
            <a:r>
              <a:rPr lang="en-IN" altLang="zh-TW" b="1" dirty="0" smtClean="0">
                <a:solidFill>
                  <a:schemeClr val="dk1"/>
                </a:solidFill>
                <a:latin typeface="+mj-lt"/>
                <a:ea typeface="微软雅黑" pitchFamily="34" charset="-122"/>
              </a:rPr>
              <a:t>CMT </a:t>
            </a:r>
            <a:r>
              <a:rPr lang="zh-TW" altLang="en-US" b="1" dirty="0" smtClean="0">
                <a:solidFill>
                  <a:schemeClr val="dk1"/>
                </a:solidFill>
                <a:latin typeface="+mj-lt"/>
                <a:ea typeface="微软雅黑" pitchFamily="34" charset="-122"/>
              </a:rPr>
              <a:t>工</a:t>
            </a:r>
            <a:r>
              <a:rPr lang="zh-TW" altLang="en-US" b="1" dirty="0">
                <a:solidFill>
                  <a:schemeClr val="dk1"/>
                </a:solidFill>
                <a:latin typeface="+mj-lt"/>
                <a:ea typeface="微软雅黑" pitchFamily="34" charset="-122"/>
              </a:rPr>
              <a:t>作流程 </a:t>
            </a:r>
            <a:r>
              <a:rPr lang="en-US" altLang="zh-TW" b="1" dirty="0" smtClean="0">
                <a:solidFill>
                  <a:schemeClr val="dk1"/>
                </a:solidFill>
                <a:latin typeface="+mj-lt"/>
                <a:ea typeface="微软雅黑" pitchFamily="34" charset="-122"/>
              </a:rPr>
              <a:t>CMT </a:t>
            </a:r>
            <a:r>
              <a:rPr lang="en-US" altLang="zh-CN" b="1" dirty="0" smtClean="0">
                <a:solidFill>
                  <a:schemeClr val="dk1"/>
                </a:solidFill>
                <a:latin typeface="+mj-lt"/>
                <a:ea typeface="微软雅黑" pitchFamily="34" charset="-122"/>
              </a:rPr>
              <a:t>Work-flow</a:t>
            </a:r>
            <a:endParaRPr lang="zh-CN" altLang="en-US" b="1" dirty="0">
              <a:solidFill>
                <a:schemeClr val="dk1"/>
              </a:solidFill>
              <a:latin typeface="+mj-lt"/>
              <a:ea typeface="微软雅黑" pitchFamily="34" charset="-122"/>
            </a:endParaRPr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xmlns="" id="{B20B0CB0-034C-4E7D-A9A4-8FC43CA0A5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088683" y="3300985"/>
            <a:ext cx="5773407" cy="54864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80000" tIns="46800" rIns="72000" bIns="46800" anchor="ctr"/>
          <a:lstStyle/>
          <a:p>
            <a:pPr eaLnBrk="0" latinLnBrk="1" hangingPunct="0">
              <a:buClr>
                <a:srgbClr val="006600"/>
              </a:buClr>
              <a:buSzPct val="85000"/>
            </a:pPr>
            <a:r>
              <a:rPr lang="zh-CN" altLang="en-US" b="1" dirty="0">
                <a:solidFill>
                  <a:schemeClr val="dk1"/>
                </a:solidFill>
                <a:latin typeface="+mj-lt"/>
                <a:ea typeface="微软雅黑" pitchFamily="34" charset="-122"/>
              </a:rPr>
              <a:t>系统配置与开发清单 </a:t>
            </a:r>
            <a:r>
              <a:rPr lang="en-US" altLang="zh-CN" b="1" dirty="0">
                <a:solidFill>
                  <a:schemeClr val="dk1"/>
                </a:solidFill>
                <a:latin typeface="+mj-lt"/>
                <a:ea typeface="微软雅黑" pitchFamily="34" charset="-122"/>
              </a:rPr>
              <a:t>System configuration &amp; Development List</a:t>
            </a:r>
            <a:endParaRPr lang="zh-CN" altLang="en-US" b="1" dirty="0">
              <a:solidFill>
                <a:schemeClr val="dk1"/>
              </a:solidFill>
              <a:latin typeface="+mj-lt"/>
              <a:ea typeface="微软雅黑" pitchFamily="34" charset="-122"/>
            </a:endParaRPr>
          </a:p>
        </p:txBody>
      </p:sp>
      <p:sp>
        <p:nvSpPr>
          <p:cNvPr id="39" name="Rectangle 5">
            <a:extLst>
              <a:ext uri="{FF2B5EF4-FFF2-40B4-BE49-F238E27FC236}">
                <a16:creationId xmlns:a16="http://schemas.microsoft.com/office/drawing/2014/main" xmlns="" id="{B20B0CB0-034C-4E7D-A9A4-8FC43CA0A5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088682" y="4137982"/>
            <a:ext cx="5773407" cy="550012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80000" tIns="46800" rIns="72000" bIns="46800" anchor="ctr"/>
          <a:lstStyle/>
          <a:p>
            <a:pPr eaLnBrk="0" latinLnBrk="1" hangingPunct="0">
              <a:buClr>
                <a:srgbClr val="006600"/>
              </a:buClr>
              <a:buSzPct val="85000"/>
            </a:pPr>
            <a:r>
              <a:rPr lang="zh-CN" altLang="en-US" b="1" dirty="0">
                <a:solidFill>
                  <a:schemeClr val="dk1"/>
                </a:solidFill>
                <a:latin typeface="+mj-lt"/>
                <a:ea typeface="微软雅黑" pitchFamily="34" charset="-122"/>
              </a:rPr>
              <a:t>蓝图签核确认清单 </a:t>
            </a:r>
            <a:r>
              <a:rPr lang="en-US" altLang="zh-CN" b="1" dirty="0">
                <a:solidFill>
                  <a:schemeClr val="dk1"/>
                </a:solidFill>
                <a:latin typeface="+mj-lt"/>
                <a:ea typeface="微软雅黑" pitchFamily="34" charset="-122"/>
              </a:rPr>
              <a:t>Blueprint Sign-off List</a:t>
            </a:r>
            <a:endParaRPr lang="zh-CN" altLang="en-US" b="1" dirty="0">
              <a:solidFill>
                <a:schemeClr val="dk1"/>
              </a:solidFill>
              <a:latin typeface="+mj-lt"/>
              <a:ea typeface="微软雅黑" pitchFamily="34" charset="-122"/>
            </a:endParaRPr>
          </a:p>
        </p:txBody>
      </p:sp>
      <p:sp>
        <p:nvSpPr>
          <p:cNvPr id="40" name="Rectangle 5">
            <a:extLst>
              <a:ext uri="{FF2B5EF4-FFF2-40B4-BE49-F238E27FC236}">
                <a16:creationId xmlns:a16="http://schemas.microsoft.com/office/drawing/2014/main" xmlns="" id="{B20B0CB0-034C-4E7D-A9A4-8FC43CA0A5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088684" y="1632617"/>
            <a:ext cx="5773407" cy="543013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80000" tIns="46800" rIns="72000" bIns="46800" anchor="ctr"/>
          <a:lstStyle/>
          <a:p>
            <a:pPr eaLnBrk="0" latinLnBrk="1" hangingPunct="0">
              <a:buClr>
                <a:srgbClr val="006600"/>
              </a:buClr>
              <a:buSzPct val="85000"/>
            </a:pPr>
            <a:r>
              <a:rPr lang="en-IN" altLang="zh-TW" b="1" dirty="0" smtClean="0">
                <a:latin typeface="+mj-lt"/>
                <a:ea typeface="微软雅黑" pitchFamily="34" charset="-122"/>
              </a:rPr>
              <a:t>CMT </a:t>
            </a:r>
            <a:r>
              <a:rPr lang="zh-TW" altLang="en-US" b="1" dirty="0" smtClean="0">
                <a:latin typeface="+mj-lt"/>
                <a:ea typeface="微软雅黑" pitchFamily="34" charset="-122"/>
              </a:rPr>
              <a:t>流</a:t>
            </a:r>
            <a:r>
              <a:rPr lang="zh-TW" altLang="en-US" b="1" dirty="0">
                <a:latin typeface="+mj-lt"/>
                <a:ea typeface="微软雅黑" pitchFamily="34" charset="-122"/>
              </a:rPr>
              <a:t>程圖 </a:t>
            </a:r>
            <a:r>
              <a:rPr lang="zh-TW" altLang="en-US" b="1" dirty="0" smtClean="0">
                <a:latin typeface="+mj-lt"/>
                <a:ea typeface="微软雅黑" pitchFamily="34" charset="-122"/>
              </a:rPr>
              <a:t> </a:t>
            </a:r>
            <a:r>
              <a:rPr lang="en-GB" altLang="zh-TW" b="1" dirty="0" smtClean="0">
                <a:latin typeface="+mj-lt"/>
                <a:ea typeface="微软雅黑" pitchFamily="34" charset="-122"/>
              </a:rPr>
              <a:t>CMT </a:t>
            </a:r>
            <a:r>
              <a:rPr lang="en-US" altLang="zh-CN" b="1" dirty="0" smtClean="0">
                <a:latin typeface="+mj-lt"/>
                <a:ea typeface="微软雅黑" pitchFamily="34" charset="-122"/>
              </a:rPr>
              <a:t>Flow </a:t>
            </a:r>
            <a:r>
              <a:rPr lang="en-US" altLang="zh-CN" b="1" dirty="0">
                <a:latin typeface="+mj-lt"/>
                <a:ea typeface="微软雅黑" pitchFamily="34" charset="-122"/>
              </a:rPr>
              <a:t>Chart</a:t>
            </a:r>
            <a:endParaRPr lang="zh-CN" altLang="en-US" b="1" dirty="0">
              <a:latin typeface="+mj-lt"/>
              <a:ea typeface="微软雅黑" pitchFamily="34" charset="-122"/>
            </a:endParaRPr>
          </a:p>
        </p:txBody>
      </p:sp>
      <p:sp>
        <p:nvSpPr>
          <p:cNvPr id="41" name="Rectangle 5">
            <a:extLst>
              <a:ext uri="{FF2B5EF4-FFF2-40B4-BE49-F238E27FC236}">
                <a16:creationId xmlns:a16="http://schemas.microsoft.com/office/drawing/2014/main" xmlns="" id="{B20B0CB0-034C-4E7D-A9A4-8FC43CA0A5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088682" y="5047841"/>
            <a:ext cx="5773407" cy="550012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80000" tIns="46800" rIns="72000" bIns="46800" anchor="ctr"/>
          <a:lstStyle/>
          <a:p>
            <a:pPr eaLnBrk="0" latinLnBrk="1" hangingPunct="0">
              <a:buClr>
                <a:srgbClr val="006600"/>
              </a:buClr>
              <a:buSzPct val="85000"/>
            </a:pPr>
            <a:r>
              <a:rPr lang="zh-CN" altLang="en-US" b="1" dirty="0">
                <a:solidFill>
                  <a:schemeClr val="dk1"/>
                </a:solidFill>
                <a:latin typeface="+mj-lt"/>
                <a:ea typeface="微软雅黑" pitchFamily="34" charset="-122"/>
              </a:rPr>
              <a:t>蓝图签核 </a:t>
            </a:r>
            <a:r>
              <a:rPr lang="en-US" altLang="zh-CN" b="1" dirty="0">
                <a:solidFill>
                  <a:schemeClr val="dk1"/>
                </a:solidFill>
                <a:latin typeface="+mj-lt"/>
                <a:ea typeface="微软雅黑" pitchFamily="34" charset="-122"/>
              </a:rPr>
              <a:t>Blue print Sign-off</a:t>
            </a:r>
            <a:endParaRPr lang="zh-CN" altLang="en-US" b="1" dirty="0">
              <a:solidFill>
                <a:schemeClr val="dk1"/>
              </a:solidFill>
              <a:latin typeface="+mj-lt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9196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38" y="-10948"/>
            <a:ext cx="12160038" cy="435823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项</a:t>
            </a:r>
            <a:r>
              <a:rPr lang="zh-CN" altLang="en-US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目范围 </a:t>
            </a:r>
            <a:r>
              <a:rPr lang="en-US" altLang="zh-CN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Project Scope</a:t>
            </a:r>
            <a:endParaRPr lang="en-GB" sz="2000" b="1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02975"/>
          </a:xfrm>
          <a:prstGeom prst="rect">
            <a:avLst/>
          </a:prstGeom>
        </p:spPr>
      </p:pic>
      <p:graphicFrame>
        <p:nvGraphicFramePr>
          <p:cNvPr id="7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935778"/>
              </p:ext>
            </p:extLst>
          </p:nvPr>
        </p:nvGraphicFramePr>
        <p:xfrm>
          <a:off x="222921" y="1212110"/>
          <a:ext cx="11823769" cy="4416165"/>
        </p:xfrm>
        <a:graphic>
          <a:graphicData uri="http://schemas.openxmlformats.org/drawingml/2006/table">
            <a:tbl>
              <a:tblPr/>
              <a:tblGrid>
                <a:gridCol w="6641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6289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95562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41368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92740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62851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序号</a:t>
                      </a:r>
                      <a:endParaRPr lang="en-US" altLang="zh-CN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No.</a:t>
                      </a:r>
                      <a:endParaRPr lang="zh-CN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fontAlgn="ctr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类别</a:t>
                      </a:r>
                      <a:endParaRPr lang="en-US" altLang="zh-CN" sz="1400" b="1" i="0" u="none" strike="noStrike" kern="1200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354" rtl="0" eaLnBrk="1" fontAlgn="ctr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Category</a:t>
                      </a:r>
                      <a:endParaRPr lang="zh-CN" altLang="en-US" sz="1400" b="1" i="0" u="none" strike="noStrike" kern="1200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范围内</a:t>
                      </a:r>
                      <a:endParaRPr lang="en-US" altLang="zh-CN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Scope-in</a:t>
                      </a:r>
                      <a:endParaRPr lang="zh-CN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范围外</a:t>
                      </a:r>
                      <a:endParaRPr lang="en-US" altLang="zh-CN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Scope-out</a:t>
                      </a:r>
                      <a:endParaRPr lang="zh-CN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备注</a:t>
                      </a:r>
                      <a:endParaRPr lang="en-US" altLang="zh-CN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Remark</a:t>
                      </a:r>
                      <a:endParaRPr lang="zh-CN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152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zh-CN" alt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公司</a:t>
                      </a:r>
                      <a:endParaRPr lang="en-US" altLang="zh-CN" sz="1400" b="1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Company </a:t>
                      </a:r>
                      <a:endParaRPr lang="en-US" altLang="zh-CN" sz="1400" b="1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4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APACHE 5001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zh-CN" sz="14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Later Will Implement in T2 Factories.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9203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  <a:endParaRPr lang="zh-CN" alt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模块</a:t>
                      </a:r>
                      <a:endParaRPr lang="en-US" altLang="zh-CN" sz="1400" b="1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Modules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4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MES Cutting Material Management System For reduce cutting line Stoppage </a:t>
                      </a:r>
                      <a:endParaRPr lang="en-US" altLang="zh-CN" sz="1400" b="0" i="0" u="none" strike="noStrike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zh-CN" sz="14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algn="l" rtl="0" fontAlgn="ctr"/>
                      <a:endParaRPr lang="en-US" altLang="zh-CN" sz="14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8039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  <a:endParaRPr lang="zh-CN" alt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系统系统</a:t>
                      </a:r>
                      <a:r>
                        <a:rPr lang="en-US" altLang="zh-CN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System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4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We are Implementing </a:t>
                      </a:r>
                      <a:r>
                        <a:rPr lang="en-US" altLang="zh-CN" sz="14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Cutting material management Function </a:t>
                      </a:r>
                      <a:r>
                        <a:rPr lang="en-US" altLang="zh-CN" sz="14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MES</a:t>
                      </a:r>
                      <a:r>
                        <a:rPr lang="en-US" altLang="zh-CN" sz="14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. It is useful for reduce cutting line stoppage and reschedule </a:t>
                      </a:r>
                      <a:r>
                        <a:rPr lang="en-US" altLang="zh-CN" sz="1400" b="0" i="0" u="none" strike="noStrike" baseline="0" dirty="0" err="1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pos</a:t>
                      </a:r>
                      <a:r>
                        <a:rPr lang="en-US" altLang="zh-CN" sz="14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accordingly material availability. </a:t>
                      </a:r>
                      <a:endParaRPr lang="en-US" altLang="zh-CN" sz="1400" b="0" i="0" u="none" strike="noStrike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zh-CN" sz="14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zh-CN" sz="14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1548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"/>
            <a:ext cx="12192000" cy="435823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eaLnBrk="0" latinLnBrk="1" hangingPunct="0">
              <a:buClr>
                <a:srgbClr val="006600"/>
              </a:buClr>
              <a:buSzPct val="85000"/>
            </a:pPr>
            <a:r>
              <a:rPr lang="zh-CN" altLang="en-US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 </a:t>
            </a:r>
            <a:r>
              <a:rPr lang="zh-CN" altLang="en-US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                                                          </a:t>
            </a:r>
            <a:r>
              <a:rPr lang="en-IN" altLang="zh-TW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CMT </a:t>
            </a:r>
            <a:r>
              <a:rPr lang="zh-TW" altLang="en-US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流</a:t>
            </a:r>
            <a:r>
              <a:rPr lang="zh-TW" altLang="en-US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程圖 </a:t>
            </a:r>
            <a:r>
              <a:rPr lang="en-US" altLang="zh-TW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CMT </a:t>
            </a:r>
            <a:r>
              <a:rPr lang="en-US" altLang="zh-CN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Flow </a:t>
            </a:r>
            <a:r>
              <a:rPr lang="en-US" altLang="zh-CN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Chart</a:t>
            </a:r>
            <a:endParaRPr lang="zh-CN" altLang="en-US" sz="2000" b="1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02975"/>
          </a:xfrm>
          <a:prstGeom prst="rect">
            <a:avLst/>
          </a:prstGeom>
        </p:spPr>
      </p:pic>
      <p:sp>
        <p:nvSpPr>
          <p:cNvPr id="2" name="Pentagon 1"/>
          <p:cNvSpPr/>
          <p:nvPr/>
        </p:nvSpPr>
        <p:spPr>
          <a:xfrm>
            <a:off x="129314" y="477822"/>
            <a:ext cx="2403762" cy="341745"/>
          </a:xfrm>
          <a:prstGeom prst="homePlat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Start </a:t>
            </a:r>
            <a:endParaRPr lang="en-IN" sz="1200" dirty="0"/>
          </a:p>
        </p:txBody>
      </p:sp>
      <p:sp>
        <p:nvSpPr>
          <p:cNvPr id="54" name="Snip Single Corner Rectangle 53"/>
          <p:cNvSpPr/>
          <p:nvPr/>
        </p:nvSpPr>
        <p:spPr>
          <a:xfrm>
            <a:off x="113148" y="997605"/>
            <a:ext cx="2403762" cy="341745"/>
          </a:xfrm>
          <a:prstGeom prst="snip1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Input Filters / Selection</a:t>
            </a:r>
          </a:p>
        </p:txBody>
      </p:sp>
      <p:sp>
        <p:nvSpPr>
          <p:cNvPr id="55" name="Snip Diagonal Corner Rectangle 54"/>
          <p:cNvSpPr/>
          <p:nvPr/>
        </p:nvSpPr>
        <p:spPr>
          <a:xfrm>
            <a:off x="113148" y="2220079"/>
            <a:ext cx="2394523" cy="556402"/>
          </a:xfrm>
          <a:prstGeom prst="snip2Diag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Material Readiness Check</a:t>
            </a:r>
          </a:p>
        </p:txBody>
      </p:sp>
      <p:sp>
        <p:nvSpPr>
          <p:cNvPr id="56" name="Snip and Round Single Corner Rectangle 55"/>
          <p:cNvSpPr/>
          <p:nvPr/>
        </p:nvSpPr>
        <p:spPr>
          <a:xfrm>
            <a:off x="113148" y="3063881"/>
            <a:ext cx="2419928" cy="583770"/>
          </a:xfrm>
          <a:prstGeom prst="snip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Line Supervisor Dashboard Actions</a:t>
            </a:r>
          </a:p>
        </p:txBody>
      </p:sp>
      <p:sp>
        <p:nvSpPr>
          <p:cNvPr id="57" name="Flowchart: Alternate Process 56"/>
          <p:cNvSpPr/>
          <p:nvPr/>
        </p:nvSpPr>
        <p:spPr>
          <a:xfrm>
            <a:off x="113148" y="3939881"/>
            <a:ext cx="2403762" cy="690560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Plant </a:t>
            </a:r>
            <a:r>
              <a:rPr lang="en-IN" sz="1200" dirty="0"/>
              <a:t>In-Charge Dashboard Actions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3148" y="4878990"/>
            <a:ext cx="2410689" cy="51879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200" dirty="0" smtClean="0"/>
              <a:t>Top Management </a:t>
            </a:r>
            <a:r>
              <a:rPr lang="en-IN" sz="1200" dirty="0"/>
              <a:t>Dashboard</a:t>
            </a:r>
          </a:p>
        </p:txBody>
      </p:sp>
      <p:sp>
        <p:nvSpPr>
          <p:cNvPr id="59" name="Flowchart: Terminator 58"/>
          <p:cNvSpPr/>
          <p:nvPr/>
        </p:nvSpPr>
        <p:spPr>
          <a:xfrm>
            <a:off x="113148" y="5667998"/>
            <a:ext cx="2394524" cy="293516"/>
          </a:xfrm>
          <a:prstGeom prst="flowChartTerminator">
            <a:avLst/>
          </a:prstGeom>
          <a:solidFill>
            <a:srgbClr val="7030A0">
              <a:alpha val="7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Reports &amp; Notifications</a:t>
            </a:r>
          </a:p>
        </p:txBody>
      </p:sp>
      <p:sp>
        <p:nvSpPr>
          <p:cNvPr id="60" name="Oval 59"/>
          <p:cNvSpPr/>
          <p:nvPr/>
        </p:nvSpPr>
        <p:spPr>
          <a:xfrm>
            <a:off x="138553" y="6231726"/>
            <a:ext cx="2394523" cy="558800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End / Material Cutting Execution</a:t>
            </a:r>
          </a:p>
        </p:txBody>
      </p:sp>
      <p:sp>
        <p:nvSpPr>
          <p:cNvPr id="61" name="Snip Same Side Corner Rectangle 60"/>
          <p:cNvSpPr/>
          <p:nvPr/>
        </p:nvSpPr>
        <p:spPr>
          <a:xfrm>
            <a:off x="113148" y="1605952"/>
            <a:ext cx="2406072" cy="341745"/>
          </a:xfrm>
          <a:prstGeom prst="snip2Same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Retrieve PO Data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974108" y="1002543"/>
            <a:ext cx="2115127" cy="34174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Date Range </a:t>
            </a:r>
            <a:endParaRPr lang="en-IN" sz="1200" dirty="0"/>
          </a:p>
        </p:txBody>
      </p:sp>
      <p:sp>
        <p:nvSpPr>
          <p:cNvPr id="63" name="Rounded Rectangle 62"/>
          <p:cNvSpPr/>
          <p:nvPr/>
        </p:nvSpPr>
        <p:spPr>
          <a:xfrm>
            <a:off x="5503717" y="995800"/>
            <a:ext cx="1184563" cy="34174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smtClean="0"/>
              <a:t>Plant </a:t>
            </a:r>
            <a:endParaRPr lang="en-IN" sz="1200" dirty="0"/>
          </a:p>
        </p:txBody>
      </p:sp>
      <p:sp>
        <p:nvSpPr>
          <p:cNvPr id="64" name="Rounded Rectangle 63"/>
          <p:cNvSpPr/>
          <p:nvPr/>
        </p:nvSpPr>
        <p:spPr>
          <a:xfrm>
            <a:off x="7315075" y="995800"/>
            <a:ext cx="1230744" cy="34174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Line</a:t>
            </a:r>
            <a:endParaRPr lang="en-IN" sz="1200" dirty="0"/>
          </a:p>
        </p:txBody>
      </p:sp>
      <p:sp>
        <p:nvSpPr>
          <p:cNvPr id="65" name="Rounded Rectangle 64"/>
          <p:cNvSpPr/>
          <p:nvPr/>
        </p:nvSpPr>
        <p:spPr>
          <a:xfrm>
            <a:off x="8999820" y="1002543"/>
            <a:ext cx="928255" cy="34174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PO</a:t>
            </a:r>
            <a:endParaRPr lang="en-IN" sz="1200" dirty="0"/>
          </a:p>
        </p:txBody>
      </p:sp>
      <p:sp>
        <p:nvSpPr>
          <p:cNvPr id="66" name="Rounded Rectangle 65"/>
          <p:cNvSpPr/>
          <p:nvPr/>
        </p:nvSpPr>
        <p:spPr>
          <a:xfrm>
            <a:off x="10382076" y="995799"/>
            <a:ext cx="1154546" cy="34174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Status </a:t>
            </a:r>
            <a:endParaRPr lang="en-IN" sz="1200" dirty="0"/>
          </a:p>
        </p:txBody>
      </p:sp>
      <p:sp>
        <p:nvSpPr>
          <p:cNvPr id="67" name="Rounded Rectangle 66"/>
          <p:cNvSpPr/>
          <p:nvPr/>
        </p:nvSpPr>
        <p:spPr>
          <a:xfrm>
            <a:off x="2995469" y="1613023"/>
            <a:ext cx="2093766" cy="34174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Fetch assigned POs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503717" y="1611939"/>
            <a:ext cx="3071091" cy="34174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Fetch material details per PO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998930" y="2228096"/>
            <a:ext cx="2090305" cy="54838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Compare Required Qty </a:t>
            </a:r>
            <a:r>
              <a:rPr lang="en-GB" sz="1200" dirty="0" err="1" smtClean="0"/>
              <a:t>vs</a:t>
            </a:r>
            <a:r>
              <a:rPr lang="en-GB" sz="1200" dirty="0" smtClean="0"/>
              <a:t> </a:t>
            </a:r>
            <a:r>
              <a:rPr lang="en-GB" sz="1200" dirty="0"/>
              <a:t>Available Qty</a:t>
            </a:r>
            <a:endParaRPr lang="en-IN" sz="1200" dirty="0"/>
          </a:p>
        </p:txBody>
      </p:sp>
      <p:sp>
        <p:nvSpPr>
          <p:cNvPr id="70" name="Rounded Rectangle 69"/>
          <p:cNvSpPr/>
          <p:nvPr/>
        </p:nvSpPr>
        <p:spPr>
          <a:xfrm>
            <a:off x="5503717" y="2217867"/>
            <a:ext cx="3039560" cy="55319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Update Material Status</a:t>
            </a:r>
            <a:r>
              <a:rPr lang="en-IN" sz="1200" dirty="0" smtClean="0"/>
              <a:t>:</a:t>
            </a:r>
            <a:endParaRPr lang="en-IN" sz="1200" dirty="0"/>
          </a:p>
        </p:txBody>
      </p:sp>
      <p:sp>
        <p:nvSpPr>
          <p:cNvPr id="71" name="Rounded Rectangle 70"/>
          <p:cNvSpPr/>
          <p:nvPr/>
        </p:nvSpPr>
        <p:spPr>
          <a:xfrm>
            <a:off x="2974108" y="5667998"/>
            <a:ext cx="2114164" cy="544187"/>
          </a:xfrm>
          <a:prstGeom prst="roundRect">
            <a:avLst/>
          </a:prstGeom>
          <a:solidFill>
            <a:srgbClr val="7030A0">
              <a:alpha val="7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Automatic alerts for Shortage / Delay</a:t>
            </a:r>
            <a:endParaRPr lang="en-IN" sz="1200" dirty="0"/>
          </a:p>
        </p:txBody>
      </p:sp>
      <p:sp>
        <p:nvSpPr>
          <p:cNvPr id="72" name="Rounded Rectangle 71"/>
          <p:cNvSpPr/>
          <p:nvPr/>
        </p:nvSpPr>
        <p:spPr>
          <a:xfrm>
            <a:off x="5501125" y="5667998"/>
            <a:ext cx="2626876" cy="544187"/>
          </a:xfrm>
          <a:prstGeom prst="roundRect">
            <a:avLst/>
          </a:prstGeom>
          <a:solidFill>
            <a:srgbClr val="7030A0">
              <a:alpha val="7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Performance charts and summaries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574808" y="5667997"/>
            <a:ext cx="1759949" cy="544187"/>
          </a:xfrm>
          <a:prstGeom prst="roundRect">
            <a:avLst/>
          </a:prstGeom>
          <a:solidFill>
            <a:srgbClr val="7030A0">
              <a:alpha val="7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Escalation tracking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994893" y="4878990"/>
            <a:ext cx="2093380" cy="51879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View </a:t>
            </a:r>
            <a:r>
              <a:rPr lang="en-IN" sz="1200" dirty="0"/>
              <a:t>Overall Material Readiness </a:t>
            </a:r>
            <a:r>
              <a:rPr lang="en-IN" sz="1200" dirty="0" smtClean="0"/>
              <a:t>% by plants </a:t>
            </a:r>
            <a:endParaRPr lang="en-IN" sz="1200" dirty="0"/>
          </a:p>
        </p:txBody>
      </p:sp>
      <p:sp>
        <p:nvSpPr>
          <p:cNvPr id="76" name="Rounded Rectangle 75"/>
          <p:cNvSpPr/>
          <p:nvPr/>
        </p:nvSpPr>
        <p:spPr>
          <a:xfrm>
            <a:off x="5501124" y="4900653"/>
            <a:ext cx="1874111" cy="49713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Analyse </a:t>
            </a:r>
            <a:r>
              <a:rPr lang="en-GB" sz="1200" dirty="0"/>
              <a:t>Top 5 Short Materials</a:t>
            </a:r>
            <a:endParaRPr lang="en-IN" sz="1200" dirty="0"/>
          </a:p>
        </p:txBody>
      </p:sp>
      <p:sp>
        <p:nvSpPr>
          <p:cNvPr id="77" name="Rounded Rectangle 76"/>
          <p:cNvSpPr/>
          <p:nvPr/>
        </p:nvSpPr>
        <p:spPr>
          <a:xfrm>
            <a:off x="7772399" y="4912838"/>
            <a:ext cx="1864589" cy="49035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Track delays and escalations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119286" y="4930119"/>
            <a:ext cx="1863624" cy="49506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Summary Table: Material OK </a:t>
            </a:r>
            <a:r>
              <a:rPr lang="en-GB" sz="1200" dirty="0" err="1"/>
              <a:t>vs</a:t>
            </a:r>
            <a:r>
              <a:rPr lang="en-GB" sz="1200" dirty="0"/>
              <a:t> Not OK</a:t>
            </a:r>
            <a:endParaRPr lang="en-IN" sz="1200" dirty="0"/>
          </a:p>
        </p:txBody>
      </p:sp>
      <p:sp>
        <p:nvSpPr>
          <p:cNvPr id="79" name="Rounded Rectangle 78"/>
          <p:cNvSpPr/>
          <p:nvPr/>
        </p:nvSpPr>
        <p:spPr>
          <a:xfrm>
            <a:off x="2998930" y="3059169"/>
            <a:ext cx="2090305" cy="58848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View PO Readiness List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503717" y="3059168"/>
            <a:ext cx="1528042" cy="58848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View Material Checklist by PO</a:t>
            </a:r>
            <a:endParaRPr lang="en-IN" sz="1200" dirty="0"/>
          </a:p>
        </p:txBody>
      </p:sp>
      <p:sp>
        <p:nvSpPr>
          <p:cNvPr id="81" name="Rounded Rectangle 80"/>
          <p:cNvSpPr/>
          <p:nvPr/>
        </p:nvSpPr>
        <p:spPr>
          <a:xfrm>
            <a:off x="7407074" y="3066513"/>
            <a:ext cx="1519780" cy="58848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Raise Escalations (if material is short)</a:t>
            </a:r>
            <a:endParaRPr lang="en-IN" sz="1200" dirty="0"/>
          </a:p>
        </p:txBody>
      </p:sp>
      <p:sp>
        <p:nvSpPr>
          <p:cNvPr id="82" name="Rounded Rectangle 81"/>
          <p:cNvSpPr/>
          <p:nvPr/>
        </p:nvSpPr>
        <p:spPr>
          <a:xfrm>
            <a:off x="9414254" y="3048536"/>
            <a:ext cx="1669463" cy="58842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Request Store Verification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994893" y="3939881"/>
            <a:ext cx="2094342" cy="69056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View PO-wise Material Readiness Status</a:t>
            </a:r>
            <a:endParaRPr lang="en-IN" sz="1200" dirty="0"/>
          </a:p>
        </p:txBody>
      </p:sp>
      <p:sp>
        <p:nvSpPr>
          <p:cNvPr id="84" name="Rounded Rectangle 83"/>
          <p:cNvSpPr/>
          <p:nvPr/>
        </p:nvSpPr>
        <p:spPr>
          <a:xfrm>
            <a:off x="5503717" y="3935759"/>
            <a:ext cx="1871518" cy="69468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Check Fully Ready / Shortage / Delayed POs</a:t>
            </a:r>
            <a:endParaRPr lang="en-IN" sz="1200" dirty="0"/>
          </a:p>
        </p:txBody>
      </p:sp>
      <p:sp>
        <p:nvSpPr>
          <p:cNvPr id="85" name="Rounded Rectangle 84"/>
          <p:cNvSpPr/>
          <p:nvPr/>
        </p:nvSpPr>
        <p:spPr>
          <a:xfrm>
            <a:off x="7775862" y="3915607"/>
            <a:ext cx="1133021" cy="68857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Actions per PO: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959349" y="4028399"/>
            <a:ext cx="1184563" cy="48289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Track ETA of materials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306376" y="3858814"/>
            <a:ext cx="1227560" cy="38370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Start Cutting (if Ready)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349373" y="4264230"/>
            <a:ext cx="1184563" cy="40967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Escalate (if Short)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017850" y="2504456"/>
            <a:ext cx="1364226" cy="43760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❌ Short / Not </a:t>
            </a:r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Ready</a:t>
            </a:r>
            <a:r>
              <a:rPr lang="en-GB" sz="1200" dirty="0" smtClean="0"/>
              <a:t> </a:t>
            </a:r>
            <a:endParaRPr lang="en-IN" sz="1200" dirty="0"/>
          </a:p>
        </p:txBody>
      </p:sp>
      <p:sp>
        <p:nvSpPr>
          <p:cNvPr id="90" name="Rounded Rectangle 89"/>
          <p:cNvSpPr/>
          <p:nvPr/>
        </p:nvSpPr>
        <p:spPr>
          <a:xfrm>
            <a:off x="8999820" y="2057223"/>
            <a:ext cx="1359470" cy="34174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✅ Ready / </a:t>
            </a:r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OK</a:t>
            </a:r>
            <a:endParaRPr lang="en-IN" sz="1200" dirty="0"/>
          </a:p>
        </p:txBody>
      </p:sp>
      <p:cxnSp>
        <p:nvCxnSpPr>
          <p:cNvPr id="104" name="Straight Arrow Connector 103"/>
          <p:cNvCxnSpPr/>
          <p:nvPr/>
        </p:nvCxnSpPr>
        <p:spPr>
          <a:xfrm flipH="1">
            <a:off x="1267129" y="815978"/>
            <a:ext cx="6926" cy="2049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>
            <a:off x="1274617" y="1337545"/>
            <a:ext cx="0" cy="2702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>
            <a:off x="1281543" y="1953684"/>
            <a:ext cx="0" cy="2702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>
            <a:off x="1290781" y="2800633"/>
            <a:ext cx="0" cy="2702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>
            <a:off x="1310408" y="3647651"/>
            <a:ext cx="0" cy="2702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/>
          <p:nvPr/>
        </p:nvCxnSpPr>
        <p:spPr>
          <a:xfrm>
            <a:off x="1313867" y="4630441"/>
            <a:ext cx="0" cy="2702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/>
          <p:nvPr/>
        </p:nvCxnSpPr>
        <p:spPr>
          <a:xfrm>
            <a:off x="1309254" y="5397786"/>
            <a:ext cx="0" cy="2702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/>
          <p:nvPr/>
        </p:nvCxnSpPr>
        <p:spPr>
          <a:xfrm>
            <a:off x="1312935" y="5982540"/>
            <a:ext cx="0" cy="2281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/>
          <p:nvPr/>
        </p:nvCxnSpPr>
        <p:spPr>
          <a:xfrm>
            <a:off x="2576944" y="1191492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/>
        </p:nvCxnSpPr>
        <p:spPr>
          <a:xfrm>
            <a:off x="2576944" y="1796474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/>
          <p:nvPr/>
        </p:nvCxnSpPr>
        <p:spPr>
          <a:xfrm>
            <a:off x="2533076" y="2512653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>
            <a:off x="2533076" y="4282988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/>
          <p:nvPr/>
        </p:nvCxnSpPr>
        <p:spPr>
          <a:xfrm>
            <a:off x="2533076" y="3348183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>
            <a:off x="2533076" y="5130801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>
            <a:off x="2523837" y="5823528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/>
          <p:nvPr/>
        </p:nvCxnSpPr>
        <p:spPr>
          <a:xfrm>
            <a:off x="5088272" y="1191492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/>
          <p:nvPr/>
        </p:nvCxnSpPr>
        <p:spPr>
          <a:xfrm>
            <a:off x="5103960" y="1801093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/>
          <p:nvPr/>
        </p:nvCxnSpPr>
        <p:spPr>
          <a:xfrm>
            <a:off x="5103960" y="2489563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/>
          <p:nvPr/>
        </p:nvCxnSpPr>
        <p:spPr>
          <a:xfrm>
            <a:off x="5103960" y="3348183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/>
          <p:nvPr/>
        </p:nvCxnSpPr>
        <p:spPr>
          <a:xfrm>
            <a:off x="5103960" y="4282988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/>
          <p:nvPr/>
        </p:nvCxnSpPr>
        <p:spPr>
          <a:xfrm>
            <a:off x="5103960" y="5116948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/>
          <p:nvPr/>
        </p:nvCxnSpPr>
        <p:spPr>
          <a:xfrm>
            <a:off x="5103960" y="5823528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>
            <a:off x="6833177" y="1149929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/>
          <p:nvPr/>
        </p:nvCxnSpPr>
        <p:spPr>
          <a:xfrm>
            <a:off x="8574808" y="1191492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/>
          <p:cNvCxnSpPr/>
          <p:nvPr/>
        </p:nvCxnSpPr>
        <p:spPr>
          <a:xfrm>
            <a:off x="9935447" y="1166672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/>
          <p:nvPr/>
        </p:nvCxnSpPr>
        <p:spPr>
          <a:xfrm>
            <a:off x="8574808" y="2319605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/>
          <p:nvPr/>
        </p:nvCxnSpPr>
        <p:spPr>
          <a:xfrm>
            <a:off x="8574808" y="2689894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/>
          <p:nvPr/>
        </p:nvCxnSpPr>
        <p:spPr>
          <a:xfrm>
            <a:off x="7023497" y="3355766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/>
          <p:nvPr/>
        </p:nvCxnSpPr>
        <p:spPr>
          <a:xfrm>
            <a:off x="8971972" y="3355766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/>
          <p:nvPr/>
        </p:nvCxnSpPr>
        <p:spPr>
          <a:xfrm>
            <a:off x="7375235" y="4282988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/>
          <p:nvPr/>
        </p:nvCxnSpPr>
        <p:spPr>
          <a:xfrm>
            <a:off x="8911630" y="4068044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/>
          <p:cNvCxnSpPr/>
          <p:nvPr/>
        </p:nvCxnSpPr>
        <p:spPr>
          <a:xfrm>
            <a:off x="8926854" y="4441237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/>
          <p:nvPr/>
        </p:nvCxnSpPr>
        <p:spPr>
          <a:xfrm>
            <a:off x="10533936" y="4200954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/>
          <p:nvPr/>
        </p:nvCxnSpPr>
        <p:spPr>
          <a:xfrm>
            <a:off x="10533936" y="4371965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/>
          <p:nvPr/>
        </p:nvCxnSpPr>
        <p:spPr>
          <a:xfrm>
            <a:off x="7375235" y="5138388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/>
          <p:nvPr/>
        </p:nvCxnSpPr>
        <p:spPr>
          <a:xfrm>
            <a:off x="9679555" y="5130801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/>
          <p:cNvCxnSpPr/>
          <p:nvPr/>
        </p:nvCxnSpPr>
        <p:spPr>
          <a:xfrm>
            <a:off x="8146113" y="5823528"/>
            <a:ext cx="397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290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38" y="-10948"/>
            <a:ext cx="12160038" cy="467173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eaLnBrk="0" latinLnBrk="1" hangingPunct="0">
              <a:buClr>
                <a:srgbClr val="006600"/>
              </a:buClr>
              <a:buSzPct val="85000"/>
            </a:pPr>
            <a:r>
              <a:rPr lang="en-GB" altLang="zh-TW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                                                                CMT </a:t>
            </a:r>
            <a:r>
              <a:rPr lang="zh-TW" altLang="en-US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工</a:t>
            </a:r>
            <a:r>
              <a:rPr lang="zh-TW" altLang="en-US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作流程 </a:t>
            </a:r>
            <a:r>
              <a:rPr lang="en-GB" altLang="zh-TW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CMT</a:t>
            </a:r>
            <a:r>
              <a:rPr lang="en-US" altLang="zh-CN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 </a:t>
            </a:r>
            <a:r>
              <a:rPr lang="en-US" altLang="zh-CN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Work-flow</a:t>
            </a:r>
            <a:endParaRPr lang="zh-CN" altLang="en-US" sz="2000" b="1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02975"/>
          </a:xfrm>
          <a:prstGeom prst="rect">
            <a:avLst/>
          </a:prstGeom>
        </p:spPr>
      </p:pic>
      <p:sp>
        <p:nvSpPr>
          <p:cNvPr id="59" name="Rectangle 58"/>
          <p:cNvSpPr/>
          <p:nvPr/>
        </p:nvSpPr>
        <p:spPr>
          <a:xfrm>
            <a:off x="-8251" y="502071"/>
            <a:ext cx="1406502" cy="251384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Data Capture</a:t>
            </a:r>
            <a:endParaRPr lang="en-IN" sz="1600" dirty="0"/>
          </a:p>
        </p:txBody>
      </p:sp>
      <p:sp>
        <p:nvSpPr>
          <p:cNvPr id="60" name="Rectangle 59"/>
          <p:cNvSpPr/>
          <p:nvPr/>
        </p:nvSpPr>
        <p:spPr>
          <a:xfrm>
            <a:off x="17351" y="5048033"/>
            <a:ext cx="1416654" cy="135560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Top </a:t>
            </a:r>
            <a:endParaRPr lang="en-GB" dirty="0" smtClean="0"/>
          </a:p>
          <a:p>
            <a:pPr algn="ctr"/>
            <a:r>
              <a:rPr lang="en-GB" sz="1600" dirty="0" smtClean="0"/>
              <a:t>Management</a:t>
            </a:r>
            <a:endParaRPr lang="en-IN" sz="1600" dirty="0"/>
          </a:p>
        </p:txBody>
      </p:sp>
      <p:sp>
        <p:nvSpPr>
          <p:cNvPr id="61" name="Rectangle 60"/>
          <p:cNvSpPr/>
          <p:nvPr/>
        </p:nvSpPr>
        <p:spPr>
          <a:xfrm>
            <a:off x="1566751" y="504332"/>
            <a:ext cx="10610638" cy="250932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2" name="Rectangle 61"/>
          <p:cNvSpPr/>
          <p:nvPr/>
        </p:nvSpPr>
        <p:spPr>
          <a:xfrm>
            <a:off x="1566751" y="3059504"/>
            <a:ext cx="10610638" cy="191351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Rectangle 62"/>
          <p:cNvSpPr/>
          <p:nvPr/>
        </p:nvSpPr>
        <p:spPr>
          <a:xfrm>
            <a:off x="-8251" y="3059504"/>
            <a:ext cx="1416654" cy="193369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Production</a:t>
            </a:r>
            <a:endParaRPr lang="en-IN" sz="1600" dirty="0"/>
          </a:p>
        </p:txBody>
      </p:sp>
      <p:sp>
        <p:nvSpPr>
          <p:cNvPr id="64" name="Rectangle 63"/>
          <p:cNvSpPr/>
          <p:nvPr/>
        </p:nvSpPr>
        <p:spPr>
          <a:xfrm>
            <a:off x="1566752" y="5048033"/>
            <a:ext cx="10610637" cy="137827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Oval 64"/>
          <p:cNvSpPr/>
          <p:nvPr/>
        </p:nvSpPr>
        <p:spPr>
          <a:xfrm>
            <a:off x="5192415" y="1402676"/>
            <a:ext cx="1309881" cy="1172231"/>
          </a:xfrm>
          <a:prstGeom prst="ellipse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Cutting Material Report</a:t>
            </a:r>
            <a:endParaRPr lang="en-IN" sz="1400" dirty="0"/>
          </a:p>
        </p:txBody>
      </p:sp>
      <p:sp>
        <p:nvSpPr>
          <p:cNvPr id="66" name="Rounded Rectangle 65"/>
          <p:cNvSpPr/>
          <p:nvPr/>
        </p:nvSpPr>
        <p:spPr>
          <a:xfrm>
            <a:off x="1823466" y="1815169"/>
            <a:ext cx="1556117" cy="3897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Purchase Team</a:t>
            </a:r>
            <a:endParaRPr lang="en-IN" sz="1400" dirty="0"/>
          </a:p>
        </p:txBody>
      </p:sp>
      <p:sp>
        <p:nvSpPr>
          <p:cNvPr id="67" name="Rounded Rectangle 66"/>
          <p:cNvSpPr/>
          <p:nvPr/>
        </p:nvSpPr>
        <p:spPr>
          <a:xfrm>
            <a:off x="8315128" y="1853973"/>
            <a:ext cx="2142313" cy="3897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Warehouse Team</a:t>
            </a:r>
            <a:endParaRPr lang="en-IN" sz="1400" dirty="0"/>
          </a:p>
        </p:txBody>
      </p:sp>
      <p:sp>
        <p:nvSpPr>
          <p:cNvPr id="68" name="Rounded Rectangle 67"/>
          <p:cNvSpPr/>
          <p:nvPr/>
        </p:nvSpPr>
        <p:spPr>
          <a:xfrm>
            <a:off x="4865571" y="557122"/>
            <a:ext cx="2142312" cy="38064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BOM</a:t>
            </a:r>
            <a:endParaRPr lang="en-IN" sz="1400" dirty="0"/>
          </a:p>
        </p:txBody>
      </p:sp>
      <p:sp>
        <p:nvSpPr>
          <p:cNvPr id="69" name="Rounded Rectangle 68"/>
          <p:cNvSpPr/>
          <p:nvPr/>
        </p:nvSpPr>
        <p:spPr>
          <a:xfrm>
            <a:off x="1815655" y="4019528"/>
            <a:ext cx="2142313" cy="3897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Planning Team</a:t>
            </a:r>
            <a:endParaRPr lang="en-IN" sz="1400" dirty="0"/>
          </a:p>
        </p:txBody>
      </p:sp>
      <p:sp>
        <p:nvSpPr>
          <p:cNvPr id="70" name="Rounded Rectangle 69"/>
          <p:cNvSpPr/>
          <p:nvPr/>
        </p:nvSpPr>
        <p:spPr>
          <a:xfrm>
            <a:off x="4881372" y="4019528"/>
            <a:ext cx="2142313" cy="3897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Plant In-charge</a:t>
            </a:r>
            <a:endParaRPr lang="en-IN" sz="1400" dirty="0"/>
          </a:p>
        </p:txBody>
      </p:sp>
      <p:sp>
        <p:nvSpPr>
          <p:cNvPr id="71" name="Rounded Rectangle 70"/>
          <p:cNvSpPr/>
          <p:nvPr/>
        </p:nvSpPr>
        <p:spPr>
          <a:xfrm>
            <a:off x="8342783" y="3981820"/>
            <a:ext cx="2142313" cy="387762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 Supervisor</a:t>
            </a:r>
            <a:endParaRPr lang="en-IN" sz="1400" dirty="0"/>
          </a:p>
        </p:txBody>
      </p:sp>
      <p:sp>
        <p:nvSpPr>
          <p:cNvPr id="72" name="Flowchart: Preparation 71"/>
          <p:cNvSpPr/>
          <p:nvPr/>
        </p:nvSpPr>
        <p:spPr>
          <a:xfrm>
            <a:off x="4872131" y="5536794"/>
            <a:ext cx="2142313" cy="511885"/>
          </a:xfrm>
          <a:prstGeom prst="flowChartPreparation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 Top Management </a:t>
            </a:r>
            <a:endParaRPr lang="en-IN" sz="1400" dirty="0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5883625" y="2574907"/>
            <a:ext cx="0" cy="86244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5936727" y="4437001"/>
            <a:ext cx="5755" cy="104699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6486079" y="1610119"/>
            <a:ext cx="19025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Issue materials, verify stock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91089" y="2178195"/>
            <a:ext cx="1634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C00000"/>
                </a:solidFill>
              </a:rPr>
              <a:t> Track </a:t>
            </a:r>
            <a:r>
              <a:rPr lang="en-GB" sz="1200" dirty="0" smtClean="0">
                <a:solidFill>
                  <a:srgbClr val="C00000"/>
                </a:solidFill>
              </a:rPr>
              <a:t>Purchase Status</a:t>
            </a:r>
            <a:endParaRPr lang="en-IN" sz="1200" dirty="0">
              <a:solidFill>
                <a:srgbClr val="C00000"/>
              </a:solidFill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2725218" y="5535368"/>
            <a:ext cx="20720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>
                <a:solidFill>
                  <a:srgbClr val="C00000"/>
                </a:solidFill>
              </a:rPr>
              <a:t>View overall readiness </a:t>
            </a:r>
            <a:r>
              <a:rPr lang="en-GB" sz="1200" dirty="0" smtClean="0">
                <a:solidFill>
                  <a:srgbClr val="C00000"/>
                </a:solidFill>
              </a:rPr>
              <a:t>%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>
                <a:solidFill>
                  <a:srgbClr val="C00000"/>
                </a:solidFill>
              </a:rPr>
              <a:t>material trends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1293" y="5106961"/>
            <a:ext cx="2613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>
                <a:solidFill>
                  <a:srgbClr val="FF0000"/>
                </a:solidFill>
              </a:rPr>
              <a:t>Sees high-level overview</a:t>
            </a:r>
            <a:endParaRPr lang="en-IN" sz="1200" dirty="0">
              <a:solidFill>
                <a:srgbClr val="FF0000"/>
              </a:solidFill>
            </a:endParaRPr>
          </a:p>
        </p:txBody>
      </p:sp>
      <p:graphicFrame>
        <p:nvGraphicFramePr>
          <p:cNvPr id="79" name="Table 78"/>
          <p:cNvGraphicFramePr>
            <a:graphicFrameLocks noGrp="1"/>
          </p:cNvGraphicFramePr>
          <p:nvPr>
            <p:extLst/>
          </p:nvPr>
        </p:nvGraphicFramePr>
        <p:xfrm>
          <a:off x="8437507" y="3155919"/>
          <a:ext cx="3061766" cy="863609"/>
        </p:xfrm>
        <a:graphic>
          <a:graphicData uri="http://schemas.openxmlformats.org/drawingml/2006/table">
            <a:tbl>
              <a:tblPr/>
              <a:tblGrid>
                <a:gridCol w="3061766"/>
              </a:tblGrid>
              <a:tr h="863609"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Check assigned </a:t>
                      </a:r>
                      <a:r>
                        <a:rPr lang="en-GB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</a:t>
                      </a:r>
                    </a:p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GB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start 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cutting only if fully </a:t>
                      </a:r>
                      <a:r>
                        <a:rPr lang="en-GB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ready</a:t>
                      </a:r>
                    </a:p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GB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escalate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0" name="Rectangle 79"/>
          <p:cNvSpPr/>
          <p:nvPr/>
        </p:nvSpPr>
        <p:spPr>
          <a:xfrm>
            <a:off x="4855846" y="3349630"/>
            <a:ext cx="27659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/>
              <a:t>Track PO-wise </a:t>
            </a:r>
            <a:r>
              <a:rPr lang="en-GB" sz="1200" dirty="0" smtClean="0"/>
              <a:t>readiness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/>
              <a:t>material issues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/>
              <a:t>escalate </a:t>
            </a:r>
            <a:r>
              <a:rPr lang="en-GB" sz="1200" dirty="0"/>
              <a:t>to teams</a:t>
            </a:r>
            <a:endParaRPr lang="en-IN" sz="1200" dirty="0"/>
          </a:p>
        </p:txBody>
      </p:sp>
      <p:sp>
        <p:nvSpPr>
          <p:cNvPr id="81" name="Rectangle 80"/>
          <p:cNvSpPr/>
          <p:nvPr/>
        </p:nvSpPr>
        <p:spPr>
          <a:xfrm>
            <a:off x="1733818" y="3335489"/>
            <a:ext cx="18864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/>
              <a:t>Ensure BOM is </a:t>
            </a:r>
            <a:r>
              <a:rPr lang="en-GB" sz="1200" dirty="0" smtClean="0"/>
              <a:t>accurate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/>
              <a:t>validate </a:t>
            </a:r>
            <a:r>
              <a:rPr lang="en-GB" sz="1200" dirty="0"/>
              <a:t>material </a:t>
            </a:r>
            <a:r>
              <a:rPr lang="en-GB" sz="1200" dirty="0" smtClean="0"/>
              <a:t>need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/>
              <a:t>resolve </a:t>
            </a:r>
            <a:r>
              <a:rPr lang="en-GB" sz="1200" dirty="0"/>
              <a:t>errors</a:t>
            </a:r>
            <a:endParaRPr lang="en-IN" sz="1200" dirty="0"/>
          </a:p>
        </p:txBody>
      </p:sp>
      <p:cxnSp>
        <p:nvCxnSpPr>
          <p:cNvPr id="82" name="Straight Arrow Connector 81"/>
          <p:cNvCxnSpPr/>
          <p:nvPr/>
        </p:nvCxnSpPr>
        <p:spPr>
          <a:xfrm flipH="1">
            <a:off x="3620235" y="2349969"/>
            <a:ext cx="1705087" cy="118721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6314682" y="2417934"/>
            <a:ext cx="2028101" cy="111712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flipV="1">
            <a:off x="7077455" y="4173085"/>
            <a:ext cx="1237673" cy="455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>
            <a:off x="3985623" y="4214412"/>
            <a:ext cx="878605" cy="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6031293" y="1017549"/>
            <a:ext cx="1736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Provides base material requirements.</a:t>
            </a:r>
          </a:p>
        </p:txBody>
      </p:sp>
      <p:cxnSp>
        <p:nvCxnSpPr>
          <p:cNvPr id="87" name="Straight Arrow Connector 86"/>
          <p:cNvCxnSpPr/>
          <p:nvPr/>
        </p:nvCxnSpPr>
        <p:spPr>
          <a:xfrm>
            <a:off x="5883625" y="937766"/>
            <a:ext cx="0" cy="4616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3404462" y="1967191"/>
            <a:ext cx="1801103" cy="280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3529265" y="1588138"/>
            <a:ext cx="14294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Input purchase data</a:t>
            </a:r>
          </a:p>
        </p:txBody>
      </p:sp>
      <p:cxnSp>
        <p:nvCxnSpPr>
          <p:cNvPr id="90" name="Straight Arrow Connector 89"/>
          <p:cNvCxnSpPr/>
          <p:nvPr/>
        </p:nvCxnSpPr>
        <p:spPr>
          <a:xfrm flipH="1" flipV="1">
            <a:off x="3395989" y="2079551"/>
            <a:ext cx="1788853" cy="256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6506011" y="1987783"/>
            <a:ext cx="1801103" cy="280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 flipH="1" flipV="1">
            <a:off x="6497538" y="2100143"/>
            <a:ext cx="1788853" cy="256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6677802" y="2196099"/>
            <a:ext cx="15702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 smtClean="0">
                <a:solidFill>
                  <a:srgbClr val="C00000"/>
                </a:solidFill>
              </a:rPr>
              <a:t>Warehouse stock data</a:t>
            </a:r>
            <a:endParaRPr lang="en-IN" sz="1200" dirty="0">
              <a:solidFill>
                <a:srgbClr val="C00000"/>
              </a:solidFill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1370" y="6404937"/>
            <a:ext cx="12192000" cy="45066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Cutting Material Report auto-syncs </a:t>
            </a:r>
            <a:r>
              <a:rPr lang="en-GB" sz="1400" dirty="0" smtClean="0"/>
              <a:t>BOM,PURCHASE, WAREHOUSE, PLANNING AND PO DATA| </a:t>
            </a:r>
            <a:r>
              <a:rPr lang="en-GB" sz="1400" dirty="0"/>
              <a:t>Triggers alerts and tracks material readiness</a:t>
            </a:r>
            <a:endParaRPr lang="en-IN" sz="1400" dirty="0"/>
          </a:p>
        </p:txBody>
      </p:sp>
      <p:sp>
        <p:nvSpPr>
          <p:cNvPr id="95" name="Rectangle 94"/>
          <p:cNvSpPr/>
          <p:nvPr/>
        </p:nvSpPr>
        <p:spPr>
          <a:xfrm>
            <a:off x="7260915" y="4154816"/>
            <a:ext cx="7216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 smtClean="0">
                <a:solidFill>
                  <a:schemeClr val="bg2">
                    <a:lumMod val="50000"/>
                  </a:schemeClr>
                </a:solidFill>
              </a:rPr>
              <a:t>Assigns</a:t>
            </a:r>
            <a:endParaRPr lang="en-IN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4102189" y="4235751"/>
            <a:ext cx="6567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 smtClean="0">
                <a:solidFill>
                  <a:schemeClr val="bg2">
                    <a:lumMod val="50000"/>
                  </a:schemeClr>
                </a:solidFill>
              </a:rPr>
              <a:t>shares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156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64834" y="902460"/>
            <a:ext cx="2530764" cy="59112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📋 Assigned </a:t>
            </a:r>
            <a:r>
              <a:rPr lang="en-IN" sz="1600" dirty="0" smtClean="0"/>
              <a:t>Pos</a:t>
            </a:r>
          </a:p>
          <a:p>
            <a:pPr algn="ctr"/>
            <a:r>
              <a:rPr lang="en-GB" sz="1600" dirty="0"/>
              <a:t>5</a:t>
            </a:r>
            <a:endParaRPr lang="en-IN" sz="1600" dirty="0"/>
          </a:p>
        </p:txBody>
      </p:sp>
      <p:sp>
        <p:nvSpPr>
          <p:cNvPr id="5" name="Rounded Rectangle 4"/>
          <p:cNvSpPr/>
          <p:nvPr/>
        </p:nvSpPr>
        <p:spPr>
          <a:xfrm>
            <a:off x="3144981" y="897858"/>
            <a:ext cx="2530764" cy="59112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✅ Ready to </a:t>
            </a:r>
            <a:r>
              <a:rPr lang="en-IN" sz="1600" dirty="0" smtClean="0"/>
              <a:t>Cutting</a:t>
            </a:r>
          </a:p>
          <a:p>
            <a:pPr algn="ctr"/>
            <a:r>
              <a:rPr lang="en-GB" sz="1600" dirty="0"/>
              <a:t>3</a:t>
            </a:r>
            <a:endParaRPr lang="en-IN"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5966691" y="905547"/>
            <a:ext cx="2530764" cy="5911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❌ Not </a:t>
            </a:r>
            <a:r>
              <a:rPr lang="en-IN" sz="1600" dirty="0" smtClean="0"/>
              <a:t>Ready</a:t>
            </a:r>
          </a:p>
          <a:p>
            <a:pPr algn="ctr"/>
            <a:r>
              <a:rPr lang="en-GB" sz="1600" dirty="0" smtClean="0"/>
              <a:t>1</a:t>
            </a:r>
            <a:endParaRPr lang="en-IN"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8913090" y="897730"/>
            <a:ext cx="2530764" cy="5911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⚠ </a:t>
            </a:r>
            <a:r>
              <a:rPr lang="en-IN" dirty="0"/>
              <a:t>Escalated </a:t>
            </a:r>
            <a:endParaRPr lang="en-IN" dirty="0" smtClean="0"/>
          </a:p>
          <a:p>
            <a:pPr algn="ctr"/>
            <a:r>
              <a:rPr lang="en-GB" dirty="0"/>
              <a:t>1</a:t>
            </a:r>
            <a:endParaRPr lang="en-GB" dirty="0" smtClean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364834" y="1922330"/>
          <a:ext cx="845127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255"/>
                <a:gridCol w="1690255"/>
                <a:gridCol w="1690255"/>
                <a:gridCol w="1690255"/>
                <a:gridCol w="1690255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Day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Line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PO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Article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Material Status</a:t>
                      </a:r>
                      <a:r>
                        <a:rPr lang="en-GB" baseline="0" dirty="0" smtClean="0"/>
                        <a:t> 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2025/07/05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AP11CO5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1000042525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dirty="0" smtClean="0"/>
                        <a:t>Samba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✅ OK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1000042579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❌ Short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415637" y="3942229"/>
          <a:ext cx="11203709" cy="134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254"/>
                <a:gridCol w="785091"/>
                <a:gridCol w="868218"/>
                <a:gridCol w="1797398"/>
                <a:gridCol w="853438"/>
                <a:gridCol w="1016000"/>
                <a:gridCol w="923637"/>
                <a:gridCol w="905163"/>
                <a:gridCol w="1752139"/>
                <a:gridCol w="112037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PO 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Article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Required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Available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Shortage</a:t>
                      </a:r>
                      <a:r>
                        <a:rPr lang="en-GB" sz="1400" baseline="0" dirty="0" smtClean="0"/>
                        <a:t>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Status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Invoice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ETA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effectLst/>
                        </a:rPr>
                        <a:t>1000206709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M001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1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✅ OK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effectLst/>
                        </a:rPr>
                        <a:t>1000206709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M002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520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300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220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❌ 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smtClean="0"/>
                        <a:t>INV-MAT-20240620-0048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2025/07/05</a:t>
                      </a:r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50980" y="3592816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1000042579</a:t>
            </a:r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350980" y="3583580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3865420" y="3572271"/>
            <a:ext cx="7453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By default the field takes short material status </a:t>
            </a:r>
            <a:r>
              <a:rPr lang="en-GB" dirty="0" err="1" smtClean="0"/>
              <a:t>po</a:t>
            </a:r>
            <a:r>
              <a:rPr lang="en-GB" dirty="0" smtClean="0"/>
              <a:t> in ascending order</a:t>
            </a:r>
            <a:endParaRPr lang="en-IN" dirty="0"/>
          </a:p>
        </p:txBody>
      </p:sp>
      <p:cxnSp>
        <p:nvCxnSpPr>
          <p:cNvPr id="18" name="Straight Arrow Connector 17"/>
          <p:cNvCxnSpPr>
            <a:stCxn id="46" idx="1"/>
            <a:endCxn id="14" idx="3"/>
          </p:cNvCxnSpPr>
          <p:nvPr/>
        </p:nvCxnSpPr>
        <p:spPr>
          <a:xfrm flipH="1">
            <a:off x="2964871" y="2811851"/>
            <a:ext cx="4987633" cy="9287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50980" y="5724222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1000042579</a:t>
            </a:r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350980" y="5714986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22" name="Rectangle 21"/>
          <p:cNvSpPr/>
          <p:nvPr/>
        </p:nvSpPr>
        <p:spPr>
          <a:xfrm>
            <a:off x="3126510" y="5736459"/>
            <a:ext cx="5343236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Enter Issue</a:t>
            </a:r>
            <a:endParaRPr lang="en-IN" sz="1400" dirty="0"/>
          </a:p>
        </p:txBody>
      </p:sp>
      <p:sp>
        <p:nvSpPr>
          <p:cNvPr id="23" name="Rectangle 22"/>
          <p:cNvSpPr/>
          <p:nvPr/>
        </p:nvSpPr>
        <p:spPr>
          <a:xfrm>
            <a:off x="3126510" y="5727224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Issue</a:t>
            </a:r>
            <a:endParaRPr lang="en-IN" sz="1400" dirty="0"/>
          </a:p>
        </p:txBody>
      </p:sp>
      <p:sp>
        <p:nvSpPr>
          <p:cNvPr id="26" name="Rounded Rectangle 25"/>
          <p:cNvSpPr/>
          <p:nvPr/>
        </p:nvSpPr>
        <p:spPr>
          <a:xfrm>
            <a:off x="8811490" y="5727224"/>
            <a:ext cx="1016001" cy="30479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Submit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4834" y="6447006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1000042579</a:t>
            </a:r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350980" y="6437771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30" name="Rounded Rectangle 29"/>
          <p:cNvSpPr/>
          <p:nvPr/>
        </p:nvSpPr>
        <p:spPr>
          <a:xfrm>
            <a:off x="3228107" y="6419311"/>
            <a:ext cx="1016001" cy="30479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Check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228104" y="1576263"/>
            <a:ext cx="5089237" cy="28632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i="1" dirty="0">
                <a:solidFill>
                  <a:schemeClr val="tx1"/>
                </a:solidFill>
              </a:rPr>
              <a:t>PO Readiness List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228104" y="3179582"/>
            <a:ext cx="5089237" cy="2863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i="1" dirty="0">
                <a:solidFill>
                  <a:schemeClr val="tx1"/>
                </a:solidFill>
              </a:rPr>
              <a:t>Material Checklist by PO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253509" y="5360256"/>
            <a:ext cx="5089237" cy="2863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Raise Escalations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228104" y="6082503"/>
            <a:ext cx="5089237" cy="28632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Request store verification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144981" y="483797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All</a:t>
            </a:r>
            <a:endParaRPr lang="en-IN" dirty="0"/>
          </a:p>
        </p:txBody>
      </p:sp>
      <p:sp>
        <p:nvSpPr>
          <p:cNvPr id="39" name="Rectangle 38"/>
          <p:cNvSpPr/>
          <p:nvPr/>
        </p:nvSpPr>
        <p:spPr>
          <a:xfrm>
            <a:off x="3144981" y="474561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40" name="Rectangle 39"/>
          <p:cNvSpPr/>
          <p:nvPr/>
        </p:nvSpPr>
        <p:spPr>
          <a:xfrm>
            <a:off x="5925128" y="501129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All</a:t>
            </a:r>
            <a:endParaRPr lang="en-IN" dirty="0"/>
          </a:p>
        </p:txBody>
      </p:sp>
      <p:sp>
        <p:nvSpPr>
          <p:cNvPr id="41" name="Rectangle 40"/>
          <p:cNvSpPr/>
          <p:nvPr/>
        </p:nvSpPr>
        <p:spPr>
          <a:xfrm>
            <a:off x="5925128" y="491893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Status</a:t>
            </a:r>
            <a:endParaRPr lang="en-IN" sz="1400" dirty="0"/>
          </a:p>
        </p:txBody>
      </p:sp>
      <p:sp>
        <p:nvSpPr>
          <p:cNvPr id="42" name="Rectangle 41"/>
          <p:cNvSpPr/>
          <p:nvPr/>
        </p:nvSpPr>
        <p:spPr>
          <a:xfrm>
            <a:off x="8705275" y="501129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All</a:t>
            </a:r>
            <a:endParaRPr lang="en-IN" dirty="0"/>
          </a:p>
        </p:txBody>
      </p:sp>
      <p:sp>
        <p:nvSpPr>
          <p:cNvPr id="43" name="Rectangle 42"/>
          <p:cNvSpPr/>
          <p:nvPr/>
        </p:nvSpPr>
        <p:spPr>
          <a:xfrm>
            <a:off x="8705275" y="491893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</a:t>
            </a:r>
            <a:endParaRPr lang="en-IN" sz="1400" dirty="0"/>
          </a:p>
        </p:txBody>
      </p:sp>
      <p:sp>
        <p:nvSpPr>
          <p:cNvPr id="45" name="Rounded Rectangle 44"/>
          <p:cNvSpPr/>
          <p:nvPr/>
        </p:nvSpPr>
        <p:spPr>
          <a:xfrm>
            <a:off x="7952504" y="2328536"/>
            <a:ext cx="729674" cy="2493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Check</a:t>
            </a:r>
            <a:endParaRPr lang="en-IN" dirty="0"/>
          </a:p>
        </p:txBody>
      </p:sp>
      <p:sp>
        <p:nvSpPr>
          <p:cNvPr id="46" name="Rounded Rectangle 45"/>
          <p:cNvSpPr/>
          <p:nvPr/>
        </p:nvSpPr>
        <p:spPr>
          <a:xfrm>
            <a:off x="7952504" y="2687160"/>
            <a:ext cx="729674" cy="2493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Check</a:t>
            </a:r>
            <a:endParaRPr lang="en-IN" dirty="0"/>
          </a:p>
        </p:txBody>
      </p:sp>
      <p:sp>
        <p:nvSpPr>
          <p:cNvPr id="47" name="Rectangle 46"/>
          <p:cNvSpPr/>
          <p:nvPr/>
        </p:nvSpPr>
        <p:spPr>
          <a:xfrm>
            <a:off x="30643" y="-10948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</a:t>
            </a:r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Material 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Availability – Line Supervisor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473205"/>
            <a:ext cx="28008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accent5"/>
                </a:solidFill>
              </a:rPr>
              <a:t>📆</a:t>
            </a:r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198578" y="465678"/>
            <a:ext cx="5107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200" dirty="0" smtClean="0"/>
              <a:t>From</a:t>
            </a:r>
            <a:endParaRPr lang="en-IN" sz="1200" dirty="0"/>
          </a:p>
        </p:txBody>
      </p:sp>
      <p:sp>
        <p:nvSpPr>
          <p:cNvPr id="44" name="Rectangle 43"/>
          <p:cNvSpPr/>
          <p:nvPr/>
        </p:nvSpPr>
        <p:spPr>
          <a:xfrm>
            <a:off x="1534230" y="483114"/>
            <a:ext cx="28008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accent5"/>
                </a:solidFill>
              </a:rPr>
              <a:t>📆</a:t>
            </a:r>
            <a:endParaRPr lang="en-US" sz="1200" dirty="0"/>
          </a:p>
        </p:txBody>
      </p:sp>
      <p:sp>
        <p:nvSpPr>
          <p:cNvPr id="49" name="Rectangle 48"/>
          <p:cNvSpPr/>
          <p:nvPr/>
        </p:nvSpPr>
        <p:spPr>
          <a:xfrm>
            <a:off x="1729958" y="477040"/>
            <a:ext cx="3582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200" dirty="0" smtClean="0"/>
              <a:t>TO</a:t>
            </a:r>
            <a:endParaRPr lang="en-IN" sz="1200" dirty="0"/>
          </a:p>
        </p:txBody>
      </p:sp>
      <p:sp>
        <p:nvSpPr>
          <p:cNvPr id="8" name="Rectangle 7"/>
          <p:cNvSpPr/>
          <p:nvPr/>
        </p:nvSpPr>
        <p:spPr>
          <a:xfrm>
            <a:off x="650789" y="474561"/>
            <a:ext cx="882445" cy="235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Merge 9"/>
          <p:cNvSpPr/>
          <p:nvPr/>
        </p:nvSpPr>
        <p:spPr>
          <a:xfrm>
            <a:off x="1348167" y="553678"/>
            <a:ext cx="144157" cy="105328"/>
          </a:xfrm>
          <a:prstGeom prst="flowChartMer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574757" y="458024"/>
            <a:ext cx="87075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050" dirty="0" smtClean="0"/>
              <a:t>2025/07/01</a:t>
            </a:r>
            <a:endParaRPr lang="en-IN" sz="1050" dirty="0"/>
          </a:p>
        </p:txBody>
      </p:sp>
      <p:sp>
        <p:nvSpPr>
          <p:cNvPr id="51" name="Rectangle 50"/>
          <p:cNvSpPr/>
          <p:nvPr/>
        </p:nvSpPr>
        <p:spPr>
          <a:xfrm>
            <a:off x="2040025" y="491724"/>
            <a:ext cx="882445" cy="235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Merge 51"/>
          <p:cNvSpPr/>
          <p:nvPr/>
        </p:nvSpPr>
        <p:spPr>
          <a:xfrm>
            <a:off x="2737403" y="570841"/>
            <a:ext cx="144157" cy="105328"/>
          </a:xfrm>
          <a:prstGeom prst="flowChartMer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1963993" y="475187"/>
            <a:ext cx="87075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050" dirty="0" smtClean="0"/>
              <a:t>2025/07/05</a:t>
            </a:r>
            <a:endParaRPr lang="en-IN" sz="1050" dirty="0"/>
          </a:p>
        </p:txBody>
      </p:sp>
      <p:sp>
        <p:nvSpPr>
          <p:cNvPr id="12" name="Rectangle 11"/>
          <p:cNvSpPr/>
          <p:nvPr/>
        </p:nvSpPr>
        <p:spPr>
          <a:xfrm>
            <a:off x="30643" y="411843"/>
            <a:ext cx="2948082" cy="38484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95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07819" y="1231076"/>
            <a:ext cx="2530764" cy="59112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📋 Total POs </a:t>
            </a:r>
            <a:r>
              <a:rPr lang="en-IN" sz="1600" dirty="0" smtClean="0"/>
              <a:t>Today</a:t>
            </a:r>
          </a:p>
          <a:p>
            <a:pPr algn="ctr"/>
            <a:r>
              <a:rPr lang="en-IN" sz="1600" dirty="0" smtClean="0"/>
              <a:t>28</a:t>
            </a:r>
            <a:endParaRPr lang="en-IN" sz="1600" dirty="0"/>
          </a:p>
        </p:txBody>
      </p:sp>
      <p:sp>
        <p:nvSpPr>
          <p:cNvPr id="5" name="Rounded Rectangle 4"/>
          <p:cNvSpPr/>
          <p:nvPr/>
        </p:nvSpPr>
        <p:spPr>
          <a:xfrm>
            <a:off x="3181926" y="1245329"/>
            <a:ext cx="2530764" cy="59112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✅ Fully Ready </a:t>
            </a:r>
            <a:r>
              <a:rPr lang="en-IN" sz="1600" dirty="0" smtClean="0"/>
              <a:t>Pos</a:t>
            </a:r>
          </a:p>
          <a:p>
            <a:pPr algn="ctr"/>
            <a:r>
              <a:rPr lang="en-GB" sz="1600" dirty="0" smtClean="0"/>
              <a:t>19</a:t>
            </a:r>
            <a:endParaRPr lang="en-IN"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6220253" y="1231076"/>
            <a:ext cx="2530764" cy="5911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🚫 Shortage </a:t>
            </a:r>
            <a:r>
              <a:rPr lang="en-IN" sz="1600" dirty="0" smtClean="0"/>
              <a:t>Pos</a:t>
            </a:r>
          </a:p>
          <a:p>
            <a:pPr algn="ctr"/>
            <a:r>
              <a:rPr lang="en-GB" sz="1600" dirty="0"/>
              <a:t>7</a:t>
            </a:r>
            <a:endParaRPr lang="en-IN"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9232868" y="1231076"/>
            <a:ext cx="2530764" cy="5911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🔁 Delayed </a:t>
            </a:r>
            <a:r>
              <a:rPr lang="en-IN" dirty="0" smtClean="0"/>
              <a:t>Pos</a:t>
            </a:r>
          </a:p>
          <a:p>
            <a:pPr algn="ctr"/>
            <a:r>
              <a:rPr lang="en-GB" dirty="0"/>
              <a:t>2</a:t>
            </a:r>
            <a:endParaRPr lang="en-GB" dirty="0" smtClean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355603" y="2402194"/>
          <a:ext cx="1138381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924"/>
                <a:gridCol w="1136073"/>
                <a:gridCol w="1167987"/>
                <a:gridCol w="1531483"/>
                <a:gridCol w="873254"/>
                <a:gridCol w="1802840"/>
                <a:gridCol w="1551709"/>
                <a:gridCol w="840509"/>
                <a:gridCol w="1330034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Date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PO NO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Model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Line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Readiness 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Status</a:t>
                      </a:r>
                      <a:r>
                        <a:rPr lang="en-GB" sz="1400" baseline="0" dirty="0" smtClean="0"/>
                        <a:t>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Delay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Action 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/>
                        <a:t>2025/07/02</a:t>
                      </a:r>
                      <a:endParaRPr lang="en-IN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1000042579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AP11C02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100%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rgbClr val="00B050"/>
                          </a:solidFill>
                        </a:rPr>
                        <a:t>✅ Ready</a:t>
                      </a:r>
                      <a:endParaRPr lang="en-IN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1" dirty="0" smtClean="0"/>
                        <a:t>-</a:t>
                      </a:r>
                      <a:r>
                        <a:rPr lang="en-GB" sz="1800" b="1" i="1" baseline="0" dirty="0" smtClean="0"/>
                        <a:t> </a:t>
                      </a:r>
                      <a:endParaRPr lang="en-IN" sz="18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Start Cutting 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1000042525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STANSMITH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AP10C04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75%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rgbClr val="FF0000"/>
                          </a:solidFill>
                        </a:rPr>
                        <a:t>❌ Short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 DAY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Escalate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1000215486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ULTIMATE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AP09CO3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90%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rgbClr val="FF0000"/>
                          </a:solidFill>
                        </a:rPr>
                        <a:t>❌ Short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/>
                        <a:t>2025/07/03</a:t>
                      </a:r>
                      <a:endParaRPr lang="en-IN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1000042578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AP11C02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100%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rgbClr val="00B050"/>
                          </a:solidFill>
                        </a:rPr>
                        <a:t>✅ Ready</a:t>
                      </a:r>
                      <a:endParaRPr lang="en-IN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1" dirty="0" smtClean="0"/>
                        <a:t>-</a:t>
                      </a:r>
                      <a:r>
                        <a:rPr lang="en-GB" sz="1800" b="1" i="1" baseline="0" dirty="0" smtClean="0"/>
                        <a:t> </a:t>
                      </a:r>
                      <a:endParaRPr lang="en-IN" sz="18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Start Cutting 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1000042524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STANSMITH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AP10C04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100%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rgbClr val="00B050"/>
                          </a:solidFill>
                        </a:rPr>
                        <a:t>✅ Ready</a:t>
                      </a:r>
                      <a:endParaRPr lang="en-IN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 DAY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Escalate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1000215485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ULTIMATE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AP09CO3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90%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rgbClr val="FF0000"/>
                          </a:solidFill>
                        </a:rPr>
                        <a:t>❌ Short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4278593" y="5620745"/>
          <a:ext cx="6502400" cy="61527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0"/>
                <a:gridCol w="1625600"/>
                <a:gridCol w="1625600"/>
                <a:gridCol w="1625600"/>
              </a:tblGrid>
              <a:tr h="310474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Required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Available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Short Qty</a:t>
                      </a:r>
                      <a:endParaRPr lang="en-IN" sz="1400" dirty="0"/>
                    </a:p>
                  </a:txBody>
                  <a:tcPr/>
                </a:tc>
              </a:tr>
              <a:tr h="290699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Fabric 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200m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160m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40m </a:t>
                      </a:r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769927" y="3203373"/>
            <a:ext cx="729674" cy="2493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Check</a:t>
            </a:r>
            <a:endParaRPr lang="en-IN" dirty="0"/>
          </a:p>
        </p:txBody>
      </p:sp>
      <p:sp>
        <p:nvSpPr>
          <p:cNvPr id="22" name="Rounded Rectangle 21"/>
          <p:cNvSpPr/>
          <p:nvPr/>
        </p:nvSpPr>
        <p:spPr>
          <a:xfrm>
            <a:off x="3168072" y="2003524"/>
            <a:ext cx="5089237" cy="28632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i="1" dirty="0">
                <a:solidFill>
                  <a:schemeClr val="tx1"/>
                </a:solidFill>
              </a:rPr>
              <a:t>PO-Wise Material Readiness Status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317903" y="593459"/>
            <a:ext cx="1981197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3317903" y="593459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Plant</a:t>
            </a:r>
            <a:endParaRPr lang="en-IN" sz="1400" dirty="0"/>
          </a:p>
        </p:txBody>
      </p:sp>
      <p:sp>
        <p:nvSpPr>
          <p:cNvPr id="30" name="Rectangle 29"/>
          <p:cNvSpPr/>
          <p:nvPr/>
        </p:nvSpPr>
        <p:spPr>
          <a:xfrm>
            <a:off x="5465360" y="601048"/>
            <a:ext cx="1597890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31" name="Rectangle 30"/>
          <p:cNvSpPr/>
          <p:nvPr/>
        </p:nvSpPr>
        <p:spPr>
          <a:xfrm>
            <a:off x="5465359" y="591813"/>
            <a:ext cx="722720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</a:t>
            </a:r>
            <a:endParaRPr lang="en-IN" sz="1400" dirty="0"/>
          </a:p>
        </p:txBody>
      </p:sp>
      <p:sp>
        <p:nvSpPr>
          <p:cNvPr id="32" name="Rectangle 31"/>
          <p:cNvSpPr/>
          <p:nvPr/>
        </p:nvSpPr>
        <p:spPr>
          <a:xfrm>
            <a:off x="7213320" y="601048"/>
            <a:ext cx="1831123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33" name="Rectangle 32"/>
          <p:cNvSpPr/>
          <p:nvPr/>
        </p:nvSpPr>
        <p:spPr>
          <a:xfrm>
            <a:off x="7213319" y="591813"/>
            <a:ext cx="94518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34" name="Rectangle 33"/>
          <p:cNvSpPr/>
          <p:nvPr/>
        </p:nvSpPr>
        <p:spPr>
          <a:xfrm>
            <a:off x="9156033" y="618663"/>
            <a:ext cx="1831123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35" name="Rectangle 34"/>
          <p:cNvSpPr/>
          <p:nvPr/>
        </p:nvSpPr>
        <p:spPr>
          <a:xfrm>
            <a:off x="9156032" y="609428"/>
            <a:ext cx="94518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Status</a:t>
            </a:r>
            <a:endParaRPr lang="en-IN" sz="1400" dirty="0"/>
          </a:p>
        </p:txBody>
      </p:sp>
      <p:sp>
        <p:nvSpPr>
          <p:cNvPr id="39" name="Rectangle 38"/>
          <p:cNvSpPr/>
          <p:nvPr/>
        </p:nvSpPr>
        <p:spPr>
          <a:xfrm>
            <a:off x="30643" y="-1094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</a:t>
            </a:r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Material 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Availability – Plant In-charge Dashboard 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0" y="580644"/>
            <a:ext cx="28008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accent5"/>
                </a:solidFill>
              </a:rPr>
              <a:t>📆</a:t>
            </a:r>
            <a:endParaRPr lang="en-US" sz="1200" dirty="0"/>
          </a:p>
        </p:txBody>
      </p:sp>
      <p:sp>
        <p:nvSpPr>
          <p:cNvPr id="41" name="Rectangle 40"/>
          <p:cNvSpPr/>
          <p:nvPr/>
        </p:nvSpPr>
        <p:spPr>
          <a:xfrm>
            <a:off x="198578" y="573117"/>
            <a:ext cx="5107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200" dirty="0" smtClean="0"/>
              <a:t>From</a:t>
            </a:r>
            <a:endParaRPr lang="en-IN" sz="1200" dirty="0"/>
          </a:p>
        </p:txBody>
      </p:sp>
      <p:sp>
        <p:nvSpPr>
          <p:cNvPr id="42" name="Rectangle 41"/>
          <p:cNvSpPr/>
          <p:nvPr/>
        </p:nvSpPr>
        <p:spPr>
          <a:xfrm>
            <a:off x="1534230" y="590553"/>
            <a:ext cx="28008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accent5"/>
                </a:solidFill>
              </a:rPr>
              <a:t>📆</a:t>
            </a:r>
            <a:endParaRPr lang="en-US" sz="1200" dirty="0"/>
          </a:p>
        </p:txBody>
      </p:sp>
      <p:sp>
        <p:nvSpPr>
          <p:cNvPr id="43" name="Rectangle 42"/>
          <p:cNvSpPr/>
          <p:nvPr/>
        </p:nvSpPr>
        <p:spPr>
          <a:xfrm>
            <a:off x="1729958" y="584479"/>
            <a:ext cx="3582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200" dirty="0" smtClean="0"/>
              <a:t>TO</a:t>
            </a:r>
            <a:endParaRPr lang="en-IN" sz="1200" dirty="0"/>
          </a:p>
        </p:txBody>
      </p:sp>
      <p:sp>
        <p:nvSpPr>
          <p:cNvPr id="44" name="Rectangle 43"/>
          <p:cNvSpPr/>
          <p:nvPr/>
        </p:nvSpPr>
        <p:spPr>
          <a:xfrm>
            <a:off x="650789" y="582000"/>
            <a:ext cx="882445" cy="235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lowchart: Merge 44"/>
          <p:cNvSpPr/>
          <p:nvPr/>
        </p:nvSpPr>
        <p:spPr>
          <a:xfrm>
            <a:off x="1348167" y="661117"/>
            <a:ext cx="144157" cy="105328"/>
          </a:xfrm>
          <a:prstGeom prst="flowChartMer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574757" y="565463"/>
            <a:ext cx="87075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050" dirty="0" smtClean="0"/>
              <a:t>2025/07/01</a:t>
            </a:r>
            <a:endParaRPr lang="en-IN" sz="1050" dirty="0"/>
          </a:p>
        </p:txBody>
      </p:sp>
      <p:sp>
        <p:nvSpPr>
          <p:cNvPr id="47" name="Rectangle 46"/>
          <p:cNvSpPr/>
          <p:nvPr/>
        </p:nvSpPr>
        <p:spPr>
          <a:xfrm>
            <a:off x="2040025" y="599163"/>
            <a:ext cx="882445" cy="235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Merge 47"/>
          <p:cNvSpPr/>
          <p:nvPr/>
        </p:nvSpPr>
        <p:spPr>
          <a:xfrm>
            <a:off x="2737403" y="678280"/>
            <a:ext cx="144157" cy="105328"/>
          </a:xfrm>
          <a:prstGeom prst="flowChartMer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1963993" y="582626"/>
            <a:ext cx="87075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050" dirty="0" smtClean="0"/>
              <a:t>2025/07/05</a:t>
            </a:r>
            <a:endParaRPr lang="en-IN" sz="1050" dirty="0"/>
          </a:p>
        </p:txBody>
      </p:sp>
      <p:sp>
        <p:nvSpPr>
          <p:cNvPr id="50" name="Rectangle 49"/>
          <p:cNvSpPr/>
          <p:nvPr/>
        </p:nvSpPr>
        <p:spPr>
          <a:xfrm>
            <a:off x="30643" y="519282"/>
            <a:ext cx="2948082" cy="38484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492324" y="3122141"/>
            <a:ext cx="6490141" cy="3954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1493563" y="4275463"/>
            <a:ext cx="6490141" cy="36794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stCxn id="13" idx="2"/>
          </p:cNvCxnSpPr>
          <p:nvPr/>
        </p:nvCxnSpPr>
        <p:spPr>
          <a:xfrm>
            <a:off x="9134764" y="3452755"/>
            <a:ext cx="21268" cy="214073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735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28599" y="804320"/>
            <a:ext cx="2313711" cy="46529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📦 Material Readiness </a:t>
            </a:r>
            <a:r>
              <a:rPr lang="en-IN" sz="1400" dirty="0" smtClean="0"/>
              <a:t>%</a:t>
            </a:r>
          </a:p>
          <a:p>
            <a:pPr algn="ctr"/>
            <a:r>
              <a:rPr lang="en-IN" sz="1400" dirty="0"/>
              <a:t>82% 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81913" y="822790"/>
            <a:ext cx="3915244" cy="44091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🚨 Open </a:t>
            </a:r>
            <a:r>
              <a:rPr lang="en-IN" sz="1400" dirty="0" smtClean="0"/>
              <a:t>Escalations (issues not yet resolved)</a:t>
            </a:r>
          </a:p>
          <a:p>
            <a:pPr algn="ctr"/>
            <a:r>
              <a:rPr lang="en-GB" sz="1400" dirty="0"/>
              <a:t>5</a:t>
            </a:r>
            <a:endParaRPr lang="en-IN" sz="1400" dirty="0"/>
          </a:p>
        </p:txBody>
      </p:sp>
      <p:sp>
        <p:nvSpPr>
          <p:cNvPr id="6" name="Rounded Rectangle 5"/>
          <p:cNvSpPr/>
          <p:nvPr/>
        </p:nvSpPr>
        <p:spPr>
          <a:xfrm>
            <a:off x="6801332" y="822060"/>
            <a:ext cx="1971964" cy="44164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📋 Total POs </a:t>
            </a:r>
            <a:r>
              <a:rPr lang="en-IN" sz="1400" dirty="0" smtClean="0"/>
              <a:t>Today</a:t>
            </a:r>
          </a:p>
          <a:p>
            <a:pPr algn="ctr"/>
            <a:r>
              <a:rPr lang="en-GB" sz="1400" dirty="0" smtClean="0"/>
              <a:t>36</a:t>
            </a:r>
            <a:endParaRPr lang="en-IN"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9032401" y="822060"/>
            <a:ext cx="1846299" cy="44164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📈 Avg </a:t>
            </a:r>
            <a:r>
              <a:rPr lang="en-IN" sz="1600" dirty="0" smtClean="0"/>
              <a:t>Delay</a:t>
            </a:r>
          </a:p>
          <a:p>
            <a:pPr algn="ctr"/>
            <a:r>
              <a:rPr lang="en-GB" sz="1600" dirty="0" smtClean="0"/>
              <a:t>2.1 days</a:t>
            </a:r>
            <a:endParaRPr lang="en-IN" sz="1600" dirty="0"/>
          </a:p>
        </p:txBody>
      </p:sp>
      <p:graphicFrame>
        <p:nvGraphicFramePr>
          <p:cNvPr id="11" name="Chart 10"/>
          <p:cNvGraphicFramePr/>
          <p:nvPr>
            <p:extLst/>
          </p:nvPr>
        </p:nvGraphicFramePr>
        <p:xfrm>
          <a:off x="244762" y="1319126"/>
          <a:ext cx="6156037" cy="1805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/>
          </p:nvPr>
        </p:nvGraphicFramePr>
        <p:xfrm>
          <a:off x="228599" y="3431022"/>
          <a:ext cx="6496809" cy="1621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5603"/>
                <a:gridCol w="2165603"/>
                <a:gridCol w="2165603"/>
              </a:tblGrid>
              <a:tr h="312121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Material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Short Quantity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Affected</a:t>
                      </a:r>
                      <a:r>
                        <a:rPr lang="en-GB" sz="1100" baseline="0" dirty="0" smtClean="0"/>
                        <a:t> Pos </a:t>
                      </a:r>
                      <a:endParaRPr lang="en-IN" sz="1100" dirty="0"/>
                    </a:p>
                  </a:txBody>
                  <a:tcPr/>
                </a:tc>
              </a:tr>
              <a:tr h="27269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 smtClean="0"/>
                        <a:t>FTWR WHITE 01F7 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340m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3</a:t>
                      </a:r>
                      <a:endParaRPr lang="en-IN" sz="1100" dirty="0"/>
                    </a:p>
                  </a:txBody>
                  <a:tcPr/>
                </a:tc>
              </a:tr>
              <a:tr h="252344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 smtClean="0"/>
                        <a:t>1.4MM ECO SOFT MATTE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220m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8</a:t>
                      </a:r>
                      <a:endParaRPr lang="en-IN" sz="1100" dirty="0"/>
                    </a:p>
                  </a:txBody>
                  <a:tcPr/>
                </a:tc>
              </a:tr>
              <a:tr h="252344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 smtClean="0"/>
                        <a:t>CEMENT TWICE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165m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21</a:t>
                      </a:r>
                      <a:endParaRPr lang="en-IN" sz="1100" dirty="0"/>
                    </a:p>
                  </a:txBody>
                  <a:tcPr/>
                </a:tc>
              </a:tr>
              <a:tr h="252344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 smtClean="0"/>
                        <a:t>WHITE LATEX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100m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4</a:t>
                      </a:r>
                      <a:endParaRPr lang="en-IN" sz="1100" dirty="0"/>
                    </a:p>
                  </a:txBody>
                  <a:tcPr/>
                </a:tc>
              </a:tr>
              <a:tr h="252344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 smtClean="0"/>
                        <a:t>ST-A990-06E EPM5 MESH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92m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1</a:t>
                      </a:r>
                      <a:endParaRPr lang="en-IN" sz="11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228599" y="3155943"/>
            <a:ext cx="1921477" cy="24938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i="1" dirty="0">
                <a:solidFill>
                  <a:schemeClr val="tx1"/>
                </a:solidFill>
              </a:rPr>
              <a:t>Top 5 Short Materials :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83266" y="440896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7" name="Rectangle 26"/>
          <p:cNvSpPr/>
          <p:nvPr/>
        </p:nvSpPr>
        <p:spPr>
          <a:xfrm>
            <a:off x="3883266" y="431661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Plant</a:t>
            </a:r>
            <a:endParaRPr lang="en-IN" sz="1400" dirty="0"/>
          </a:p>
        </p:txBody>
      </p:sp>
      <p:sp>
        <p:nvSpPr>
          <p:cNvPr id="28" name="Rectangle 27"/>
          <p:cNvSpPr/>
          <p:nvPr/>
        </p:nvSpPr>
        <p:spPr>
          <a:xfrm>
            <a:off x="6750532" y="449134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6750532" y="439899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</a:t>
            </a:r>
            <a:endParaRPr lang="en-IN" sz="1400" dirty="0"/>
          </a:p>
        </p:txBody>
      </p:sp>
      <p:sp>
        <p:nvSpPr>
          <p:cNvPr id="30" name="Rounded Rectangle 29"/>
          <p:cNvSpPr/>
          <p:nvPr/>
        </p:nvSpPr>
        <p:spPr>
          <a:xfrm>
            <a:off x="9617798" y="439899"/>
            <a:ext cx="1182255" cy="28632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Submit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6497157" y="1317232"/>
            <a:ext cx="5604227" cy="1800138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497159" y="1431246"/>
            <a:ext cx="48207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Compare different plants to see which ones are better prepared for cutting.</a:t>
            </a:r>
            <a:endParaRPr lang="en-IN" sz="1400" dirty="0"/>
          </a:p>
        </p:txBody>
      </p:sp>
      <p:sp>
        <p:nvSpPr>
          <p:cNvPr id="32" name="Rectangle 31"/>
          <p:cNvSpPr/>
          <p:nvPr/>
        </p:nvSpPr>
        <p:spPr>
          <a:xfrm>
            <a:off x="6528861" y="2019541"/>
            <a:ext cx="48207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Description</a:t>
            </a:r>
            <a:r>
              <a:rPr lang="en-GB" sz="1400" dirty="0" smtClean="0"/>
              <a:t> : Shows </a:t>
            </a:r>
            <a:r>
              <a:rPr lang="en-GB" sz="1400" dirty="0"/>
              <a:t>% of material availability across all assigned POs</a:t>
            </a:r>
            <a:endParaRPr lang="en-IN" sz="1400" dirty="0"/>
          </a:p>
        </p:txBody>
      </p:sp>
      <p:sp>
        <p:nvSpPr>
          <p:cNvPr id="33" name="Rectangle 32"/>
          <p:cNvSpPr/>
          <p:nvPr/>
        </p:nvSpPr>
        <p:spPr>
          <a:xfrm>
            <a:off x="6497159" y="2589365"/>
            <a:ext cx="48207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Benefits</a:t>
            </a:r>
            <a:r>
              <a:rPr lang="en-GB" sz="1400" dirty="0" smtClean="0"/>
              <a:t> </a:t>
            </a:r>
            <a:r>
              <a:rPr lang="en-GB" sz="1400" dirty="0"/>
              <a:t>: Identify which plant is performing well and where attention or escalation is needed</a:t>
            </a:r>
            <a:r>
              <a:rPr lang="en-GB" sz="1400" dirty="0" smtClean="0"/>
              <a:t>. </a:t>
            </a:r>
            <a:endParaRPr lang="en-IN" sz="1400" dirty="0"/>
          </a:p>
        </p:txBody>
      </p:sp>
      <p:sp>
        <p:nvSpPr>
          <p:cNvPr id="34" name="Rectangle 33"/>
          <p:cNvSpPr/>
          <p:nvPr/>
        </p:nvSpPr>
        <p:spPr>
          <a:xfrm>
            <a:off x="6819319" y="3438277"/>
            <a:ext cx="5282065" cy="1614014"/>
          </a:xfrm>
          <a:prstGeom prst="rect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6909204" y="3690698"/>
            <a:ext cx="51409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Highlight the most frequently short or unavailable materials, across all </a:t>
            </a:r>
            <a:r>
              <a:rPr lang="en-GB" sz="1400" dirty="0" err="1"/>
              <a:t>POs.</a:t>
            </a:r>
            <a:endParaRPr lang="en-IN" sz="1400" dirty="0"/>
          </a:p>
        </p:txBody>
      </p:sp>
      <p:sp>
        <p:nvSpPr>
          <p:cNvPr id="36" name="Rectangle 35"/>
          <p:cNvSpPr/>
          <p:nvPr/>
        </p:nvSpPr>
        <p:spPr>
          <a:xfrm>
            <a:off x="6909204" y="4404674"/>
            <a:ext cx="51921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Benefits</a:t>
            </a:r>
            <a:r>
              <a:rPr lang="en-GB" sz="1400" dirty="0" smtClean="0"/>
              <a:t> </a:t>
            </a:r>
            <a:r>
              <a:rPr lang="en-GB" sz="1400" dirty="0"/>
              <a:t>: Quickly identify which raw materials are causing the biggest disruptions—helps guide procurement priorities</a:t>
            </a:r>
            <a:endParaRPr lang="en-IN" sz="1400" dirty="0"/>
          </a:p>
        </p:txBody>
      </p:sp>
      <p:sp>
        <p:nvSpPr>
          <p:cNvPr id="41" name="Rectangle 40"/>
          <p:cNvSpPr/>
          <p:nvPr/>
        </p:nvSpPr>
        <p:spPr>
          <a:xfrm>
            <a:off x="0" y="-17105"/>
            <a:ext cx="12160038" cy="392926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Material Availability Dashboard – Top Management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1066" y="-6157"/>
            <a:ext cx="465680" cy="363311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436606" y="463261"/>
            <a:ext cx="28008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accent5"/>
                </a:solidFill>
              </a:rPr>
              <a:t>📆</a:t>
            </a:r>
            <a:endParaRPr lang="en-US" sz="1200" dirty="0"/>
          </a:p>
        </p:txBody>
      </p:sp>
      <p:sp>
        <p:nvSpPr>
          <p:cNvPr id="43" name="Rectangle 42"/>
          <p:cNvSpPr/>
          <p:nvPr/>
        </p:nvSpPr>
        <p:spPr>
          <a:xfrm>
            <a:off x="635184" y="455734"/>
            <a:ext cx="5107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200" dirty="0" smtClean="0"/>
              <a:t>From</a:t>
            </a:r>
            <a:endParaRPr lang="en-IN" sz="1200" dirty="0"/>
          </a:p>
        </p:txBody>
      </p:sp>
      <p:sp>
        <p:nvSpPr>
          <p:cNvPr id="44" name="Rectangle 43"/>
          <p:cNvSpPr/>
          <p:nvPr/>
        </p:nvSpPr>
        <p:spPr>
          <a:xfrm>
            <a:off x="1970836" y="473170"/>
            <a:ext cx="28008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accent5"/>
                </a:solidFill>
              </a:rPr>
              <a:t>📆</a:t>
            </a:r>
            <a:endParaRPr lang="en-US" sz="1200" dirty="0"/>
          </a:p>
        </p:txBody>
      </p:sp>
      <p:sp>
        <p:nvSpPr>
          <p:cNvPr id="45" name="Rectangle 44"/>
          <p:cNvSpPr/>
          <p:nvPr/>
        </p:nvSpPr>
        <p:spPr>
          <a:xfrm>
            <a:off x="2166564" y="467096"/>
            <a:ext cx="3582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200" dirty="0" smtClean="0"/>
              <a:t>TO</a:t>
            </a:r>
            <a:endParaRPr lang="en-IN" sz="1200" dirty="0"/>
          </a:p>
        </p:txBody>
      </p:sp>
      <p:sp>
        <p:nvSpPr>
          <p:cNvPr id="46" name="Rectangle 45"/>
          <p:cNvSpPr/>
          <p:nvPr/>
        </p:nvSpPr>
        <p:spPr>
          <a:xfrm>
            <a:off x="1087395" y="464617"/>
            <a:ext cx="882445" cy="235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lowchart: Merge 46"/>
          <p:cNvSpPr/>
          <p:nvPr/>
        </p:nvSpPr>
        <p:spPr>
          <a:xfrm>
            <a:off x="1784773" y="543734"/>
            <a:ext cx="144157" cy="105328"/>
          </a:xfrm>
          <a:prstGeom prst="flowChartMer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1011363" y="448080"/>
            <a:ext cx="87075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050" dirty="0" smtClean="0"/>
              <a:t>2025/07/01</a:t>
            </a:r>
            <a:endParaRPr lang="en-IN" sz="1050" dirty="0"/>
          </a:p>
        </p:txBody>
      </p:sp>
      <p:sp>
        <p:nvSpPr>
          <p:cNvPr id="49" name="Rectangle 48"/>
          <p:cNvSpPr/>
          <p:nvPr/>
        </p:nvSpPr>
        <p:spPr>
          <a:xfrm>
            <a:off x="2476631" y="481780"/>
            <a:ext cx="882445" cy="235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Merge 49"/>
          <p:cNvSpPr/>
          <p:nvPr/>
        </p:nvSpPr>
        <p:spPr>
          <a:xfrm>
            <a:off x="3174009" y="560897"/>
            <a:ext cx="144157" cy="105328"/>
          </a:xfrm>
          <a:prstGeom prst="flowChartMer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2416629" y="465243"/>
            <a:ext cx="83869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050" dirty="0" smtClean="0"/>
              <a:t>2025/07/03</a:t>
            </a:r>
            <a:endParaRPr lang="en-IN" sz="1050" dirty="0"/>
          </a:p>
        </p:txBody>
      </p:sp>
      <p:sp>
        <p:nvSpPr>
          <p:cNvPr id="52" name="Rectangle 51"/>
          <p:cNvSpPr/>
          <p:nvPr/>
        </p:nvSpPr>
        <p:spPr>
          <a:xfrm>
            <a:off x="467249" y="401899"/>
            <a:ext cx="2948082" cy="38484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3" name="Table 52"/>
          <p:cNvGraphicFramePr>
            <a:graphicFrameLocks noGrp="1"/>
          </p:cNvGraphicFramePr>
          <p:nvPr>
            <p:extLst/>
          </p:nvPr>
        </p:nvGraphicFramePr>
        <p:xfrm>
          <a:off x="228598" y="5186582"/>
          <a:ext cx="11872785" cy="11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7023"/>
                <a:gridCol w="1617305"/>
                <a:gridCol w="1662738"/>
                <a:gridCol w="2180208"/>
                <a:gridCol w="2566510"/>
                <a:gridCol w="2209001"/>
              </a:tblGrid>
              <a:tr h="273027"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Date 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No</a:t>
                      </a:r>
                      <a:r>
                        <a:rPr lang="en-GB" sz="1050" baseline="0" dirty="0" smtClean="0"/>
                        <a:t> Of Pos 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Material</a:t>
                      </a:r>
                      <a:r>
                        <a:rPr lang="en-GB" sz="1050" baseline="0" dirty="0" smtClean="0"/>
                        <a:t> OK Pos 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Material</a:t>
                      </a:r>
                      <a:r>
                        <a:rPr lang="en-GB" sz="1050" baseline="0" dirty="0" smtClean="0"/>
                        <a:t> Not OK Pos 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Material Readiness %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Status</a:t>
                      </a:r>
                      <a:r>
                        <a:rPr lang="en-GB" sz="1050" baseline="0" dirty="0" smtClean="0"/>
                        <a:t> </a:t>
                      </a:r>
                      <a:endParaRPr lang="en-IN" sz="1050" dirty="0"/>
                    </a:p>
                  </a:txBody>
                  <a:tcPr/>
                </a:tc>
              </a:tr>
              <a:tr h="29863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 smtClean="0"/>
                        <a:t>2025/07/01</a:t>
                      </a:r>
                      <a:endParaRPr lang="en-IN" sz="105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 smtClean="0"/>
                        <a:t>120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120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100%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 smtClean="0">
                          <a:solidFill>
                            <a:srgbClr val="00B050"/>
                          </a:solidFill>
                        </a:rPr>
                        <a:t>✅ Ready</a:t>
                      </a:r>
                      <a:endParaRPr lang="en-IN" sz="105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27302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 smtClean="0"/>
                        <a:t>2025/07/0</a:t>
                      </a:r>
                      <a:r>
                        <a:rPr lang="en-IN" sz="1000" dirty="0" smtClean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154</a:t>
                      </a:r>
                      <a:endParaRPr lang="en-IN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150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4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97%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 smtClean="0">
                          <a:solidFill>
                            <a:srgbClr val="FF0000"/>
                          </a:solidFill>
                        </a:rPr>
                        <a:t>❌ Short</a:t>
                      </a:r>
                      <a:endParaRPr lang="en-IN" sz="105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7302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 smtClean="0"/>
                        <a:t>2025/07/0</a:t>
                      </a:r>
                      <a:r>
                        <a:rPr lang="en-IN" sz="1000" dirty="0" smtClean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 smtClean="0"/>
                        <a:t>182</a:t>
                      </a:r>
                      <a:endParaRPr lang="en-IN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140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42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75%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 smtClean="0">
                          <a:solidFill>
                            <a:srgbClr val="FF0000"/>
                          </a:solidFill>
                        </a:rPr>
                        <a:t>❌ Short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989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"/>
            <a:ext cx="12160038" cy="435823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altLang="zh-CN" sz="2000" b="1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  <a:p>
            <a:pPr algn="ctr"/>
            <a:r>
              <a:rPr lang="zh-CN" altLang="en-US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系</a:t>
            </a:r>
            <a:r>
              <a:rPr lang="zh-CN" altLang="en-US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统配置与开发清单 </a:t>
            </a:r>
            <a:r>
              <a:rPr lang="en-US" altLang="zh-CN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System configuration &amp; Development List</a:t>
            </a:r>
            <a:endParaRPr lang="zh-CN" altLang="en-US" sz="2000" b="1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  <a:p>
            <a:pPr algn="ctr"/>
            <a:endParaRPr lang="en-GB" sz="2000" b="1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029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24515" y="1010342"/>
            <a:ext cx="105896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000" dirty="0">
                <a:latin typeface="Sitka Banner" panose="02000505000000020004" pitchFamily="2" charset="0"/>
              </a:rPr>
              <a:t>No Additional Configurations Needed.</a:t>
            </a:r>
          </a:p>
          <a:p>
            <a:pPr marL="342900" indent="-342900">
              <a:buAutoNum type="arabicPeriod"/>
            </a:pPr>
            <a:endParaRPr lang="en-US" sz="2000" dirty="0">
              <a:latin typeface="Sitka Banner" panose="02000505000000020004" pitchFamily="2" charset="0"/>
            </a:endParaRPr>
          </a:p>
          <a:p>
            <a:pPr marL="342900" indent="-342900">
              <a:buFontTx/>
              <a:buAutoNum type="arabicPeriod"/>
            </a:pPr>
            <a:r>
              <a:rPr lang="en-US" sz="2000" dirty="0">
                <a:latin typeface="Sitka Banner" panose="02000505000000020004" pitchFamily="2" charset="0"/>
              </a:rPr>
              <a:t>No Additional Systems Implemented in Production</a:t>
            </a:r>
            <a:r>
              <a:rPr lang="en-US" dirty="0" smtClean="0">
                <a:latin typeface="Sitka Banner" panose="02000505000000020004" pitchFamily="2" charset="0"/>
              </a:rPr>
              <a:t>.</a:t>
            </a:r>
            <a:endParaRPr lang="en-US" dirty="0">
              <a:latin typeface="Sitka Banner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055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38" y="-10948"/>
            <a:ext cx="12160038" cy="435823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latinLnBrk="1" hangingPunct="0">
              <a:buClr>
                <a:srgbClr val="006600"/>
              </a:buClr>
              <a:buSzPct val="85000"/>
            </a:pPr>
            <a:r>
              <a:rPr lang="zh-CN" altLang="en-US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 </a:t>
            </a:r>
            <a:r>
              <a:rPr lang="zh-CN" altLang="en-US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      蓝</a:t>
            </a:r>
            <a:r>
              <a:rPr lang="zh-CN" altLang="en-US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图签核确认清单 </a:t>
            </a:r>
            <a:r>
              <a:rPr lang="en-US" altLang="zh-CN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Blueprint Sign-off List</a:t>
            </a:r>
            <a:endParaRPr lang="zh-CN" altLang="en-US" sz="2000" b="1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02975"/>
          </a:xfrm>
          <a:prstGeom prst="rect">
            <a:avLst/>
          </a:prstGeom>
        </p:spPr>
      </p:pic>
      <p:graphicFrame>
        <p:nvGraphicFramePr>
          <p:cNvPr id="9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00222"/>
              </p:ext>
            </p:extLst>
          </p:nvPr>
        </p:nvGraphicFramePr>
        <p:xfrm>
          <a:off x="387928" y="831271"/>
          <a:ext cx="11176000" cy="5394037"/>
        </p:xfrm>
        <a:graphic>
          <a:graphicData uri="http://schemas.openxmlformats.org/drawingml/2006/table">
            <a:tbl>
              <a:tblPr/>
              <a:tblGrid>
                <a:gridCol w="42184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102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8726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76004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7228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  <a:t>事项</a:t>
                      </a:r>
                      <a:b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  <a:t>Item</a:t>
                      </a: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  <a:t>相关部门</a:t>
                      </a:r>
                      <a:b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  <a:t>Relevant department</a:t>
                      </a: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  <a:t>相关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  <a:t>BPO/IT</a:t>
                      </a:r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  <a:t>主管</a:t>
                      </a:r>
                      <a:b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  <a:t>Relevant BPO/IT Head</a:t>
                      </a: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  <a:t>相关人员</a:t>
                      </a:r>
                      <a:b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  <a:t>Relevant members</a:t>
                      </a: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7936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CMT</a:t>
                      </a:r>
                      <a:r>
                        <a:rPr lang="en-US" altLang="zh-CN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 </a:t>
                      </a:r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Flowchart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Planning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Nagarjun-y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 Rakhi-d</a:t>
                      </a:r>
                      <a:r>
                        <a:rPr lang="en-US" altLang="zh-CN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 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369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GB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Srinu-m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59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Production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Srinu-m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369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GB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Sivakumar-pc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3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PC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 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Sivakumar-pc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18765">
                <a:tc vMerge="1"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Warehouse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Ramesh-K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Balaji-V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765">
                <a:tc vMerge="1"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Purchase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Derek-yang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Derek-yang</a:t>
                      </a: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3320">
                <a:tc rowSpan="5">
                  <a:txBody>
                    <a:bodyPr/>
                    <a:lstStyle/>
                    <a:p>
                      <a:pPr marL="0" marR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CMT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work-flow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Planning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Nagarjun-y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 Rakhi-d</a:t>
                      </a:r>
                      <a:r>
                        <a:rPr lang="en-US" altLang="zh-CN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 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1505">
                <a:tc vMerge="1"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Production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Srinu-m</a:t>
                      </a: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Srinu-m</a:t>
                      </a:r>
                      <a:endParaRPr lang="zh-CN" alt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490837">
                <a:tc vMerge="1"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PC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 </a:t>
                      </a:r>
                      <a:endParaRPr lang="en-US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Sivakumar-pc</a:t>
                      </a: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Sivakumar-pc</a:t>
                      </a: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496006">
                <a:tc vMerge="1"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Warehouse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Ramesh-K</a:t>
                      </a: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Balaji-V</a:t>
                      </a:r>
                      <a:endParaRPr lang="zh-CN" alt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414476">
                <a:tc vMerge="1"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Purchase </a:t>
                      </a:r>
                    </a:p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Derek-yang</a:t>
                      </a: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Derek-yang</a:t>
                      </a: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602791">
                <a:tc>
                  <a:txBody>
                    <a:bodyPr/>
                    <a:lstStyle/>
                    <a:p>
                      <a:pPr marL="0" marR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/>
                        <a:t>系統配置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System configuration </a:t>
                      </a: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IT</a:t>
                      </a: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Chandrasekhar-V</a:t>
                      </a: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  <a:ea typeface="+mn-ea"/>
                          <a:cs typeface="+mn-cs"/>
                        </a:rPr>
                        <a:t>Syamsundar-r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/>
                        <a:ea typeface="+mn-ea"/>
                        <a:cs typeface="+mn-cs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0731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/>
          <p:cNvSpPr/>
          <p:nvPr/>
        </p:nvSpPr>
        <p:spPr>
          <a:xfrm>
            <a:off x="1690253" y="2060346"/>
            <a:ext cx="10484170" cy="2267585"/>
          </a:xfrm>
          <a:prstGeom prst="rect">
            <a:avLst/>
          </a:prstGeom>
          <a:solidFill>
            <a:schemeClr val="accent4">
              <a:alpha val="29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/>
          <p:cNvSpPr/>
          <p:nvPr/>
        </p:nvSpPr>
        <p:spPr>
          <a:xfrm>
            <a:off x="1690253" y="424875"/>
            <a:ext cx="10469785" cy="1575767"/>
          </a:xfrm>
          <a:prstGeom prst="rect">
            <a:avLst/>
          </a:prstGeom>
          <a:solidFill>
            <a:schemeClr val="accent1">
              <a:alpha val="17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 smtClean="0">
                <a:solidFill>
                  <a:schemeClr val="tx1"/>
                </a:solidFill>
              </a:rPr>
              <a:t>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-10948"/>
            <a:ext cx="12160038" cy="435823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latinLnBrk="1" hangingPunct="0">
              <a:buClr>
                <a:srgbClr val="006600"/>
              </a:buClr>
              <a:buSzPct val="85000"/>
            </a:pPr>
            <a:r>
              <a:rPr lang="zh-CN" altLang="en-US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 </a:t>
            </a:r>
            <a:r>
              <a:rPr lang="zh-CN" altLang="en-US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      蓝</a:t>
            </a:r>
            <a:r>
              <a:rPr lang="zh-CN" altLang="en-US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图签核 </a:t>
            </a:r>
            <a:r>
              <a:rPr lang="en-US" altLang="zh-CN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Blue print Sign-off</a:t>
            </a:r>
            <a:endParaRPr lang="zh-CN" altLang="en-US" sz="2000" b="1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029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35096" y="547857"/>
            <a:ext cx="990945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 smtClean="0"/>
              <a:t>Capture </a:t>
            </a:r>
            <a:r>
              <a:rPr lang="en-US" sz="1400" dirty="0"/>
              <a:t>Planning ,PC , ERP Picking Generation, Production output, Assembly Finish, FG Packing, WH Inward and CRD dates. </a:t>
            </a:r>
            <a:endParaRPr lang="en-US" sz="1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 smtClean="0"/>
              <a:t> </a:t>
            </a:r>
            <a:r>
              <a:rPr lang="en-US" sz="1400" dirty="0"/>
              <a:t>Calculate Prod2WH lead time and CRD delay days. </a:t>
            </a:r>
            <a:endParaRPr lang="en-US" sz="1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 smtClean="0"/>
              <a:t>Classify </a:t>
            </a:r>
            <a:r>
              <a:rPr lang="en-US" sz="1400" dirty="0"/>
              <a:t>CRD status (On-time / Early / Delayed). </a:t>
            </a:r>
            <a:endParaRPr lang="en-US" sz="1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 smtClean="0"/>
              <a:t>Generate </a:t>
            </a:r>
            <a:r>
              <a:rPr lang="en-US" sz="1400" dirty="0"/>
              <a:t>daily &amp; monthly CRD performance reports. </a:t>
            </a:r>
            <a:endParaRPr lang="en-US" sz="1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 smtClean="0"/>
              <a:t>Provide </a:t>
            </a:r>
            <a:r>
              <a:rPr lang="en-US" sz="1400" dirty="0"/>
              <a:t>delay trend </a:t>
            </a:r>
            <a:r>
              <a:rPr lang="en-US" sz="1400" dirty="0" smtClean="0"/>
              <a:t>charts.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 smtClean="0"/>
              <a:t>Generate  </a:t>
            </a:r>
            <a:r>
              <a:rPr lang="en-US" sz="1400" dirty="0"/>
              <a:t>Alert System</a:t>
            </a:r>
            <a:r>
              <a:rPr lang="en-US" sz="1400" dirty="0" smtClean="0"/>
              <a:t>.</a:t>
            </a:r>
            <a:endParaRPr lang="en-US" sz="1400" dirty="0"/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0937"/>
              </p:ext>
            </p:extLst>
          </p:nvPr>
        </p:nvGraphicFramePr>
        <p:xfrm>
          <a:off x="108611" y="4832621"/>
          <a:ext cx="11835938" cy="1727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1959"/>
                <a:gridCol w="1269991"/>
                <a:gridCol w="1091750"/>
                <a:gridCol w="1429671"/>
                <a:gridCol w="1239048"/>
                <a:gridCol w="1308365"/>
                <a:gridCol w="1221718"/>
                <a:gridCol w="1221718"/>
                <a:gridCol w="1221718"/>
              </a:tblGrid>
              <a:tr h="533825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Name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Sign-off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Name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Sign-off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Name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Sign-off</a:t>
                      </a:r>
                      <a:r>
                        <a:rPr lang="en-GB" sz="1400" baseline="0" dirty="0" smtClean="0"/>
                        <a:t>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Sign-off </a:t>
                      </a:r>
                      <a:endParaRPr lang="en-IN" sz="1400" dirty="0"/>
                    </a:p>
                  </a:txBody>
                  <a:tcPr/>
                </a:tc>
              </a:tr>
              <a:tr h="61982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Prepared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Khaleel-sk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Syamsundar-r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</a:tr>
              <a:tr h="5738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Reviewed &amp; Approved </a:t>
                      </a:r>
                      <a:r>
                        <a:rPr lang="en-IN" sz="1400" dirty="0" smtClean="0"/>
                        <a:t>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Rakhi-d </a:t>
                      </a:r>
                      <a:r>
                        <a:rPr lang="en-IN" sz="1400" dirty="0" smtClean="0"/>
                        <a:t>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Srinu-m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Srinivas-p</a:t>
                      </a:r>
                      <a:r>
                        <a:rPr lang="en-IN" sz="1400" baseline="0" dirty="0" smtClean="0"/>
                        <a:t>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Ramesh-d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0" y="4404861"/>
            <a:ext cx="4692073" cy="36945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Sign-off Section </a:t>
            </a:r>
            <a:endParaRPr lang="en-IN" dirty="0"/>
          </a:p>
        </p:txBody>
      </p:sp>
      <p:sp>
        <p:nvSpPr>
          <p:cNvPr id="38" name="Rectangle 37"/>
          <p:cNvSpPr/>
          <p:nvPr/>
        </p:nvSpPr>
        <p:spPr>
          <a:xfrm>
            <a:off x="0" y="438118"/>
            <a:ext cx="1634836" cy="156252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Project Purpose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-8390" y="2060345"/>
            <a:ext cx="1634836" cy="2267585"/>
          </a:xfrm>
          <a:prstGeom prst="rect">
            <a:avLst/>
          </a:prstGeom>
          <a:solidFill>
            <a:schemeClr val="accent4">
              <a:alpha val="38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Scope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790790" y="2145523"/>
            <a:ext cx="2576946" cy="33250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Which roles are covered</a:t>
            </a:r>
            <a:endParaRPr lang="en-IN" sz="1400" dirty="0"/>
          </a:p>
        </p:txBody>
      </p:sp>
      <p:sp>
        <p:nvSpPr>
          <p:cNvPr id="41" name="Rounded Rectangle 40"/>
          <p:cNvSpPr/>
          <p:nvPr/>
        </p:nvSpPr>
        <p:spPr>
          <a:xfrm>
            <a:off x="1743639" y="2648223"/>
            <a:ext cx="1748882" cy="33250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Planning </a:t>
            </a:r>
            <a:endParaRPr lang="en-IN" sz="1400" dirty="0"/>
          </a:p>
        </p:txBody>
      </p:sp>
      <p:sp>
        <p:nvSpPr>
          <p:cNvPr id="42" name="Rounded Rectangle 41"/>
          <p:cNvSpPr/>
          <p:nvPr/>
        </p:nvSpPr>
        <p:spPr>
          <a:xfrm>
            <a:off x="3782701" y="2655012"/>
            <a:ext cx="1551349" cy="33250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PC</a:t>
            </a:r>
            <a:endParaRPr lang="en-IN" sz="1400" dirty="0"/>
          </a:p>
        </p:txBody>
      </p:sp>
      <p:sp>
        <p:nvSpPr>
          <p:cNvPr id="43" name="Rounded Rectangle 42"/>
          <p:cNvSpPr/>
          <p:nvPr/>
        </p:nvSpPr>
        <p:spPr>
          <a:xfrm>
            <a:off x="5693693" y="2664643"/>
            <a:ext cx="1527994" cy="33250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ERP 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790790" y="3266579"/>
            <a:ext cx="2576946" cy="33250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Which modules are included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66307" y="3825699"/>
            <a:ext cx="1916394" cy="33250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  <a:latin typeface="Arial" panose="020B0604020202020204" pitchFamily="34" charset="0"/>
              </a:rPr>
              <a:t>Delay CRD Dashboards</a:t>
            </a:r>
            <a:endParaRPr lang="en-IN" sz="1100" dirty="0"/>
          </a:p>
        </p:txBody>
      </p:sp>
      <p:sp>
        <p:nvSpPr>
          <p:cNvPr id="46" name="Rounded Rectangle 45"/>
          <p:cNvSpPr/>
          <p:nvPr/>
        </p:nvSpPr>
        <p:spPr>
          <a:xfrm>
            <a:off x="4135839" y="3823376"/>
            <a:ext cx="2089954" cy="33250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  <a:latin typeface="Arial" panose="020B0604020202020204" pitchFamily="34" charset="0"/>
              </a:rPr>
              <a:t>CRD Performance Reports</a:t>
            </a:r>
            <a:endParaRPr lang="en-IN" sz="1100" dirty="0"/>
          </a:p>
        </p:txBody>
      </p:sp>
      <p:sp>
        <p:nvSpPr>
          <p:cNvPr id="48" name="Rounded Rectangle 47"/>
          <p:cNvSpPr/>
          <p:nvPr/>
        </p:nvSpPr>
        <p:spPr>
          <a:xfrm>
            <a:off x="8826683" y="3808808"/>
            <a:ext cx="1825247" cy="33250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Alert Systems</a:t>
            </a:r>
            <a:endParaRPr lang="en-IN" sz="1200" dirty="0"/>
          </a:p>
        </p:txBody>
      </p:sp>
      <p:sp>
        <p:nvSpPr>
          <p:cNvPr id="49" name="Rounded Rectangle 48"/>
          <p:cNvSpPr/>
          <p:nvPr/>
        </p:nvSpPr>
        <p:spPr>
          <a:xfrm>
            <a:off x="6650348" y="3784889"/>
            <a:ext cx="1751780" cy="33250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Delay Trend Charts </a:t>
            </a:r>
            <a:endParaRPr lang="en-IN" sz="11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1314545" y="2120050"/>
            <a:ext cx="845493" cy="202126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b="1" dirty="0" smtClean="0">
                <a:solidFill>
                  <a:schemeClr val="tx1"/>
                </a:solidFill>
              </a:rPr>
              <a:t>What Sapp &amp; Email </a:t>
            </a:r>
            <a:endParaRPr lang="en-IN" sz="1600" b="1" dirty="0">
              <a:solidFill>
                <a:schemeClr val="tx1"/>
              </a:solidFill>
            </a:endParaRPr>
          </a:p>
        </p:txBody>
      </p:sp>
      <p:cxnSp>
        <p:nvCxnSpPr>
          <p:cNvPr id="52" name="Straight Connector 51"/>
          <p:cNvCxnSpPr>
            <a:stCxn id="40" idx="3"/>
          </p:cNvCxnSpPr>
          <p:nvPr/>
        </p:nvCxnSpPr>
        <p:spPr>
          <a:xfrm>
            <a:off x="4367736" y="2311778"/>
            <a:ext cx="6921226" cy="97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4367736" y="3432767"/>
            <a:ext cx="6921226" cy="23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225793" y="2120624"/>
            <a:ext cx="3205111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 smtClean="0"/>
              <a:t>Communication / Raising Escalation  :  </a:t>
            </a:r>
            <a:endParaRPr lang="en-IN" sz="1400" dirty="0"/>
          </a:p>
        </p:txBody>
      </p:sp>
      <p:sp>
        <p:nvSpPr>
          <p:cNvPr id="58" name="TextBox 57"/>
          <p:cNvSpPr txBox="1"/>
          <p:nvPr/>
        </p:nvSpPr>
        <p:spPr>
          <a:xfrm>
            <a:off x="6369581" y="3266579"/>
            <a:ext cx="3205111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 smtClean="0"/>
              <a:t>Communication / Raising Escalation  :  </a:t>
            </a:r>
            <a:endParaRPr lang="en-IN" sz="1400" dirty="0"/>
          </a:p>
        </p:txBody>
      </p:sp>
      <p:sp>
        <p:nvSpPr>
          <p:cNvPr id="26" name="Rounded Rectangle 25"/>
          <p:cNvSpPr/>
          <p:nvPr/>
        </p:nvSpPr>
        <p:spPr>
          <a:xfrm>
            <a:off x="7510431" y="2662853"/>
            <a:ext cx="1527994" cy="33250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Production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327170" y="2655012"/>
            <a:ext cx="1527994" cy="33250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Warehouse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112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utoShape 6" descr="PowerPoint And Google Slides Templa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8" descr="PowerPoint And Google Slides Template"/>
          <p:cNvSpPr>
            <a:spLocks noChangeAspect="1" noChangeArrowheads="1"/>
          </p:cNvSpPr>
          <p:nvPr/>
        </p:nvSpPr>
        <p:spPr bwMode="auto">
          <a:xfrm>
            <a:off x="307975" y="7937"/>
            <a:ext cx="3252488" cy="325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PowerPoint And Google Slides Template"/>
          <p:cNvSpPr>
            <a:spLocks noChangeAspect="1" noChangeArrowheads="1"/>
          </p:cNvSpPr>
          <p:nvPr/>
        </p:nvSpPr>
        <p:spPr bwMode="auto">
          <a:xfrm>
            <a:off x="307975" y="7937"/>
            <a:ext cx="2567030" cy="256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382"/>
          </a:xfrm>
          <a:prstGeom prst="rect">
            <a:avLst/>
          </a:prstGeom>
        </p:spPr>
      </p:pic>
      <p:sp>
        <p:nvSpPr>
          <p:cNvPr id="8" name="AutoShape 4" descr="Free Thanks PowerPoint, Canva, and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618"/>
            <a:ext cx="12192000" cy="686261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049" y="1171842"/>
            <a:ext cx="7667840" cy="43085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72174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1156</Words>
  <Application>Microsoft Office PowerPoint</Application>
  <PresentationFormat>Widescreen</PresentationFormat>
  <Paragraphs>441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微软雅黑</vt:lpstr>
      <vt:lpstr>宋体</vt:lpstr>
      <vt:lpstr>72 Black</vt:lpstr>
      <vt:lpstr>Arial</vt:lpstr>
      <vt:lpstr>Calibri</vt:lpstr>
      <vt:lpstr>Calibri Light</vt:lpstr>
      <vt:lpstr>新細明體</vt:lpstr>
      <vt:lpstr>Sitka Banner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manohar-g</dc:creator>
  <cp:lastModifiedBy>manohar-g</cp:lastModifiedBy>
  <cp:revision>47</cp:revision>
  <dcterms:created xsi:type="dcterms:W3CDTF">2025-09-22T05:14:51Z</dcterms:created>
  <dcterms:modified xsi:type="dcterms:W3CDTF">2026-01-17T10:52:52Z</dcterms:modified>
</cp:coreProperties>
</file>