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4" r:id="rId9"/>
    <p:sldId id="265" r:id="rId10"/>
    <p:sldId id="266" r:id="rId11"/>
    <p:sldId id="267"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sz="1400" dirty="0" smtClean="0"/>
              <a:t>Material Readiness by Plant</a:t>
            </a:r>
            <a:endParaRPr lang="en-IN" sz="1400" dirty="0"/>
          </a:p>
        </c:rich>
      </c:tx>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8.1186971423336154E-2"/>
          <c:y val="6.5731891877519086E-2"/>
          <c:w val="0.94583058562992128"/>
          <c:h val="0.76748654235442038"/>
        </c:manualLayout>
      </c:layout>
      <c:barChart>
        <c:barDir val="col"/>
        <c:grouping val="clustered"/>
        <c:varyColors val="0"/>
        <c:ser>
          <c:idx val="0"/>
          <c:order val="0"/>
          <c:tx>
            <c:strRef>
              <c:f>Sheet1!$B$1</c:f>
              <c:strCache>
                <c:ptCount val="1"/>
                <c:pt idx="0">
                  <c:v>Series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Sheet1!$A$2:$A$11</c:f>
              <c:strCache>
                <c:ptCount val="10"/>
                <c:pt idx="0">
                  <c:v>Plant -B</c:v>
                </c:pt>
                <c:pt idx="1">
                  <c:v>Plant -C</c:v>
                </c:pt>
                <c:pt idx="2">
                  <c:v>Plant -D</c:v>
                </c:pt>
                <c:pt idx="3">
                  <c:v>Plant - E</c:v>
                </c:pt>
                <c:pt idx="4">
                  <c:v>Plant - F</c:v>
                </c:pt>
                <c:pt idx="5">
                  <c:v>Plant - G</c:v>
                </c:pt>
                <c:pt idx="6">
                  <c:v>Plant - H</c:v>
                </c:pt>
                <c:pt idx="7">
                  <c:v>Plant - I</c:v>
                </c:pt>
                <c:pt idx="8">
                  <c:v>Plant - J</c:v>
                </c:pt>
                <c:pt idx="9">
                  <c:v>Plant - K</c:v>
                </c:pt>
              </c:strCache>
            </c:strRef>
          </c:cat>
          <c:val>
            <c:numRef>
              <c:f>Sheet1!$B$2:$B$11</c:f>
              <c:numCache>
                <c:formatCode>0%</c:formatCode>
                <c:ptCount val="10"/>
                <c:pt idx="0">
                  <c:v>0.7</c:v>
                </c:pt>
                <c:pt idx="1">
                  <c:v>0.6</c:v>
                </c:pt>
                <c:pt idx="2">
                  <c:v>0.45</c:v>
                </c:pt>
                <c:pt idx="3">
                  <c:v>0.8</c:v>
                </c:pt>
                <c:pt idx="4">
                  <c:v>0.56000000000000005</c:v>
                </c:pt>
                <c:pt idx="5">
                  <c:v>0.68</c:v>
                </c:pt>
                <c:pt idx="6">
                  <c:v>0.98</c:v>
                </c:pt>
                <c:pt idx="7">
                  <c:v>0.75</c:v>
                </c:pt>
                <c:pt idx="8">
                  <c:v>0.65</c:v>
                </c:pt>
                <c:pt idx="9">
                  <c:v>1</c:v>
                </c:pt>
              </c:numCache>
            </c:numRef>
          </c:val>
        </c:ser>
        <c:dLbls>
          <c:showLegendKey val="0"/>
          <c:showVal val="1"/>
          <c:showCatName val="0"/>
          <c:showSerName val="0"/>
          <c:showPercent val="0"/>
          <c:showBubbleSize val="0"/>
        </c:dLbls>
        <c:gapWidth val="100"/>
        <c:overlap val="-24"/>
        <c:axId val="1526200848"/>
        <c:axId val="1526199760"/>
      </c:barChart>
      <c:catAx>
        <c:axId val="152620084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526199760"/>
        <c:crossesAt val="0"/>
        <c:auto val="1"/>
        <c:lblAlgn val="ctr"/>
        <c:lblOffset val="100"/>
        <c:noMultiLvlLbl val="0"/>
      </c:catAx>
      <c:valAx>
        <c:axId val="1526199760"/>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526200848"/>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1E6FFF3-5AF8-47C3-8FC2-0D5C0C322C1F}" type="datetimeFigureOut">
              <a:rPr lang="en-IN" smtClean="0"/>
              <a:t>2025/09/24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9667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E6FFF3-5AF8-47C3-8FC2-0D5C0C322C1F}" type="datetimeFigureOut">
              <a:rPr lang="en-IN" smtClean="0"/>
              <a:t>2025/09/24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51228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1E6FFF3-5AF8-47C3-8FC2-0D5C0C322C1F}" type="datetimeFigureOut">
              <a:rPr lang="en-IN" smtClean="0"/>
              <a:t>2025/09/24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2383802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1E6FFF3-5AF8-47C3-8FC2-0D5C0C322C1F}" type="datetimeFigureOut">
              <a:rPr lang="en-IN" smtClean="0"/>
              <a:t>2025/09/24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1684571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1E6FFF3-5AF8-47C3-8FC2-0D5C0C322C1F}" type="datetimeFigureOut">
              <a:rPr lang="en-IN" smtClean="0"/>
              <a:t>2025/09/24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394169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1E6FFF3-5AF8-47C3-8FC2-0D5C0C322C1F}" type="datetimeFigureOut">
              <a:rPr lang="en-IN" smtClean="0"/>
              <a:t>2025/09/24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58614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6FFF3-5AF8-47C3-8FC2-0D5C0C322C1F}" type="datetimeFigureOut">
              <a:rPr lang="en-IN" smtClean="0"/>
              <a:t>2025/09/24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2650873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E6FFF3-5AF8-47C3-8FC2-0D5C0C322C1F}" type="datetimeFigureOut">
              <a:rPr lang="en-IN" smtClean="0"/>
              <a:t>2025/09/24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115354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E6FFF3-5AF8-47C3-8FC2-0D5C0C322C1F}" type="datetimeFigureOut">
              <a:rPr lang="en-IN" smtClean="0"/>
              <a:t>2025/09/24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443334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E6FFF3-5AF8-47C3-8FC2-0D5C0C322C1F}" type="datetimeFigureOut">
              <a:rPr lang="en-IN" smtClean="0"/>
              <a:t>2025/09/24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1671794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E6FFF3-5AF8-47C3-8FC2-0D5C0C322C1F}" type="datetimeFigureOut">
              <a:rPr lang="en-IN" smtClean="0"/>
              <a:t>2025/09/24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E99FF0-B64D-49D6-BC22-A11D90A32443}" type="slidenum">
              <a:rPr lang="en-IN" smtClean="0"/>
              <a:t>‹#›</a:t>
            </a:fld>
            <a:endParaRPr lang="en-IN"/>
          </a:p>
        </p:txBody>
      </p:sp>
    </p:spTree>
    <p:extLst>
      <p:ext uri="{BB962C8B-B14F-4D97-AF65-F5344CB8AC3E}">
        <p14:creationId xmlns:p14="http://schemas.microsoft.com/office/powerpoint/2010/main" val="3020053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E6FFF3-5AF8-47C3-8FC2-0D5C0C322C1F}" type="datetimeFigureOut">
              <a:rPr lang="en-IN" smtClean="0"/>
              <a:t>2025/09/24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99FF0-B64D-49D6-BC22-A11D90A32443}" type="slidenum">
              <a:rPr lang="en-IN" smtClean="0"/>
              <a:t>‹#›</a:t>
            </a:fld>
            <a:endParaRPr lang="en-IN"/>
          </a:p>
        </p:txBody>
      </p:sp>
    </p:spTree>
    <p:extLst>
      <p:ext uri="{BB962C8B-B14F-4D97-AF65-F5344CB8AC3E}">
        <p14:creationId xmlns:p14="http://schemas.microsoft.com/office/powerpoint/2010/main" val="1761942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1.xml"/><Relationship Id="rId1" Type="http://schemas.openxmlformats.org/officeDocument/2006/relationships/slideLayout" Target="../slideLayouts/slideLayout7.xm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13.png"/><Relationship Id="rId4"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26" y="-2"/>
            <a:ext cx="12192000" cy="6858000"/>
          </a:xfrm>
          <a:prstGeom prst="rect">
            <a:avLst/>
          </a:prstGeom>
          <a:gradFill>
            <a:gsLst>
              <a:gs pos="0">
                <a:schemeClr val="accent1">
                  <a:lumMod val="110000"/>
                  <a:satMod val="105000"/>
                  <a:tint val="67000"/>
                  <a:alpha val="40000"/>
                </a:schemeClr>
              </a:gs>
              <a:gs pos="50000">
                <a:schemeClr val="accent1">
                  <a:lumMod val="105000"/>
                  <a:satMod val="103000"/>
                  <a:tint val="73000"/>
                  <a:alpha val="65000"/>
                </a:schemeClr>
              </a:gs>
              <a:gs pos="100000">
                <a:schemeClr val="accent1">
                  <a:lumMod val="105000"/>
                  <a:satMod val="109000"/>
                  <a:tint val="81000"/>
                  <a:alpha val="42000"/>
                </a:schemeClr>
              </a:gs>
            </a:gsLs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3" name="Flowchart: Terminator 2"/>
          <p:cNvSpPr/>
          <p:nvPr/>
        </p:nvSpPr>
        <p:spPr>
          <a:xfrm rot="16200000">
            <a:off x="1184128" y="2740008"/>
            <a:ext cx="4419076" cy="1146184"/>
          </a:xfrm>
          <a:prstGeom prst="flowChartTerminator">
            <a:avLst/>
          </a:prstGeom>
          <a:gradFill>
            <a:gsLst>
              <a:gs pos="0">
                <a:schemeClr val="accent6">
                  <a:lumMod val="110000"/>
                  <a:satMod val="105000"/>
                  <a:tint val="67000"/>
                  <a:alpha val="52000"/>
                </a:schemeClr>
              </a:gs>
              <a:gs pos="50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0" name="Rectangle 9"/>
          <p:cNvSpPr/>
          <p:nvPr/>
        </p:nvSpPr>
        <p:spPr>
          <a:xfrm>
            <a:off x="22826" y="-5"/>
            <a:ext cx="3302265" cy="6857999"/>
          </a:xfrm>
          <a:prstGeom prst="rect">
            <a:avLst/>
          </a:prstGeom>
          <a:blipFill>
            <a:blip r:embed="rId2"/>
            <a:stretch>
              <a:fillRect/>
            </a:stretch>
          </a:blip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4" name="Rectangle 3"/>
          <p:cNvSpPr/>
          <p:nvPr/>
        </p:nvSpPr>
        <p:spPr>
          <a:xfrm>
            <a:off x="4079397" y="1949581"/>
            <a:ext cx="8022791" cy="1938992"/>
          </a:xfrm>
          <a:prstGeom prst="rect">
            <a:avLst/>
          </a:prstGeom>
          <a:noFill/>
        </p:spPr>
        <p:txBody>
          <a:bodyPr wrap="square" lIns="91440" tIns="45720" rIns="91440" bIns="45720">
            <a:spAutoFit/>
          </a:bodyPr>
          <a:lstStyle/>
          <a:p>
            <a:r>
              <a:rPr lang="en-US" sz="4000" b="1" dirty="0" smtClean="0">
                <a:ln w="0"/>
                <a:gradFill>
                  <a:gsLst>
                    <a:gs pos="0">
                      <a:schemeClr val="accent6">
                        <a:lumMod val="50000"/>
                      </a:schemeClr>
                    </a:gs>
                    <a:gs pos="50000">
                      <a:schemeClr val="accent6"/>
                    </a:gs>
                    <a:gs pos="100000">
                      <a:schemeClr val="accent2"/>
                    </a:gs>
                  </a:gsLst>
                  <a:lin ang="5400000"/>
                </a:gradFill>
                <a:effectLst>
                  <a:outerShdw blurRad="38100" dist="38100" dir="2700000" algn="tl">
                    <a:srgbClr val="9A0000"/>
                  </a:outerShdw>
                  <a:reflection blurRad="6350" stA="53000" endA="300" endPos="35500" dir="5400000" sy="-90000" algn="bl" rotWithShape="0"/>
                </a:effectLst>
                <a:latin typeface="72 Black" panose="020B0A04030603020204" pitchFamily="34" charset="0"/>
                <a:cs typeface="72 Black" panose="020B0A04030603020204" pitchFamily="34" charset="0"/>
              </a:rPr>
              <a:t>APACHE APC MES</a:t>
            </a:r>
          </a:p>
          <a:p>
            <a:r>
              <a:rPr lang="en-US" sz="4000" b="1" dirty="0" smtClean="0">
                <a:ln w="0"/>
                <a:gradFill>
                  <a:gsLst>
                    <a:gs pos="0">
                      <a:schemeClr val="accent6">
                        <a:lumMod val="50000"/>
                      </a:schemeClr>
                    </a:gs>
                    <a:gs pos="50000">
                      <a:schemeClr val="accent6"/>
                    </a:gs>
                    <a:gs pos="100000">
                      <a:schemeClr val="accent2"/>
                    </a:gs>
                  </a:gsLst>
                  <a:lin ang="5400000"/>
                </a:gradFill>
                <a:effectLst>
                  <a:outerShdw blurRad="38100" dist="38100" dir="2700000" algn="tl">
                    <a:srgbClr val="9A0000"/>
                  </a:outerShdw>
                  <a:reflection blurRad="6350" stA="53000" endA="300" endPos="35500" dir="5400000" sy="-90000" algn="bl" rotWithShape="0"/>
                </a:effectLst>
                <a:latin typeface="72 Black" panose="020B0A04030603020204" pitchFamily="34" charset="0"/>
                <a:cs typeface="72 Black" panose="020B0A04030603020204" pitchFamily="34" charset="0"/>
              </a:rPr>
              <a:t>Cutting Material Management </a:t>
            </a:r>
          </a:p>
          <a:p>
            <a:r>
              <a:rPr lang="en-US" sz="4000" b="1" dirty="0" smtClean="0">
                <a:ln w="0"/>
                <a:gradFill>
                  <a:gsLst>
                    <a:gs pos="0">
                      <a:schemeClr val="accent6">
                        <a:lumMod val="50000"/>
                      </a:schemeClr>
                    </a:gs>
                    <a:gs pos="50000">
                      <a:schemeClr val="accent6"/>
                    </a:gs>
                    <a:gs pos="100000">
                      <a:schemeClr val="accent2"/>
                    </a:gs>
                  </a:gsLst>
                  <a:lin ang="5400000"/>
                </a:gradFill>
                <a:effectLst>
                  <a:outerShdw blurRad="38100" dist="38100" dir="2700000" algn="tl">
                    <a:srgbClr val="9A0000"/>
                  </a:outerShdw>
                  <a:reflection blurRad="6350" stA="53000" endA="300" endPos="35500" dir="5400000" sy="-90000" algn="bl" rotWithShape="0"/>
                </a:effectLst>
                <a:latin typeface="72 Black" panose="020B0A04030603020204" pitchFamily="34" charset="0"/>
                <a:cs typeface="72 Black" panose="020B0A04030603020204" pitchFamily="34" charset="0"/>
              </a:rPr>
              <a:t>System </a:t>
            </a:r>
            <a:endParaRPr lang="en-US" sz="4000" b="1" dirty="0">
              <a:ln w="0"/>
              <a:gradFill>
                <a:gsLst>
                  <a:gs pos="0">
                    <a:schemeClr val="accent6">
                      <a:lumMod val="50000"/>
                    </a:schemeClr>
                  </a:gs>
                  <a:gs pos="50000">
                    <a:schemeClr val="accent6"/>
                  </a:gs>
                  <a:gs pos="100000">
                    <a:schemeClr val="accent2"/>
                  </a:gs>
                </a:gsLst>
                <a:lin ang="5400000"/>
              </a:gradFill>
              <a:effectLst>
                <a:outerShdw blurRad="38100" dist="38100" dir="2700000" algn="tl">
                  <a:srgbClr val="9A0000"/>
                </a:outerShdw>
                <a:reflection blurRad="6350" stA="53000" endA="300" endPos="35500" dir="5400000" sy="-90000" algn="bl" rotWithShape="0"/>
              </a:effectLst>
              <a:latin typeface="72 Black" panose="020B0A04030603020204" pitchFamily="34" charset="0"/>
              <a:cs typeface="72 Black" panose="020B0A04030603020204" pitchFamily="34" charset="0"/>
            </a:endParaRPr>
          </a:p>
        </p:txBody>
      </p:sp>
      <p:sp>
        <p:nvSpPr>
          <p:cNvPr id="5" name="Rectangle 4"/>
          <p:cNvSpPr/>
          <p:nvPr/>
        </p:nvSpPr>
        <p:spPr>
          <a:xfrm>
            <a:off x="3325091" y="5597237"/>
            <a:ext cx="8866910" cy="126076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smtClean="0">
                <a:solidFill>
                  <a:schemeClr val="tx1"/>
                </a:solidFill>
              </a:rPr>
              <a:t>Presented by : Manohar-G ( APC-IT ) </a:t>
            </a:r>
          </a:p>
          <a:p>
            <a:pPr algn="ctr"/>
            <a:r>
              <a:rPr lang="en-GB" b="1" dirty="0" smtClean="0">
                <a:solidFill>
                  <a:srgbClr val="FF0000"/>
                </a:solidFill>
              </a:rPr>
              <a:t>2025 September 24</a:t>
            </a:r>
            <a:endParaRPr lang="en-IN" b="1" dirty="0">
              <a:solidFill>
                <a:srgbClr val="FF0000"/>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37371" y="6294820"/>
            <a:ext cx="877455" cy="583907"/>
          </a:xfrm>
          <a:prstGeom prst="rect">
            <a:avLst/>
          </a:prstGeom>
        </p:spPr>
      </p:pic>
      <p:pic>
        <p:nvPicPr>
          <p:cNvPr id="8" name="Picture 7"/>
          <p:cNvPicPr>
            <a:picLocks noChangeAspect="1"/>
          </p:cNvPicPr>
          <p:nvPr/>
        </p:nvPicPr>
        <p:blipFill>
          <a:blip r:embed="rId4"/>
          <a:stretch>
            <a:fillRect/>
          </a:stretch>
        </p:blipFill>
        <p:spPr>
          <a:xfrm>
            <a:off x="333074" y="303235"/>
            <a:ext cx="307986" cy="307986"/>
          </a:xfrm>
          <a:prstGeom prst="rect">
            <a:avLst/>
          </a:prstGeom>
        </p:spPr>
      </p:pic>
      <p:sp>
        <p:nvSpPr>
          <p:cNvPr id="9" name="TextBox 8"/>
          <p:cNvSpPr txBox="1"/>
          <p:nvPr/>
        </p:nvSpPr>
        <p:spPr>
          <a:xfrm>
            <a:off x="829879" y="134063"/>
            <a:ext cx="2313709" cy="646331"/>
          </a:xfrm>
          <a:prstGeom prst="rect">
            <a:avLst/>
          </a:prstGeom>
          <a:noFill/>
        </p:spPr>
        <p:txBody>
          <a:bodyPr wrap="square" rtlCol="0">
            <a:spAutoFit/>
          </a:bodyPr>
          <a:lstStyle/>
          <a:p>
            <a:r>
              <a:rPr lang="en-GB" b="1" dirty="0" smtClean="0">
                <a:ln w="6600">
                  <a:solidFill>
                    <a:schemeClr val="accent2"/>
                  </a:solidFill>
                  <a:prstDash val="solid"/>
                </a:ln>
                <a:solidFill>
                  <a:srgbClr val="FFFFFF"/>
                </a:solidFill>
                <a:effectLst>
                  <a:outerShdw dist="38100" dir="2700000" algn="tl" rotWithShape="0">
                    <a:schemeClr val="accent2"/>
                  </a:outerShdw>
                </a:effectLst>
              </a:rPr>
              <a:t>Apache Footwear India Private Limited </a:t>
            </a:r>
            <a:endParaRPr lang="en-IN"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3" name="Flowchart: Delay 32"/>
          <p:cNvSpPr/>
          <p:nvPr/>
        </p:nvSpPr>
        <p:spPr>
          <a:xfrm rot="10800000">
            <a:off x="9652000" y="0"/>
            <a:ext cx="2540000" cy="1874982"/>
          </a:xfrm>
          <a:prstGeom prst="flowChartDelay">
            <a:avLst/>
          </a:prstGeom>
          <a:blipFill dpi="0" rotWithShape="0">
            <a:blip r:embed="rId5"/>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p:cNvSpPr txBox="1"/>
          <p:nvPr/>
        </p:nvSpPr>
        <p:spPr>
          <a:xfrm>
            <a:off x="4401128" y="4037642"/>
            <a:ext cx="2170545" cy="369332"/>
          </a:xfrm>
          <a:prstGeom prst="rect">
            <a:avLst/>
          </a:prstGeom>
          <a:noFill/>
        </p:spPr>
        <p:txBody>
          <a:bodyPr wrap="square" rtlCol="0">
            <a:spAutoFit/>
          </a:bodyPr>
          <a:lstStyle/>
          <a:p>
            <a:r>
              <a:rPr lang="en-GB" dirty="0" smtClean="0">
                <a:solidFill>
                  <a:schemeClr val="tx2"/>
                </a:solidFill>
              </a:rPr>
              <a:t>Report Presented</a:t>
            </a:r>
            <a:endParaRPr lang="en-IN" dirty="0">
              <a:solidFill>
                <a:schemeClr val="tx2"/>
              </a:solidFill>
            </a:endParaRPr>
          </a:p>
        </p:txBody>
      </p:sp>
    </p:spTree>
    <p:extLst>
      <p:ext uri="{BB962C8B-B14F-4D97-AF65-F5344CB8AC3E}">
        <p14:creationId xmlns:p14="http://schemas.microsoft.com/office/powerpoint/2010/main" val="35412624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 </a:t>
            </a:r>
            <a:r>
              <a:rPr lang="en-I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Meeting Focus Areas</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sp>
        <p:nvSpPr>
          <p:cNvPr id="18"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5" y="4984973"/>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项目沟通 </a:t>
            </a:r>
            <a:r>
              <a:rPr lang="en-US" altLang="zh-CN" b="1" dirty="0">
                <a:solidFill>
                  <a:schemeClr val="tx1"/>
                </a:solidFill>
                <a:latin typeface="+mj-lt"/>
                <a:ea typeface="微软雅黑" pitchFamily="34" charset="-122"/>
              </a:rPr>
              <a:t>Project Communication </a:t>
            </a:r>
            <a:endParaRPr lang="zh-CN" altLang="en-US" b="1" dirty="0">
              <a:solidFill>
                <a:schemeClr val="tx1"/>
              </a:solidFill>
              <a:latin typeface="+mj-lt"/>
              <a:ea typeface="微软雅黑" pitchFamily="34" charset="-122"/>
            </a:endParaRPr>
          </a:p>
        </p:txBody>
      </p:sp>
      <p:sp>
        <p:nvSpPr>
          <p:cNvPr id="19"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644832" y="4984973"/>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tx1"/>
                </a:solidFill>
                <a:latin typeface="+mj-lt"/>
                <a:ea typeface="微软雅黑" pitchFamily="34" charset="-122"/>
                <a:cs typeface="Arial" pitchFamily="34" charset="0"/>
              </a:rPr>
              <a:t>6</a:t>
            </a:r>
            <a:endParaRPr lang="en-US" altLang="zh-CN" sz="1800" dirty="0">
              <a:solidFill>
                <a:schemeClr val="tx1"/>
              </a:solidFill>
              <a:latin typeface="+mj-lt"/>
              <a:ea typeface="微软雅黑" pitchFamily="34" charset="-122"/>
              <a:cs typeface="Arial" pitchFamily="34" charset="0"/>
            </a:endParaRPr>
          </a:p>
        </p:txBody>
      </p:sp>
      <p:sp>
        <p:nvSpPr>
          <p:cNvPr id="20"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6" y="4142979"/>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项目沟通</a:t>
            </a:r>
            <a:r>
              <a:rPr lang="en-US" altLang="zh-CN" b="1" dirty="0">
                <a:solidFill>
                  <a:schemeClr val="tx1"/>
                </a:solidFill>
                <a:latin typeface="+mj-lt"/>
                <a:ea typeface="微软雅黑" pitchFamily="34" charset="-122"/>
              </a:rPr>
              <a:t>-</a:t>
            </a:r>
            <a:r>
              <a:rPr lang="zh-CN" altLang="en-US" b="1" dirty="0">
                <a:solidFill>
                  <a:schemeClr val="tx1"/>
                </a:solidFill>
                <a:latin typeface="+mj-lt"/>
                <a:ea typeface="微软雅黑" pitchFamily="34" charset="-122"/>
              </a:rPr>
              <a:t>工具 </a:t>
            </a:r>
            <a:r>
              <a:rPr lang="en-US" altLang="zh-CN" b="1" dirty="0">
                <a:solidFill>
                  <a:schemeClr val="tx1"/>
                </a:solidFill>
                <a:latin typeface="+mj-lt"/>
                <a:ea typeface="微软雅黑" pitchFamily="34" charset="-122"/>
              </a:rPr>
              <a:t>Project Communication- Tools</a:t>
            </a:r>
            <a:endParaRPr lang="zh-CN" altLang="en-US" sz="1800" b="1" dirty="0">
              <a:solidFill>
                <a:schemeClr val="tx1"/>
              </a:solidFill>
              <a:latin typeface="+mj-lt"/>
              <a:ea typeface="微软雅黑" pitchFamily="34" charset="-122"/>
            </a:endParaRPr>
          </a:p>
        </p:txBody>
      </p:sp>
      <p:sp>
        <p:nvSpPr>
          <p:cNvPr id="21"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644832" y="4142979"/>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smtClean="0">
                <a:solidFill>
                  <a:schemeClr val="tx1"/>
                </a:solidFill>
                <a:latin typeface="+mj-lt"/>
                <a:ea typeface="微软雅黑" pitchFamily="34" charset="-122"/>
                <a:cs typeface="Arial" pitchFamily="34" charset="0"/>
              </a:rPr>
              <a:t>5</a:t>
            </a:r>
            <a:endParaRPr lang="en-US" altLang="zh-CN" sz="1800" dirty="0">
              <a:solidFill>
                <a:schemeClr val="tx1"/>
              </a:solidFill>
              <a:latin typeface="+mj-lt"/>
              <a:ea typeface="微软雅黑" pitchFamily="34" charset="-122"/>
              <a:cs typeface="Arial" pitchFamily="34" charset="0"/>
            </a:endParaRPr>
          </a:p>
        </p:txBody>
      </p:sp>
      <p:sp>
        <p:nvSpPr>
          <p:cNvPr id="22"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644832" y="3300985"/>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tx1"/>
                </a:solidFill>
                <a:latin typeface="+mj-lt"/>
                <a:ea typeface="微软雅黑" pitchFamily="34" charset="-122"/>
                <a:cs typeface="Arial" pitchFamily="34" charset="0"/>
              </a:rPr>
              <a:t>4</a:t>
            </a:r>
            <a:endParaRPr lang="en-US" altLang="zh-CN" sz="1800" dirty="0">
              <a:solidFill>
                <a:schemeClr val="tx1"/>
              </a:solidFill>
              <a:latin typeface="+mj-lt"/>
              <a:ea typeface="微软雅黑" pitchFamily="34" charset="-122"/>
              <a:cs typeface="Arial" pitchFamily="34" charset="0"/>
            </a:endParaRPr>
          </a:p>
        </p:txBody>
      </p:sp>
      <p:sp>
        <p:nvSpPr>
          <p:cNvPr id="23"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7" y="3300985"/>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项目组织 </a:t>
            </a:r>
            <a:r>
              <a:rPr lang="en-US" altLang="zh-CN" b="1" dirty="0">
                <a:solidFill>
                  <a:srgbClr val="DB6A03"/>
                </a:solidFill>
                <a:latin typeface="+mj-lt"/>
                <a:ea typeface="微软雅黑" pitchFamily="34" charset="-122"/>
              </a:rPr>
              <a:t>Project Organization</a:t>
            </a:r>
            <a:endParaRPr lang="zh-CN" altLang="en-US" b="1" dirty="0">
              <a:solidFill>
                <a:srgbClr val="DB6A03"/>
              </a:solidFill>
              <a:latin typeface="+mj-lt"/>
              <a:ea typeface="微软雅黑" pitchFamily="34" charset="-122"/>
            </a:endParaRPr>
          </a:p>
        </p:txBody>
      </p:sp>
      <p:sp>
        <p:nvSpPr>
          <p:cNvPr id="24" name="Rectangle 23">
            <a:extLst>
              <a:ext uri="{FF2B5EF4-FFF2-40B4-BE49-F238E27FC236}">
                <a16:creationId xmlns="" xmlns:a16="http://schemas.microsoft.com/office/drawing/2014/main" id="{2FA75AB2-F309-4DAD-878C-2A59E7CE35E6}"/>
              </a:ext>
            </a:extLst>
          </p:cNvPr>
          <p:cNvSpPr>
            <a:spLocks noChangeArrowheads="1"/>
          </p:cNvSpPr>
          <p:nvPr/>
        </p:nvSpPr>
        <p:spPr bwMode="auto">
          <a:xfrm>
            <a:off x="644833" y="1626991"/>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tx1"/>
                </a:solidFill>
                <a:latin typeface="+mj-lt"/>
                <a:ea typeface="微软雅黑" pitchFamily="34" charset="-122"/>
                <a:cs typeface="Arial" pitchFamily="34" charset="0"/>
              </a:rPr>
              <a:t>2</a:t>
            </a:r>
          </a:p>
        </p:txBody>
      </p:sp>
      <p:sp>
        <p:nvSpPr>
          <p:cNvPr id="25"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9" y="1624870"/>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项目规划 </a:t>
            </a:r>
            <a:r>
              <a:rPr lang="en-US" altLang="zh-CN" b="1" dirty="0">
                <a:solidFill>
                  <a:srgbClr val="DB6A03"/>
                </a:solidFill>
                <a:latin typeface="+mj-lt"/>
                <a:ea typeface="微软雅黑" pitchFamily="34" charset="-122"/>
              </a:rPr>
              <a:t>Project Schedule</a:t>
            </a:r>
          </a:p>
        </p:txBody>
      </p:sp>
      <p:sp>
        <p:nvSpPr>
          <p:cNvPr id="26"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644833" y="786780"/>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tx1"/>
                </a:solidFill>
                <a:latin typeface="+mj-lt"/>
                <a:ea typeface="微软雅黑" pitchFamily="34" charset="-122"/>
                <a:cs typeface="Arial" pitchFamily="34" charset="0"/>
              </a:rPr>
              <a:t>1</a:t>
            </a:r>
          </a:p>
        </p:txBody>
      </p:sp>
      <p:sp>
        <p:nvSpPr>
          <p:cNvPr id="27"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90" y="786780"/>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项目范围 </a:t>
            </a:r>
            <a:r>
              <a:rPr lang="en-US" altLang="zh-CN" b="1" dirty="0">
                <a:solidFill>
                  <a:srgbClr val="DB6A03"/>
                </a:solidFill>
                <a:latin typeface="+mj-lt"/>
                <a:ea typeface="微软雅黑" pitchFamily="34" charset="-122"/>
              </a:rPr>
              <a:t>Project Scope</a:t>
            </a:r>
            <a:endParaRPr lang="zh-CN" altLang="en-US" b="1" dirty="0">
              <a:solidFill>
                <a:srgbClr val="DB6A03"/>
              </a:solidFill>
              <a:latin typeface="+mj-lt"/>
              <a:ea typeface="微软雅黑" pitchFamily="34" charset="-122"/>
            </a:endParaRPr>
          </a:p>
        </p:txBody>
      </p:sp>
      <p:sp>
        <p:nvSpPr>
          <p:cNvPr id="28" name="Rectangle 8">
            <a:extLst>
              <a:ext uri="{FF2B5EF4-FFF2-40B4-BE49-F238E27FC236}">
                <a16:creationId xmlns="" xmlns:a16="http://schemas.microsoft.com/office/drawing/2014/main" id="{5BFE36D3-9A88-44FB-B11C-F9E300E6BA3F}"/>
              </a:ext>
            </a:extLst>
          </p:cNvPr>
          <p:cNvSpPr>
            <a:spLocks noChangeArrowheads="1"/>
          </p:cNvSpPr>
          <p:nvPr/>
        </p:nvSpPr>
        <p:spPr bwMode="auto">
          <a:xfrm>
            <a:off x="644832" y="2463988"/>
            <a:ext cx="814701" cy="548640"/>
          </a:xfrm>
          <a:prstGeom prst="rect">
            <a:avLst/>
          </a:prstGeom>
          <a:ln/>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tx1"/>
                </a:solidFill>
                <a:latin typeface="+mj-lt"/>
                <a:ea typeface="微软雅黑" pitchFamily="34" charset="-122"/>
                <a:cs typeface="Arial" pitchFamily="34" charset="0"/>
              </a:rPr>
              <a:t>3</a:t>
            </a:r>
          </a:p>
        </p:txBody>
      </p:sp>
      <p:sp>
        <p:nvSpPr>
          <p:cNvPr id="29" name="Rectangle 5">
            <a:extLst>
              <a:ext uri="{FF2B5EF4-FFF2-40B4-BE49-F238E27FC236}">
                <a16:creationId xmlns="" xmlns:a16="http://schemas.microsoft.com/office/drawing/2014/main" id="{5814A8E3-FB98-4FD9-9703-749015CC5236}"/>
              </a:ext>
            </a:extLst>
          </p:cNvPr>
          <p:cNvSpPr>
            <a:spLocks noChangeArrowheads="1"/>
          </p:cNvSpPr>
          <p:nvPr/>
        </p:nvSpPr>
        <p:spPr bwMode="gray">
          <a:xfrm>
            <a:off x="2088688" y="2463988"/>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项目团队</a:t>
            </a:r>
            <a:r>
              <a:rPr lang="en-US" altLang="zh-CN" b="1" dirty="0">
                <a:solidFill>
                  <a:srgbClr val="DB6A03"/>
                </a:solidFill>
                <a:latin typeface="+mj-lt"/>
                <a:ea typeface="微软雅黑" pitchFamily="34" charset="-122"/>
              </a:rPr>
              <a:t>Project Team</a:t>
            </a:r>
          </a:p>
        </p:txBody>
      </p:sp>
      <p:sp>
        <p:nvSpPr>
          <p:cNvPr id="30"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6" y="1623263"/>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项目规划 </a:t>
            </a:r>
            <a:r>
              <a:rPr lang="en-US" altLang="zh-CN" b="1" dirty="0">
                <a:solidFill>
                  <a:srgbClr val="DB6A03"/>
                </a:solidFill>
                <a:latin typeface="+mj-lt"/>
                <a:ea typeface="微软雅黑" pitchFamily="34" charset="-122"/>
              </a:rPr>
              <a:t>Project Schedule</a:t>
            </a:r>
          </a:p>
        </p:txBody>
      </p:sp>
      <p:sp>
        <p:nvSpPr>
          <p:cNvPr id="31"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7" y="785173"/>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项目范围 </a:t>
            </a:r>
            <a:r>
              <a:rPr lang="en-US" altLang="zh-CN" b="1" dirty="0">
                <a:solidFill>
                  <a:srgbClr val="DB6A03"/>
                </a:solidFill>
                <a:latin typeface="+mj-lt"/>
                <a:ea typeface="微软雅黑" pitchFamily="34" charset="-122"/>
              </a:rPr>
              <a:t>Project Scope</a:t>
            </a:r>
            <a:endParaRPr lang="zh-CN" altLang="en-US" b="1" dirty="0">
              <a:solidFill>
                <a:srgbClr val="DB6A03"/>
              </a:solidFill>
              <a:latin typeface="+mj-lt"/>
              <a:ea typeface="微软雅黑" pitchFamily="34" charset="-122"/>
            </a:endParaRPr>
          </a:p>
        </p:txBody>
      </p:sp>
      <p:sp>
        <p:nvSpPr>
          <p:cNvPr id="32" name="Rectangle 5">
            <a:extLst>
              <a:ext uri="{FF2B5EF4-FFF2-40B4-BE49-F238E27FC236}">
                <a16:creationId xmlns="" xmlns:a16="http://schemas.microsoft.com/office/drawing/2014/main" id="{5814A8E3-FB98-4FD9-9703-749015CC5236}"/>
              </a:ext>
            </a:extLst>
          </p:cNvPr>
          <p:cNvSpPr>
            <a:spLocks noChangeArrowheads="1"/>
          </p:cNvSpPr>
          <p:nvPr/>
        </p:nvSpPr>
        <p:spPr bwMode="gray">
          <a:xfrm>
            <a:off x="2088685" y="2462381"/>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项目团队</a:t>
            </a:r>
            <a:r>
              <a:rPr lang="en-US" altLang="zh-CN" b="1" dirty="0">
                <a:solidFill>
                  <a:srgbClr val="DB6A03"/>
                </a:solidFill>
                <a:latin typeface="+mj-lt"/>
                <a:ea typeface="微软雅黑" pitchFamily="34" charset="-122"/>
              </a:rPr>
              <a:t>Project Team</a:t>
            </a:r>
          </a:p>
        </p:txBody>
      </p:sp>
      <p:sp>
        <p:nvSpPr>
          <p:cNvPr id="33"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6" y="3300985"/>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项目组织 </a:t>
            </a:r>
            <a:r>
              <a:rPr lang="en-US" altLang="zh-CN" b="1" dirty="0">
                <a:solidFill>
                  <a:schemeClr val="tx1"/>
                </a:solidFill>
                <a:latin typeface="+mj-lt"/>
                <a:ea typeface="微软雅黑" pitchFamily="34" charset="-122"/>
              </a:rPr>
              <a:t>Project Organization</a:t>
            </a:r>
            <a:endParaRPr lang="zh-CN" altLang="en-US" b="1" dirty="0">
              <a:solidFill>
                <a:schemeClr val="tx1"/>
              </a:solidFill>
              <a:latin typeface="+mj-lt"/>
              <a:ea typeface="微软雅黑" pitchFamily="34" charset="-122"/>
            </a:endParaRPr>
          </a:p>
        </p:txBody>
      </p:sp>
      <p:sp>
        <p:nvSpPr>
          <p:cNvPr id="34"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5" y="1623263"/>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项目规划 </a:t>
            </a:r>
            <a:r>
              <a:rPr lang="en-US" altLang="zh-CN" b="1" dirty="0">
                <a:solidFill>
                  <a:schemeClr val="tx1"/>
                </a:solidFill>
                <a:latin typeface="+mj-lt"/>
                <a:ea typeface="微软雅黑" pitchFamily="34" charset="-122"/>
              </a:rPr>
              <a:t>Project Schedule</a:t>
            </a:r>
          </a:p>
        </p:txBody>
      </p:sp>
      <p:sp>
        <p:nvSpPr>
          <p:cNvPr id="35"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2088686" y="785173"/>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项目范围 </a:t>
            </a:r>
            <a:r>
              <a:rPr lang="en-US" altLang="zh-CN" b="1" dirty="0">
                <a:solidFill>
                  <a:schemeClr val="tx1"/>
                </a:solidFill>
                <a:latin typeface="+mj-lt"/>
                <a:ea typeface="微软雅黑" pitchFamily="34" charset="-122"/>
              </a:rPr>
              <a:t>Project Scope</a:t>
            </a:r>
            <a:endParaRPr lang="zh-CN" altLang="en-US" b="1" dirty="0">
              <a:solidFill>
                <a:schemeClr val="tx1"/>
              </a:solidFill>
              <a:latin typeface="+mj-lt"/>
              <a:ea typeface="微软雅黑" pitchFamily="34" charset="-122"/>
            </a:endParaRPr>
          </a:p>
        </p:txBody>
      </p:sp>
      <p:sp>
        <p:nvSpPr>
          <p:cNvPr id="36" name="Rectangle 5">
            <a:extLst>
              <a:ext uri="{FF2B5EF4-FFF2-40B4-BE49-F238E27FC236}">
                <a16:creationId xmlns="" xmlns:a16="http://schemas.microsoft.com/office/drawing/2014/main" id="{5814A8E3-FB98-4FD9-9703-749015CC5236}"/>
              </a:ext>
            </a:extLst>
          </p:cNvPr>
          <p:cNvSpPr>
            <a:spLocks noChangeArrowheads="1"/>
          </p:cNvSpPr>
          <p:nvPr/>
        </p:nvSpPr>
        <p:spPr bwMode="gray">
          <a:xfrm>
            <a:off x="2088685" y="2462381"/>
            <a:ext cx="5773407" cy="548640"/>
          </a:xfrm>
          <a:prstGeom prst="roundRect">
            <a:avLst/>
          </a:prstGeom>
          <a:ln/>
        </p:spPr>
        <p:style>
          <a:lnRef idx="1">
            <a:schemeClr val="accent2"/>
          </a:lnRef>
          <a:fillRef idx="2">
            <a:schemeClr val="accent2"/>
          </a:fillRef>
          <a:effectRef idx="1">
            <a:schemeClr val="accent2"/>
          </a:effectRef>
          <a:fontRef idx="minor">
            <a:schemeClr val="dk1"/>
          </a:fontRef>
        </p:style>
        <p:txBody>
          <a:bodyPr lIns="180000" tIns="46800" rIns="72000" bIns="46800" anchor="ctr"/>
          <a:lstStyle/>
          <a:p>
            <a:pPr eaLnBrk="0" latinLnBrk="1" hangingPunct="0">
              <a:buClr>
                <a:srgbClr val="006600"/>
              </a:buClr>
              <a:buSzPct val="85000"/>
            </a:pPr>
            <a:r>
              <a:rPr lang="zh-CN" altLang="en-US" b="1" dirty="0">
                <a:solidFill>
                  <a:schemeClr val="tx1"/>
                </a:solidFill>
                <a:latin typeface="+mj-lt"/>
                <a:ea typeface="微软雅黑" pitchFamily="34" charset="-122"/>
              </a:rPr>
              <a:t>项目团队</a:t>
            </a:r>
            <a:r>
              <a:rPr lang="en-US" altLang="zh-CN" b="1" dirty="0">
                <a:solidFill>
                  <a:schemeClr val="tx1"/>
                </a:solidFill>
                <a:latin typeface="+mj-lt"/>
                <a:ea typeface="微软雅黑" pitchFamily="34" charset="-122"/>
              </a:rPr>
              <a:t>Project Team</a:t>
            </a:r>
          </a:p>
        </p:txBody>
      </p:sp>
    </p:spTree>
    <p:extLst>
      <p:ext uri="{BB962C8B-B14F-4D97-AF65-F5344CB8AC3E}">
        <p14:creationId xmlns:p14="http://schemas.microsoft.com/office/powerpoint/2010/main" val="33791965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项</a:t>
            </a:r>
            <a:r>
              <a:rPr lang="zh-CN"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目范围 </a:t>
            </a:r>
            <a:r>
              <a:rPr lang="en-US" altLang="zh-C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Project Scope</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graphicFrame>
        <p:nvGraphicFramePr>
          <p:cNvPr id="6" name="表格 37"/>
          <p:cNvGraphicFramePr>
            <a:graphicFrameLocks noGrp="1"/>
          </p:cNvGraphicFramePr>
          <p:nvPr>
            <p:extLst>
              <p:ext uri="{D42A27DB-BD31-4B8C-83A1-F6EECF244321}">
                <p14:modId xmlns:p14="http://schemas.microsoft.com/office/powerpoint/2010/main" val="3765390713"/>
              </p:ext>
            </p:extLst>
          </p:nvPr>
        </p:nvGraphicFramePr>
        <p:xfrm>
          <a:off x="199206" y="630220"/>
          <a:ext cx="11823769" cy="5829161"/>
        </p:xfrm>
        <a:graphic>
          <a:graphicData uri="http://schemas.openxmlformats.org/drawingml/2006/table">
            <a:tbl>
              <a:tblPr/>
              <a:tblGrid>
                <a:gridCol w="664156">
                  <a:extLst>
                    <a:ext uri="{9D8B030D-6E8A-4147-A177-3AD203B41FA5}">
                      <a16:colId xmlns="" xmlns:a16="http://schemas.microsoft.com/office/drawing/2014/main" val="20000"/>
                    </a:ext>
                  </a:extLst>
                </a:gridCol>
                <a:gridCol w="1446820">
                  <a:extLst>
                    <a:ext uri="{9D8B030D-6E8A-4147-A177-3AD203B41FA5}">
                      <a16:colId xmlns="" xmlns:a16="http://schemas.microsoft.com/office/drawing/2014/main" val="20001"/>
                    </a:ext>
                  </a:extLst>
                </a:gridCol>
                <a:gridCol w="6052457">
                  <a:extLst>
                    <a:ext uri="{9D8B030D-6E8A-4147-A177-3AD203B41FA5}">
                      <a16:colId xmlns="" xmlns:a16="http://schemas.microsoft.com/office/drawing/2014/main" val="20002"/>
                    </a:ext>
                  </a:extLst>
                </a:gridCol>
                <a:gridCol w="1881052">
                  <a:extLst>
                    <a:ext uri="{9D8B030D-6E8A-4147-A177-3AD203B41FA5}">
                      <a16:colId xmlns="" xmlns:a16="http://schemas.microsoft.com/office/drawing/2014/main" val="20003"/>
                    </a:ext>
                  </a:extLst>
                </a:gridCol>
                <a:gridCol w="1779284"/>
              </a:tblGrid>
              <a:tr h="465062">
                <a:tc>
                  <a:txBody>
                    <a:bodyPr/>
                    <a:lstStyle/>
                    <a:p>
                      <a:pPr algn="ctr" fontAlgn="ctr"/>
                      <a:r>
                        <a:rPr lang="zh-CN" altLang="en-US" sz="1400" b="1" i="0" u="none" strike="noStrike" dirty="0" smtClean="0">
                          <a:solidFill>
                            <a:srgbClr val="FFFFFF"/>
                          </a:solidFill>
                          <a:effectLst/>
                          <a:latin typeface="+mj-lt"/>
                          <a:ea typeface="+mj-ea"/>
                        </a:rPr>
                        <a:t>序号</a:t>
                      </a:r>
                      <a:endParaRPr lang="en-US" altLang="zh-CN" sz="1400" b="1" i="0" u="none" strike="noStrike" dirty="0" smtClean="0">
                        <a:solidFill>
                          <a:srgbClr val="FFFFFF"/>
                        </a:solidFill>
                        <a:effectLst/>
                        <a:latin typeface="+mj-lt"/>
                        <a:ea typeface="+mj-ea"/>
                      </a:endParaRPr>
                    </a:p>
                    <a:p>
                      <a:pPr algn="ctr" fontAlgn="ctr"/>
                      <a:r>
                        <a:rPr lang="en-US" altLang="zh-CN" sz="1400" b="1" i="0" u="none" strike="noStrike" dirty="0" smtClean="0">
                          <a:solidFill>
                            <a:srgbClr val="FFFFFF"/>
                          </a:solidFill>
                          <a:effectLst/>
                          <a:latin typeface="+mj-lt"/>
                          <a:ea typeface="+mj-ea"/>
                        </a:rPr>
                        <a:t>No.</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marL="0" algn="ctr" defTabSz="914354" rtl="0" eaLnBrk="1" fontAlgn="ctr" latinLnBrk="0" hangingPunct="1"/>
                      <a:r>
                        <a:rPr lang="zh-CN" altLang="en-US" sz="1400" b="1" i="0" u="none" strike="noStrike" kern="1200" dirty="0" smtClean="0">
                          <a:solidFill>
                            <a:srgbClr val="FFFFFF"/>
                          </a:solidFill>
                          <a:effectLst/>
                          <a:latin typeface="+mj-lt"/>
                          <a:ea typeface="+mj-ea"/>
                          <a:cs typeface="+mn-cs"/>
                        </a:rPr>
                        <a:t>类别</a:t>
                      </a:r>
                      <a:endParaRPr lang="en-US" altLang="zh-CN" sz="1400" b="1" i="0" u="none" strike="noStrike" kern="1200" dirty="0" smtClean="0">
                        <a:solidFill>
                          <a:srgbClr val="FFFFFF"/>
                        </a:solidFill>
                        <a:effectLst/>
                        <a:latin typeface="+mj-lt"/>
                        <a:ea typeface="+mj-ea"/>
                        <a:cs typeface="+mn-cs"/>
                      </a:endParaRPr>
                    </a:p>
                    <a:p>
                      <a:pPr marL="0" algn="ctr" defTabSz="914354" rtl="0" eaLnBrk="1" fontAlgn="ctr" latinLnBrk="0" hangingPunct="1"/>
                      <a:r>
                        <a:rPr lang="en-US" altLang="zh-CN" sz="1400" b="1" i="0" u="none" strike="noStrike" kern="1200" dirty="0" smtClean="0">
                          <a:solidFill>
                            <a:srgbClr val="FFFFFF"/>
                          </a:solidFill>
                          <a:effectLst/>
                          <a:latin typeface="+mj-lt"/>
                          <a:ea typeface="+mj-ea"/>
                          <a:cs typeface="+mn-cs"/>
                        </a:rPr>
                        <a:t>Category</a:t>
                      </a:r>
                      <a:endParaRPr lang="zh-CN" altLang="en-US" sz="1400" b="1" i="0" u="none" strike="noStrike" kern="1200" dirty="0">
                        <a:solidFill>
                          <a:srgbClr val="FFFFFF"/>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algn="ctr" rtl="0" fontAlgn="ctr"/>
                      <a:r>
                        <a:rPr lang="zh-CN" altLang="en-US" sz="1400" b="1" i="0" u="none" strike="noStrike" dirty="0" smtClean="0">
                          <a:solidFill>
                            <a:srgbClr val="FFFFFF"/>
                          </a:solidFill>
                          <a:effectLst/>
                          <a:latin typeface="+mj-lt"/>
                          <a:ea typeface="+mj-ea"/>
                        </a:rPr>
                        <a:t>范围内</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Scope-in</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a:txBody>
                    <a:bodyPr/>
                    <a:lstStyle/>
                    <a:p>
                      <a:pPr algn="ctr" rtl="0" fontAlgn="ctr"/>
                      <a:r>
                        <a:rPr lang="zh-CN" altLang="en-US" sz="1400" b="1" i="0" u="none" strike="noStrike" dirty="0" smtClean="0">
                          <a:solidFill>
                            <a:srgbClr val="FFFFFF"/>
                          </a:solidFill>
                          <a:effectLst/>
                          <a:latin typeface="+mj-lt"/>
                          <a:ea typeface="+mj-ea"/>
                        </a:rPr>
                        <a:t>范围外</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Scope-out</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0000"/>
                    </a:solidFill>
                  </a:tcPr>
                </a:tc>
                <a:tc>
                  <a:txBody>
                    <a:bodyPr/>
                    <a:lstStyle/>
                    <a:p>
                      <a:pPr algn="ctr" rtl="0" fontAlgn="ctr"/>
                      <a:r>
                        <a:rPr lang="zh-CN" altLang="en-US" sz="1400" b="1" i="0" u="none" strike="noStrike" dirty="0" smtClean="0">
                          <a:solidFill>
                            <a:srgbClr val="FFFFFF"/>
                          </a:solidFill>
                          <a:effectLst/>
                          <a:latin typeface="+mj-lt"/>
                          <a:ea typeface="+mj-ea"/>
                        </a:rPr>
                        <a:t>备注</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Remark</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extLst>
                  <a:ext uri="{0D108BD9-81ED-4DB2-BD59-A6C34878D82A}">
                    <a16:rowId xmlns="" xmlns:a16="http://schemas.microsoft.com/office/drawing/2014/main" val="10000"/>
                  </a:ext>
                </a:extLst>
              </a:tr>
              <a:tr h="2747045">
                <a:tc>
                  <a:txBody>
                    <a:bodyPr/>
                    <a:lstStyle/>
                    <a:p>
                      <a:pPr algn="ctr" fontAlgn="ctr"/>
                      <a:r>
                        <a:rPr lang="en-US" altLang="zh-CN" sz="1800" b="1" i="0" u="none" strike="noStrike" dirty="0" smtClean="0">
                          <a:solidFill>
                            <a:schemeClr val="tx1"/>
                          </a:solidFill>
                          <a:effectLst/>
                          <a:latin typeface="+mj-lt"/>
                          <a:ea typeface="+mj-ea"/>
                        </a:rPr>
                        <a:t>1</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u="none" strike="noStrike" kern="1200" baseline="0" dirty="0" smtClean="0">
                          <a:solidFill>
                            <a:schemeClr val="tx1"/>
                          </a:solidFill>
                          <a:effectLst/>
                          <a:latin typeface="+mj-lt"/>
                          <a:ea typeface="+mn-ea"/>
                          <a:cs typeface="+mn-cs"/>
                        </a:rPr>
                        <a:t>系统系统</a:t>
                      </a:r>
                      <a:r>
                        <a:rPr lang="en-US" altLang="zh-CN" sz="1400" b="1" i="0" u="none" strike="noStrike" kern="1200" baseline="0" dirty="0" smtClean="0">
                          <a:solidFill>
                            <a:schemeClr val="tx1"/>
                          </a:solidFill>
                          <a:effectLst/>
                          <a:latin typeface="+mj-lt"/>
                          <a:ea typeface="+mn-ea"/>
                          <a:cs typeface="+mn-cs"/>
                        </a:rPr>
                        <a:t>System</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altLang="zh-CN" sz="1400" b="0" i="0" u="none" strike="noStrike" baseline="0" dirty="0" smtClean="0">
                          <a:solidFill>
                            <a:schemeClr val="tx1"/>
                          </a:solidFill>
                          <a:effectLst/>
                          <a:latin typeface="+mj-lt"/>
                          <a:ea typeface="+mj-ea"/>
                        </a:rPr>
                        <a:t> 1. </a:t>
                      </a:r>
                      <a:r>
                        <a:rPr lang="en-GB" sz="1400" dirty="0" smtClean="0"/>
                        <a:t>The Cutting Material Management System aims to enhance material tracking and availability across production lines. The system will enable monitoring of material status for each PO</a:t>
                      </a:r>
                      <a:r>
                        <a:rPr lang="en-GB" sz="1400" baseline="0" dirty="0" smtClean="0"/>
                        <a:t> </a:t>
                      </a:r>
                      <a:r>
                        <a:rPr lang="en-GB" sz="1400" dirty="0" smtClean="0"/>
                        <a:t>, helping to proactively identify and address potential shortages. By predicting material unstock situations, the solution will reduce line stoppages and improve overall production efficiency. Additionally, the system will be integrated with MES to trigger automatic email alerts for rescheduling, ensuring timely communication and smoother operational flow.  </a:t>
                      </a:r>
                      <a:endParaRPr lang="en-IN" sz="1400" dirty="0"/>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l" rtl="0" fontAlgn="ctr"/>
                      <a:r>
                        <a:rPr lang="en-US" altLang="zh-CN" sz="1400" b="0" i="0" u="none" strike="noStrike" kern="1200" baseline="0" dirty="0" smtClean="0">
                          <a:solidFill>
                            <a:schemeClr val="tx1"/>
                          </a:solidFill>
                          <a:effectLst/>
                          <a:latin typeface="+mj-lt"/>
                          <a:ea typeface="+mn-ea"/>
                          <a:cs typeface="+mn-cs"/>
                        </a:rPr>
                        <a:t>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296081">
                <a:tc>
                  <a:txBody>
                    <a:bodyPr/>
                    <a:lstStyle/>
                    <a:p>
                      <a:pPr algn="ctr" fontAlgn="ctr"/>
                      <a:r>
                        <a:rPr lang="en-US" altLang="zh-CN" sz="1800" b="1" i="0" u="none" strike="noStrike" dirty="0" smtClean="0">
                          <a:solidFill>
                            <a:schemeClr val="tx1"/>
                          </a:solidFill>
                          <a:effectLst/>
                          <a:latin typeface="+mj-lt"/>
                          <a:ea typeface="+mj-ea"/>
                        </a:rPr>
                        <a:t>2</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平台 </a:t>
                      </a:r>
                      <a:r>
                        <a:rPr lang="en-US" altLang="zh-CN" sz="1400" b="1" i="0" kern="1200" dirty="0" smtClean="0">
                          <a:solidFill>
                            <a:schemeClr val="tx1"/>
                          </a:solidFill>
                          <a:effectLst/>
                          <a:latin typeface="+mj-lt"/>
                          <a:ea typeface="+mn-ea"/>
                          <a:cs typeface="+mn-cs"/>
                        </a:rPr>
                        <a:t>Platform</a:t>
                      </a:r>
                      <a:endParaRPr lang="en-US" altLang="zh-CN" sz="1200" b="1" i="0" u="none" strike="noStrike" kern="1200" baseline="0" dirty="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 MES (customized function)</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 MES</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320973">
                <a:tc>
                  <a:txBody>
                    <a:bodyPr/>
                    <a:lstStyle/>
                    <a:p>
                      <a:pPr algn="ctr" fontAlgn="ctr"/>
                      <a:r>
                        <a:rPr lang="en-US" altLang="zh-CN" sz="1800" b="1" i="0" u="none" strike="noStrike" dirty="0" smtClean="0">
                          <a:solidFill>
                            <a:schemeClr val="tx1"/>
                          </a:solidFill>
                          <a:effectLst/>
                          <a:latin typeface="+mj-lt"/>
                          <a:ea typeface="+mj-ea"/>
                        </a:rPr>
                        <a:t>3</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区域 </a:t>
                      </a:r>
                      <a:r>
                        <a:rPr lang="en-US" altLang="zh-CN" sz="1400" b="1" i="0" kern="1200" dirty="0" smtClean="0">
                          <a:solidFill>
                            <a:schemeClr val="tx1"/>
                          </a:solidFill>
                          <a:effectLst/>
                          <a:latin typeface="+mj-lt"/>
                          <a:ea typeface="+mn-ea"/>
                          <a:cs typeface="+mn-cs"/>
                        </a:rPr>
                        <a:t>Region</a:t>
                      </a:r>
                      <a:endParaRPr lang="en-US" altLang="zh-CN" sz="1200" b="1" i="0" u="none" strike="noStrike" kern="1200" baseline="0" dirty="0" smtClean="0">
                        <a:solidFill>
                          <a:schemeClr val="tx1"/>
                        </a:solidFill>
                        <a:effectLst/>
                        <a:latin typeface="+mj-lt"/>
                        <a:ea typeface="+mn-ea"/>
                        <a:cs typeface="+mn-cs"/>
                      </a:endParaRPr>
                    </a:p>
                    <a:p>
                      <a:pPr marL="0" marR="0" indent="0" algn="ctr" defTabSz="914354" rtl="0" eaLnBrk="1" fontAlgn="ctr" latinLnBrk="0" hangingPunct="1">
                        <a:lnSpc>
                          <a:spcPct val="100000"/>
                        </a:lnSpc>
                        <a:spcBef>
                          <a:spcPts val="0"/>
                        </a:spcBef>
                        <a:spcAft>
                          <a:spcPts val="0"/>
                        </a:spcAft>
                        <a:buClrTx/>
                        <a:buSzTx/>
                        <a:buFontTx/>
                        <a:buNone/>
                        <a:tabLst/>
                        <a:defRPr/>
                      </a:pPr>
                      <a:endParaRPr lang="en-US" altLang="zh-CN" sz="1400" b="1" i="0" u="none" strike="noStrike" kern="1200" baseline="0" dirty="0" smtClean="0">
                        <a:solidFill>
                          <a:schemeClr val="tx1"/>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APC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bl>
          </a:graphicData>
        </a:graphic>
      </p:graphicFrame>
    </p:spTree>
    <p:extLst>
      <p:ext uri="{BB962C8B-B14F-4D97-AF65-F5344CB8AC3E}">
        <p14:creationId xmlns:p14="http://schemas.microsoft.com/office/powerpoint/2010/main" val="12815487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项</a:t>
            </a:r>
            <a:r>
              <a:rPr lang="zh-CN"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目规划</a:t>
            </a:r>
            <a:r>
              <a:rPr lang="en-US" altLang="zh-C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 Project Schedule</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sp>
        <p:nvSpPr>
          <p:cNvPr id="10" name="Rectangle 33">
            <a:extLst>
              <a:ext uri="{FF2B5EF4-FFF2-40B4-BE49-F238E27FC236}">
                <a16:creationId xmlns="" xmlns:a16="http://schemas.microsoft.com/office/drawing/2014/main" id="{5E94D539-D92D-4D74-90AA-DF9239A07DE4}"/>
              </a:ext>
            </a:extLst>
          </p:cNvPr>
          <p:cNvSpPr>
            <a:spLocks noChangeArrowheads="1"/>
          </p:cNvSpPr>
          <p:nvPr/>
        </p:nvSpPr>
        <p:spPr bwMode="auto">
          <a:xfrm>
            <a:off x="41632" y="983410"/>
            <a:ext cx="12062704" cy="5849410"/>
          </a:xfrm>
          <a:prstGeom prst="rect">
            <a:avLst/>
          </a:prstGeom>
          <a:noFill/>
          <a:ln w="19050" algn="ctr">
            <a:solidFill>
              <a:srgbClr val="0070C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nchor="ctr">
            <a:noAutofit/>
          </a:bodyPr>
          <a:lstStyle>
            <a:lvl1pPr>
              <a:defRPr sz="1400">
                <a:solidFill>
                  <a:schemeClr val="tx1"/>
                </a:solidFill>
                <a:latin typeface="Arial" charset="0"/>
                <a:ea typeface="MS PGothic" pitchFamily="34" charset="-128"/>
              </a:defRPr>
            </a:lvl1pPr>
            <a:lvl2pPr marL="742950" indent="-285750">
              <a:defRPr sz="1400">
                <a:solidFill>
                  <a:schemeClr val="tx1"/>
                </a:solidFill>
                <a:latin typeface="Arial" charset="0"/>
                <a:ea typeface="MS PGothic" pitchFamily="34" charset="-128"/>
              </a:defRPr>
            </a:lvl2pPr>
            <a:lvl3pPr marL="1143000" indent="-228600">
              <a:defRPr sz="1400">
                <a:solidFill>
                  <a:schemeClr val="tx1"/>
                </a:solidFill>
                <a:latin typeface="Arial" charset="0"/>
                <a:ea typeface="MS PGothic" pitchFamily="34" charset="-128"/>
              </a:defRPr>
            </a:lvl3pPr>
            <a:lvl4pPr marL="1600200" indent="-228600">
              <a:defRPr sz="1400">
                <a:solidFill>
                  <a:schemeClr val="tx1"/>
                </a:solidFill>
                <a:latin typeface="Arial" charset="0"/>
                <a:ea typeface="MS PGothic" pitchFamily="34" charset="-128"/>
              </a:defRPr>
            </a:lvl4pPr>
            <a:lvl5pPr marL="2057400" indent="-228600">
              <a:defRPr sz="1400">
                <a:solidFill>
                  <a:schemeClr val="tx1"/>
                </a:solidFill>
                <a:latin typeface="Arial" charset="0"/>
                <a:ea typeface="MS PGothic" pitchFamily="34" charset="-128"/>
              </a:defRPr>
            </a:lvl5pPr>
            <a:lvl6pPr marL="2514600" indent="-228600" eaLnBrk="0" fontAlgn="base" hangingPunct="0">
              <a:spcBef>
                <a:spcPct val="0"/>
              </a:spcBef>
              <a:spcAft>
                <a:spcPct val="0"/>
              </a:spcAft>
              <a:defRPr sz="1400">
                <a:solidFill>
                  <a:schemeClr val="tx1"/>
                </a:solidFill>
                <a:latin typeface="Arial" charset="0"/>
                <a:ea typeface="MS PGothic" pitchFamily="34" charset="-128"/>
              </a:defRPr>
            </a:lvl6pPr>
            <a:lvl7pPr marL="2971800" indent="-228600" eaLnBrk="0" fontAlgn="base" hangingPunct="0">
              <a:spcBef>
                <a:spcPct val="0"/>
              </a:spcBef>
              <a:spcAft>
                <a:spcPct val="0"/>
              </a:spcAft>
              <a:defRPr sz="1400">
                <a:solidFill>
                  <a:schemeClr val="tx1"/>
                </a:solidFill>
                <a:latin typeface="Arial" charset="0"/>
                <a:ea typeface="MS PGothic" pitchFamily="34" charset="-128"/>
              </a:defRPr>
            </a:lvl7pPr>
            <a:lvl8pPr marL="3429000" indent="-228600" eaLnBrk="0" fontAlgn="base" hangingPunct="0">
              <a:spcBef>
                <a:spcPct val="0"/>
              </a:spcBef>
              <a:spcAft>
                <a:spcPct val="0"/>
              </a:spcAft>
              <a:defRPr sz="1400">
                <a:solidFill>
                  <a:schemeClr val="tx1"/>
                </a:solidFill>
                <a:latin typeface="Arial" charset="0"/>
                <a:ea typeface="MS PGothic" pitchFamily="34" charset="-128"/>
              </a:defRPr>
            </a:lvl8pPr>
            <a:lvl9pPr marL="3886200" indent="-228600" eaLnBrk="0" fontAlgn="base" hangingPunct="0">
              <a:spcBef>
                <a:spcPct val="0"/>
              </a:spcBef>
              <a:spcAft>
                <a:spcPct val="0"/>
              </a:spcAft>
              <a:defRPr sz="1400">
                <a:solidFill>
                  <a:schemeClr val="tx1"/>
                </a:solidFill>
                <a:latin typeface="Arial" charset="0"/>
                <a:ea typeface="MS PGothic" pitchFamily="34" charset="-128"/>
              </a:defRPr>
            </a:lvl9pPr>
          </a:lstStyle>
          <a:p>
            <a:pPr algn="ctr" defTabSz="514350">
              <a:defRPr/>
            </a:pPr>
            <a:endParaRPr lang="en-US" altLang="zh-CN" sz="1300" kern="0">
              <a:solidFill>
                <a:srgbClr val="FFFFFF"/>
              </a:solidFill>
              <a:latin typeface="+mj-lt"/>
              <a:ea typeface="+mj-ea"/>
            </a:endParaRPr>
          </a:p>
        </p:txBody>
      </p:sp>
      <p:sp>
        <p:nvSpPr>
          <p:cNvPr id="16" name="Freeform 155">
            <a:extLst>
              <a:ext uri="{FF2B5EF4-FFF2-40B4-BE49-F238E27FC236}">
                <a16:creationId xmlns="" xmlns:a16="http://schemas.microsoft.com/office/drawing/2014/main" id="{AF47B5F7-DF1D-48FF-8AB1-8B3F55719149}"/>
              </a:ext>
            </a:extLst>
          </p:cNvPr>
          <p:cNvSpPr/>
          <p:nvPr/>
        </p:nvSpPr>
        <p:spPr>
          <a:xfrm>
            <a:off x="7879272" y="1674604"/>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Close</a:t>
            </a:r>
          </a:p>
          <a:p>
            <a:pPr algn="ctr" defTabSz="503635">
              <a:buClr>
                <a:srgbClr val="000000"/>
              </a:buClr>
            </a:pPr>
            <a:r>
              <a:rPr lang="zh-CN" altLang="en-US" sz="1300" dirty="0">
                <a:latin typeface="+mj-lt"/>
                <a:ea typeface="+mj-ea"/>
                <a:cs typeface="Microsoft YaHei" charset="-122"/>
              </a:rPr>
              <a:t>完成</a:t>
            </a:r>
            <a:endParaRPr lang="en-US" altLang="zh-CN" sz="1300" dirty="0">
              <a:latin typeface="+mj-lt"/>
              <a:ea typeface="+mj-ea"/>
              <a:cs typeface="Microsoft YaHei" charset="-122"/>
            </a:endParaRPr>
          </a:p>
        </p:txBody>
      </p:sp>
      <p:sp>
        <p:nvSpPr>
          <p:cNvPr id="17" name="Freeform 155">
            <a:extLst>
              <a:ext uri="{FF2B5EF4-FFF2-40B4-BE49-F238E27FC236}">
                <a16:creationId xmlns="" xmlns:a16="http://schemas.microsoft.com/office/drawing/2014/main" id="{AF47B5F7-DF1D-48FF-8AB1-8B3F55719149}"/>
              </a:ext>
            </a:extLst>
          </p:cNvPr>
          <p:cNvSpPr/>
          <p:nvPr/>
        </p:nvSpPr>
        <p:spPr>
          <a:xfrm>
            <a:off x="8914315" y="1683106"/>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FF000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Delay</a:t>
            </a:r>
          </a:p>
          <a:p>
            <a:pPr algn="ctr" defTabSz="503635">
              <a:buClr>
                <a:srgbClr val="000000"/>
              </a:buClr>
            </a:pPr>
            <a:r>
              <a:rPr lang="zh-CN" altLang="en-US" sz="1300" dirty="0">
                <a:latin typeface="+mj-lt"/>
                <a:ea typeface="+mj-ea"/>
                <a:cs typeface="Microsoft YaHei" charset="-122"/>
              </a:rPr>
              <a:t>延迟</a:t>
            </a:r>
            <a:endParaRPr lang="en-US" altLang="zh-CN" sz="1300" dirty="0">
              <a:latin typeface="+mj-lt"/>
              <a:ea typeface="+mj-ea"/>
              <a:cs typeface="Microsoft YaHei" charset="-122"/>
            </a:endParaRPr>
          </a:p>
        </p:txBody>
      </p:sp>
      <p:sp>
        <p:nvSpPr>
          <p:cNvPr id="18" name="Freeform 155">
            <a:extLst>
              <a:ext uri="{FF2B5EF4-FFF2-40B4-BE49-F238E27FC236}">
                <a16:creationId xmlns="" xmlns:a16="http://schemas.microsoft.com/office/drawing/2014/main" id="{AF47B5F7-DF1D-48FF-8AB1-8B3F55719149}"/>
              </a:ext>
            </a:extLst>
          </p:cNvPr>
          <p:cNvSpPr/>
          <p:nvPr/>
        </p:nvSpPr>
        <p:spPr>
          <a:xfrm>
            <a:off x="9949358" y="1664001"/>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E3F3D1"/>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On-going</a:t>
            </a:r>
          </a:p>
          <a:p>
            <a:pPr algn="ctr" defTabSz="503635">
              <a:buClr>
                <a:srgbClr val="000000"/>
              </a:buClr>
            </a:pPr>
            <a:r>
              <a:rPr lang="zh-CN" altLang="en-US" sz="1300" dirty="0">
                <a:latin typeface="+mj-lt"/>
                <a:ea typeface="+mj-ea"/>
                <a:cs typeface="Microsoft YaHei" charset="-122"/>
              </a:rPr>
              <a:t>进行中</a:t>
            </a:r>
            <a:endParaRPr lang="en-US" altLang="zh-CN" sz="1300" dirty="0">
              <a:latin typeface="+mj-lt"/>
              <a:ea typeface="+mj-ea"/>
              <a:cs typeface="Microsoft YaHei" charset="-122"/>
            </a:endParaRPr>
          </a:p>
        </p:txBody>
      </p:sp>
      <p:sp>
        <p:nvSpPr>
          <p:cNvPr id="19" name="Freeform 155">
            <a:extLst>
              <a:ext uri="{FF2B5EF4-FFF2-40B4-BE49-F238E27FC236}">
                <a16:creationId xmlns="" xmlns:a16="http://schemas.microsoft.com/office/drawing/2014/main" id="{AF47B5F7-DF1D-48FF-8AB1-8B3F55719149}"/>
              </a:ext>
            </a:extLst>
          </p:cNvPr>
          <p:cNvSpPr/>
          <p:nvPr/>
        </p:nvSpPr>
        <p:spPr>
          <a:xfrm>
            <a:off x="10885331" y="1674604"/>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pPr algn="ctr" defTabSz="503635">
              <a:buClr>
                <a:srgbClr val="000000"/>
              </a:buClr>
            </a:pPr>
            <a:r>
              <a:rPr lang="en-US" altLang="zh-CN" sz="1300" dirty="0">
                <a:latin typeface="+mj-lt"/>
                <a:ea typeface="+mj-ea"/>
                <a:cs typeface="Microsoft YaHei" charset="-122"/>
              </a:rPr>
              <a:t>Not </a:t>
            </a:r>
            <a:r>
              <a:rPr lang="en-US" altLang="zh-CN" sz="1300" dirty="0" smtClean="0">
                <a:latin typeface="+mj-lt"/>
                <a:ea typeface="+mj-ea"/>
                <a:cs typeface="Microsoft YaHei" charset="-122"/>
              </a:rPr>
              <a:t>start</a:t>
            </a:r>
          </a:p>
          <a:p>
            <a:pPr algn="ctr" defTabSz="503635">
              <a:buClr>
                <a:srgbClr val="000000"/>
              </a:buClr>
            </a:pPr>
            <a:r>
              <a:rPr lang="zh-CN" altLang="en-US" sz="1300" dirty="0">
                <a:latin typeface="+mj-lt"/>
                <a:ea typeface="+mj-ea"/>
                <a:cs typeface="Microsoft YaHei" charset="-122"/>
              </a:rPr>
              <a:t>未开始</a:t>
            </a:r>
            <a:endParaRPr lang="en-US" altLang="zh-CN" sz="1300" dirty="0">
              <a:latin typeface="+mj-lt"/>
              <a:ea typeface="+mj-ea"/>
              <a:cs typeface="Microsoft YaHei" charset="-122"/>
            </a:endParaRPr>
          </a:p>
        </p:txBody>
      </p:sp>
      <p:sp>
        <p:nvSpPr>
          <p:cNvPr id="20" name="TextBox 19"/>
          <p:cNvSpPr txBox="1"/>
          <p:nvPr/>
        </p:nvSpPr>
        <p:spPr>
          <a:xfrm>
            <a:off x="2287964" y="6320067"/>
            <a:ext cx="1602910" cy="369332"/>
          </a:xfrm>
          <a:prstGeom prst="rect">
            <a:avLst/>
          </a:prstGeom>
          <a:noFill/>
        </p:spPr>
        <p:txBody>
          <a:bodyPr wrap="square" rtlCol="0">
            <a:spAutoFit/>
          </a:bodyPr>
          <a:lstStyle/>
          <a:p>
            <a:r>
              <a:rPr lang="en-US" altLang="zh-CN" b="1" dirty="0">
                <a:solidFill>
                  <a:srgbClr val="FF0000"/>
                </a:solidFill>
                <a:latin typeface="+mj-lt"/>
              </a:rPr>
              <a:t>We are here</a:t>
            </a:r>
            <a:endParaRPr lang="zh-CN" altLang="en-US" b="1" dirty="0">
              <a:solidFill>
                <a:srgbClr val="FF0000"/>
              </a:solidFill>
              <a:latin typeface="+mj-lt"/>
            </a:endParaRPr>
          </a:p>
        </p:txBody>
      </p:sp>
      <p:sp>
        <p:nvSpPr>
          <p:cNvPr id="21" name="Freeform 155">
            <a:extLst>
              <a:ext uri="{FF2B5EF4-FFF2-40B4-BE49-F238E27FC236}">
                <a16:creationId xmlns="" xmlns:a16="http://schemas.microsoft.com/office/drawing/2014/main" id="{1163ECA5-2E92-0E4A-D285-64F90E941E22}"/>
              </a:ext>
            </a:extLst>
          </p:cNvPr>
          <p:cNvSpPr/>
          <p:nvPr/>
        </p:nvSpPr>
        <p:spPr>
          <a:xfrm>
            <a:off x="6366298" y="5462238"/>
            <a:ext cx="2763582" cy="63211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2026/01/10 Go-live</a:t>
            </a:r>
          </a:p>
          <a:p>
            <a:pPr algn="ctr" defTabSz="503635">
              <a:buClr>
                <a:srgbClr val="000000"/>
              </a:buClr>
            </a:pPr>
            <a:r>
              <a:rPr lang="en-US" altLang="zh-CN" sz="1100" b="1" dirty="0">
                <a:latin typeface="+mj-lt"/>
                <a:ea typeface="+mj-ea"/>
              </a:rPr>
              <a:t>              Not Started</a:t>
            </a:r>
            <a:endParaRPr lang="zh-CN" altLang="en-US" sz="1100" b="1" dirty="0">
              <a:latin typeface="+mj-lt"/>
              <a:ea typeface="+mj-ea"/>
            </a:endParaRPr>
          </a:p>
        </p:txBody>
      </p:sp>
      <p:sp>
        <p:nvSpPr>
          <p:cNvPr id="22" name="文本框 107">
            <a:extLst>
              <a:ext uri="{FF2B5EF4-FFF2-40B4-BE49-F238E27FC236}">
                <a16:creationId xmlns="" xmlns:a16="http://schemas.microsoft.com/office/drawing/2014/main" id="{28A6CBCD-8730-4627-A4D0-4FCA6107A8D2}"/>
              </a:ext>
            </a:extLst>
          </p:cNvPr>
          <p:cNvSpPr txBox="1"/>
          <p:nvPr/>
        </p:nvSpPr>
        <p:spPr>
          <a:xfrm>
            <a:off x="779796" y="632416"/>
            <a:ext cx="694421"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09/19 PI</a:t>
            </a:r>
            <a:endParaRPr lang="zh-CN" altLang="en-US" sz="1200" b="1" dirty="0">
              <a:solidFill>
                <a:schemeClr val="accent1">
                  <a:lumMod val="75000"/>
                </a:schemeClr>
              </a:solidFill>
              <a:latin typeface="+mj-lt"/>
              <a:ea typeface="+mj-ea"/>
            </a:endParaRPr>
          </a:p>
        </p:txBody>
      </p:sp>
      <p:pic>
        <p:nvPicPr>
          <p:cNvPr id="23"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7720" y="680589"/>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107">
            <a:extLst>
              <a:ext uri="{FF2B5EF4-FFF2-40B4-BE49-F238E27FC236}">
                <a16:creationId xmlns="" xmlns:a16="http://schemas.microsoft.com/office/drawing/2014/main" id="{28A6CBCD-8730-4627-A4D0-4FCA6107A8D2}"/>
              </a:ext>
            </a:extLst>
          </p:cNvPr>
          <p:cNvSpPr txBox="1"/>
          <p:nvPr/>
        </p:nvSpPr>
        <p:spPr>
          <a:xfrm>
            <a:off x="10410125" y="584245"/>
            <a:ext cx="1516762" cy="276999"/>
          </a:xfrm>
          <a:prstGeom prst="rect">
            <a:avLst/>
          </a:prstGeom>
          <a:noFill/>
        </p:spPr>
        <p:txBody>
          <a:bodyPr wrap="none" rtlCol="0">
            <a:spAutoFit/>
          </a:bodyPr>
          <a:lstStyle/>
          <a:p>
            <a:r>
              <a:rPr lang="en-US" altLang="zh-CN" sz="1200" b="1" dirty="0">
                <a:solidFill>
                  <a:schemeClr val="accent1">
                    <a:lumMod val="75000"/>
                  </a:schemeClr>
                </a:solidFill>
              </a:rPr>
              <a:t>2026/01/10</a:t>
            </a:r>
            <a:r>
              <a:rPr lang="en-US" altLang="zh-CN" sz="1200" b="1" dirty="0" smtClean="0">
                <a:solidFill>
                  <a:schemeClr val="accent1">
                    <a:lumMod val="75000"/>
                  </a:schemeClr>
                </a:solidFill>
                <a:latin typeface="+mj-lt"/>
                <a:ea typeface="+mj-ea"/>
              </a:rPr>
              <a:t> Go-live</a:t>
            </a:r>
            <a:endParaRPr lang="zh-CN" altLang="en-US" sz="1200" b="1" dirty="0">
              <a:solidFill>
                <a:schemeClr val="accent1">
                  <a:lumMod val="75000"/>
                </a:schemeClr>
              </a:solidFill>
              <a:latin typeface="+mj-lt"/>
              <a:ea typeface="+mj-ea"/>
            </a:endParaRPr>
          </a:p>
        </p:txBody>
      </p:sp>
      <p:pic>
        <p:nvPicPr>
          <p:cNvPr id="25"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19" y="682046"/>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55">
            <a:extLst>
              <a:ext uri="{FF2B5EF4-FFF2-40B4-BE49-F238E27FC236}">
                <a16:creationId xmlns="" xmlns:a16="http://schemas.microsoft.com/office/drawing/2014/main" id="{1163ECA5-2E92-0E4A-D285-64F90E941E22}"/>
              </a:ext>
            </a:extLst>
          </p:cNvPr>
          <p:cNvSpPr/>
          <p:nvPr/>
        </p:nvSpPr>
        <p:spPr>
          <a:xfrm>
            <a:off x="171070" y="1456071"/>
            <a:ext cx="2467154" cy="454624"/>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solidFill>
              <a:srgbClr val="00B050"/>
            </a:solidFill>
            <a:miter lim="800000"/>
            <a:headEnd/>
            <a:tailEnd/>
          </a:ln>
          <a:effectLst/>
        </p:spPr>
        <p:txBody>
          <a:bodyPr lIns="0" tIns="0" rIns="0" bIns="0" anchor="ctr">
            <a:noAutofit/>
          </a:bodyPr>
          <a:lstStyle/>
          <a:p>
            <a:pPr algn="ctr" defTabSz="503635">
              <a:buClr>
                <a:srgbClr val="000000"/>
              </a:buClr>
            </a:pPr>
            <a:r>
              <a:rPr lang="en-US" altLang="zh-CN" sz="1100" b="1" dirty="0" smtClean="0">
                <a:latin typeface="+mj-lt"/>
                <a:ea typeface="+mj-ea"/>
              </a:rPr>
              <a:t>PI</a:t>
            </a:r>
          </a:p>
          <a:p>
            <a:pPr algn="ctr" defTabSz="503635">
              <a:buClr>
                <a:srgbClr val="000000"/>
              </a:buClr>
            </a:pPr>
            <a:r>
              <a:rPr lang="en-US" altLang="zh-CN" sz="1100" b="1" dirty="0" smtClean="0">
                <a:latin typeface="+mj-lt"/>
                <a:ea typeface="+mj-ea"/>
              </a:rPr>
              <a:t>09/19 Delay</a:t>
            </a:r>
            <a:endParaRPr lang="en-US" altLang="zh-CN" sz="1100" b="1" dirty="0">
              <a:latin typeface="+mj-lt"/>
              <a:cs typeface="Microsoft YaHei" charset="-122"/>
            </a:endParaRPr>
          </a:p>
        </p:txBody>
      </p:sp>
      <p:sp>
        <p:nvSpPr>
          <p:cNvPr id="27" name="Freeform 155">
            <a:extLst>
              <a:ext uri="{FF2B5EF4-FFF2-40B4-BE49-F238E27FC236}">
                <a16:creationId xmlns="" xmlns:a16="http://schemas.microsoft.com/office/drawing/2014/main" id="{1163ECA5-2E92-0E4A-D285-64F90E941E22}"/>
              </a:ext>
            </a:extLst>
          </p:cNvPr>
          <p:cNvSpPr/>
          <p:nvPr/>
        </p:nvSpPr>
        <p:spPr>
          <a:xfrm>
            <a:off x="4610803" y="3908910"/>
            <a:ext cx="2543951" cy="64895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12/27 User training</a:t>
            </a:r>
          </a:p>
          <a:p>
            <a:pPr algn="ctr" defTabSz="503635">
              <a:buClr>
                <a:srgbClr val="000000"/>
              </a:buClr>
            </a:pPr>
            <a:r>
              <a:rPr lang="en-US" altLang="zh-CN" sz="1100" b="1" dirty="0">
                <a:latin typeface="+mj-lt"/>
                <a:ea typeface="+mj-ea"/>
              </a:rPr>
              <a:t>                     Not started </a:t>
            </a:r>
            <a:endParaRPr lang="zh-CN" altLang="en-US" sz="1100" b="1" dirty="0">
              <a:latin typeface="+mj-lt"/>
              <a:ea typeface="+mj-ea"/>
            </a:endParaRPr>
          </a:p>
        </p:txBody>
      </p:sp>
      <p:sp>
        <p:nvSpPr>
          <p:cNvPr id="28" name="Freeform 155">
            <a:extLst>
              <a:ext uri="{FF2B5EF4-FFF2-40B4-BE49-F238E27FC236}">
                <a16:creationId xmlns="" xmlns:a16="http://schemas.microsoft.com/office/drawing/2014/main" id="{1163ECA5-2E92-0E4A-D285-64F90E941E22}"/>
              </a:ext>
            </a:extLst>
          </p:cNvPr>
          <p:cNvSpPr/>
          <p:nvPr/>
        </p:nvSpPr>
        <p:spPr>
          <a:xfrm>
            <a:off x="2148385" y="2570526"/>
            <a:ext cx="2487077" cy="48888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zh-CN" altLang="en-US" sz="1300" b="1" dirty="0">
                <a:latin typeface="+mj-lt"/>
                <a:ea typeface="+mj-ea"/>
                <a:cs typeface="Microsoft YaHei" charset="-122"/>
              </a:rPr>
              <a:t>蓝图</a:t>
            </a:r>
            <a:r>
              <a:rPr lang="en-US" altLang="zh-CN" sz="1300" b="1" dirty="0">
                <a:latin typeface="+mj-lt"/>
                <a:ea typeface="+mj-ea"/>
                <a:cs typeface="Microsoft YaHei" charset="-122"/>
              </a:rPr>
              <a:t>Blueprint </a:t>
            </a:r>
          </a:p>
          <a:p>
            <a:pPr algn="ctr" defTabSz="503635">
              <a:buClr>
                <a:srgbClr val="000000"/>
              </a:buClr>
            </a:pPr>
            <a:r>
              <a:rPr lang="en-US" altLang="zh-CN" sz="1300" b="1" dirty="0" smtClean="0">
                <a:latin typeface="+mj-lt"/>
                <a:ea typeface="+mj-ea"/>
                <a:cs typeface="Microsoft YaHei" charset="-122"/>
              </a:rPr>
              <a:t>09/24 </a:t>
            </a:r>
            <a:r>
              <a:rPr lang="en-US" altLang="zh-CN" sz="1300" b="1" dirty="0">
                <a:latin typeface="+mj-lt"/>
                <a:ea typeface="+mj-ea"/>
                <a:cs typeface="Microsoft YaHei" charset="-122"/>
              </a:rPr>
              <a:t>Ongoing</a:t>
            </a:r>
          </a:p>
        </p:txBody>
      </p:sp>
      <p:sp>
        <p:nvSpPr>
          <p:cNvPr id="29" name="文本框 107">
            <a:extLst>
              <a:ext uri="{FF2B5EF4-FFF2-40B4-BE49-F238E27FC236}">
                <a16:creationId xmlns="" xmlns:a16="http://schemas.microsoft.com/office/drawing/2014/main" id="{28A6CBCD-8730-4627-A4D0-4FCA6107A8D2}"/>
              </a:ext>
            </a:extLst>
          </p:cNvPr>
          <p:cNvSpPr txBox="1"/>
          <p:nvPr/>
        </p:nvSpPr>
        <p:spPr>
          <a:xfrm>
            <a:off x="4259801" y="1566845"/>
            <a:ext cx="1292063" cy="461665"/>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09/24 KO &amp;</a:t>
            </a:r>
            <a:r>
              <a:rPr lang="en-US" altLang="zh-CN" sz="1200" b="1" dirty="0">
                <a:solidFill>
                  <a:schemeClr val="accent1">
                    <a:lumMod val="75000"/>
                  </a:schemeClr>
                </a:solidFill>
                <a:latin typeface="+mj-lt"/>
                <a:ea typeface="+mj-ea"/>
              </a:rPr>
              <a:t> </a:t>
            </a:r>
            <a:r>
              <a:rPr lang="en-US" altLang="zh-CN" sz="1200" b="1" dirty="0" smtClean="0">
                <a:solidFill>
                  <a:schemeClr val="accent1">
                    <a:lumMod val="75000"/>
                  </a:schemeClr>
                </a:solidFill>
                <a:latin typeface="+mj-lt"/>
                <a:ea typeface="+mj-ea"/>
              </a:rPr>
              <a:t>Blueprint Review</a:t>
            </a:r>
            <a:endParaRPr lang="zh-CN" altLang="en-US" sz="1200" b="1" dirty="0">
              <a:solidFill>
                <a:schemeClr val="accent1">
                  <a:lumMod val="75000"/>
                </a:schemeClr>
              </a:solidFill>
              <a:latin typeface="+mj-lt"/>
              <a:ea typeface="+mj-ea"/>
            </a:endParaRPr>
          </a:p>
        </p:txBody>
      </p:sp>
      <p:pic>
        <p:nvPicPr>
          <p:cNvPr id="30"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7596" y="1789002"/>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文本框 107">
            <a:extLst>
              <a:ext uri="{FF2B5EF4-FFF2-40B4-BE49-F238E27FC236}">
                <a16:creationId xmlns="" xmlns:a16="http://schemas.microsoft.com/office/drawing/2014/main" id="{28A6CBCD-8730-4627-A4D0-4FCA6107A8D2}"/>
              </a:ext>
            </a:extLst>
          </p:cNvPr>
          <p:cNvSpPr txBox="1"/>
          <p:nvPr/>
        </p:nvSpPr>
        <p:spPr>
          <a:xfrm>
            <a:off x="7702549" y="606173"/>
            <a:ext cx="2207870" cy="276999"/>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2026/01/08 Project sign-off</a:t>
            </a:r>
            <a:endParaRPr lang="zh-CN" altLang="en-US" sz="1200" b="1" dirty="0">
              <a:solidFill>
                <a:schemeClr val="accent1">
                  <a:lumMod val="75000"/>
                </a:schemeClr>
              </a:solidFill>
              <a:latin typeface="+mj-lt"/>
              <a:ea typeface="+mj-ea"/>
            </a:endParaRPr>
          </a:p>
        </p:txBody>
      </p:sp>
      <p:pic>
        <p:nvPicPr>
          <p:cNvPr id="32"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18102" y="695257"/>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155">
            <a:extLst>
              <a:ext uri="{FF2B5EF4-FFF2-40B4-BE49-F238E27FC236}">
                <a16:creationId xmlns="" xmlns:a16="http://schemas.microsoft.com/office/drawing/2014/main" id="{1163ECA5-2E92-0E4A-D285-64F90E941E22}"/>
              </a:ext>
            </a:extLst>
          </p:cNvPr>
          <p:cNvSpPr/>
          <p:nvPr/>
        </p:nvSpPr>
        <p:spPr>
          <a:xfrm>
            <a:off x="1045380" y="1985978"/>
            <a:ext cx="2675943" cy="48920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solidFill>
              <a:srgbClr val="00B050"/>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KO Prep</a:t>
            </a:r>
          </a:p>
          <a:p>
            <a:pPr algn="ctr" defTabSz="503635">
              <a:buClr>
                <a:srgbClr val="000000"/>
              </a:buClr>
            </a:pPr>
            <a:r>
              <a:rPr lang="en-US" altLang="zh-CN" sz="1100" b="1" dirty="0">
                <a:latin typeface="+mj-lt"/>
                <a:ea typeface="+mj-ea"/>
              </a:rPr>
              <a:t>09/24 Ongoing</a:t>
            </a:r>
          </a:p>
        </p:txBody>
      </p:sp>
      <p:sp>
        <p:nvSpPr>
          <p:cNvPr id="34" name="文本框 107">
            <a:extLst>
              <a:ext uri="{FF2B5EF4-FFF2-40B4-BE49-F238E27FC236}">
                <a16:creationId xmlns="" xmlns:a16="http://schemas.microsoft.com/office/drawing/2014/main" id="{28A6CBCD-8730-4627-A4D0-4FCA6107A8D2}"/>
              </a:ext>
            </a:extLst>
          </p:cNvPr>
          <p:cNvSpPr txBox="1"/>
          <p:nvPr/>
        </p:nvSpPr>
        <p:spPr>
          <a:xfrm>
            <a:off x="2480448" y="595939"/>
            <a:ext cx="1035220"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09/24 Kick-off</a:t>
            </a:r>
            <a:endParaRPr lang="zh-CN" altLang="en-US" sz="1200" b="1" dirty="0">
              <a:solidFill>
                <a:schemeClr val="accent1">
                  <a:lumMod val="75000"/>
                </a:schemeClr>
              </a:solidFill>
              <a:latin typeface="+mj-lt"/>
              <a:ea typeface="+mj-ea"/>
            </a:endParaRPr>
          </a:p>
        </p:txBody>
      </p:sp>
      <p:pic>
        <p:nvPicPr>
          <p:cNvPr id="35"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31897" y="665182"/>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p:cNvPicPr>
            <a:picLocks noChangeAspect="1"/>
          </p:cNvPicPr>
          <p:nvPr/>
        </p:nvPicPr>
        <p:blipFill>
          <a:blip r:embed="rId5"/>
          <a:stretch>
            <a:fillRect/>
          </a:stretch>
        </p:blipFill>
        <p:spPr>
          <a:xfrm>
            <a:off x="171070" y="1077071"/>
            <a:ext cx="11934825" cy="266700"/>
          </a:xfrm>
          <a:prstGeom prst="rect">
            <a:avLst/>
          </a:prstGeom>
        </p:spPr>
      </p:pic>
      <p:cxnSp>
        <p:nvCxnSpPr>
          <p:cNvPr id="37" name="Straight Connector 118">
            <a:extLst>
              <a:ext uri="{FF2B5EF4-FFF2-40B4-BE49-F238E27FC236}">
                <a16:creationId xmlns="" xmlns:a16="http://schemas.microsoft.com/office/drawing/2014/main" id="{ED304844-36D3-4B47-A1BA-28EBE7ED05EC}"/>
              </a:ext>
            </a:extLst>
          </p:cNvPr>
          <p:cNvCxnSpPr/>
          <p:nvPr/>
        </p:nvCxnSpPr>
        <p:spPr>
          <a:xfrm flipH="1">
            <a:off x="3848654" y="965861"/>
            <a:ext cx="36741" cy="5866959"/>
          </a:xfrm>
          <a:prstGeom prst="line">
            <a:avLst/>
          </a:prstGeom>
          <a:noFill/>
          <a:ln w="38100" cap="flat" cmpd="sng" algn="ctr">
            <a:solidFill>
              <a:srgbClr val="FF0000"/>
            </a:solidFill>
            <a:prstDash val="sysDot"/>
          </a:ln>
          <a:effectLst/>
        </p:spPr>
      </p:cxnSp>
      <p:sp>
        <p:nvSpPr>
          <p:cNvPr id="38" name="Rectangle 37"/>
          <p:cNvSpPr/>
          <p:nvPr/>
        </p:nvSpPr>
        <p:spPr>
          <a:xfrm>
            <a:off x="329510" y="1099843"/>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09/09</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39" name="Rectangle 38"/>
          <p:cNvSpPr/>
          <p:nvPr/>
        </p:nvSpPr>
        <p:spPr>
          <a:xfrm>
            <a:off x="1277252" y="1108088"/>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09/12</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0" name="Rectangle 39"/>
          <p:cNvSpPr/>
          <p:nvPr/>
        </p:nvSpPr>
        <p:spPr>
          <a:xfrm>
            <a:off x="10536602" y="1067918"/>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01/30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1" name="Rectangle 40"/>
          <p:cNvSpPr/>
          <p:nvPr/>
        </p:nvSpPr>
        <p:spPr>
          <a:xfrm>
            <a:off x="2164496" y="1109156"/>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09/15</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2" name="Rectangle 41"/>
          <p:cNvSpPr/>
          <p:nvPr/>
        </p:nvSpPr>
        <p:spPr>
          <a:xfrm>
            <a:off x="3089419" y="1113388"/>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09/18</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3" name="Rectangle 42"/>
          <p:cNvSpPr/>
          <p:nvPr/>
        </p:nvSpPr>
        <p:spPr>
          <a:xfrm>
            <a:off x="4003559" y="1116641"/>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09/20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4" name="Rectangle 43"/>
          <p:cNvSpPr/>
          <p:nvPr/>
        </p:nvSpPr>
        <p:spPr>
          <a:xfrm>
            <a:off x="7747754" y="1083733"/>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01/04</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5" name="Freeform 155">
            <a:extLst>
              <a:ext uri="{FF2B5EF4-FFF2-40B4-BE49-F238E27FC236}">
                <a16:creationId xmlns="" xmlns:a16="http://schemas.microsoft.com/office/drawing/2014/main" id="{1163ECA5-2E92-0E4A-D285-64F90E941E22}"/>
              </a:ext>
            </a:extLst>
          </p:cNvPr>
          <p:cNvSpPr/>
          <p:nvPr/>
        </p:nvSpPr>
        <p:spPr>
          <a:xfrm>
            <a:off x="5601782" y="4649650"/>
            <a:ext cx="2639779"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endParaRPr lang="en-US" sz="1100" b="1" dirty="0">
              <a:latin typeface="+mj-lt"/>
              <a:ea typeface="+mj-ea"/>
            </a:endParaRPr>
          </a:p>
          <a:p>
            <a:pPr algn="ctr" defTabSz="503635">
              <a:buClr>
                <a:srgbClr val="000000"/>
              </a:buClr>
            </a:pPr>
            <a:r>
              <a:rPr lang="en-US" sz="1100" b="1" dirty="0">
                <a:latin typeface="+mj-lt"/>
                <a:ea typeface="+mj-ea"/>
              </a:rPr>
              <a:t>GRR：2026/01/08</a:t>
            </a:r>
          </a:p>
          <a:p>
            <a:pPr algn="ctr" defTabSz="503635">
              <a:buClr>
                <a:srgbClr val="000000"/>
              </a:buClr>
            </a:pPr>
            <a:r>
              <a:rPr lang="en-US" altLang="zh-CN" sz="1100" b="1" dirty="0">
                <a:latin typeface="+mj-lt"/>
                <a:ea typeface="+mj-ea"/>
              </a:rPr>
              <a:t>      Not started</a:t>
            </a:r>
          </a:p>
          <a:p>
            <a:pPr algn="ctr" defTabSz="503635">
              <a:buClr>
                <a:srgbClr val="000000"/>
              </a:buClr>
            </a:pPr>
            <a:endParaRPr lang="en-US" altLang="zh-CN" sz="1100" b="1" dirty="0">
              <a:latin typeface="+mj-lt"/>
              <a:ea typeface="+mj-ea"/>
            </a:endParaRPr>
          </a:p>
        </p:txBody>
      </p:sp>
      <p:sp>
        <p:nvSpPr>
          <p:cNvPr id="46" name="Rectangle 45"/>
          <p:cNvSpPr/>
          <p:nvPr/>
        </p:nvSpPr>
        <p:spPr>
          <a:xfrm>
            <a:off x="9611671" y="1087780"/>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01/10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7" name="Freeform 155">
            <a:extLst>
              <a:ext uri="{FF2B5EF4-FFF2-40B4-BE49-F238E27FC236}">
                <a16:creationId xmlns="" xmlns:a16="http://schemas.microsoft.com/office/drawing/2014/main" id="{1163ECA5-2E92-0E4A-D285-64F90E941E22}"/>
              </a:ext>
            </a:extLst>
          </p:cNvPr>
          <p:cNvSpPr/>
          <p:nvPr/>
        </p:nvSpPr>
        <p:spPr>
          <a:xfrm>
            <a:off x="7993310" y="6141029"/>
            <a:ext cx="2199524" cy="62956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Project </a:t>
            </a:r>
            <a:r>
              <a:rPr lang="en-US" sz="1100" b="1" dirty="0" smtClean="0">
                <a:latin typeface="+mj-lt"/>
                <a:ea typeface="+mj-ea"/>
              </a:rPr>
              <a:t>Exit：2026/02/17</a:t>
            </a:r>
            <a:endParaRPr lang="en-US" sz="1100" b="1" dirty="0">
              <a:latin typeface="+mj-lt"/>
              <a:ea typeface="+mj-ea"/>
            </a:endParaRPr>
          </a:p>
          <a:p>
            <a:pPr algn="ctr" defTabSz="503635">
              <a:buClr>
                <a:srgbClr val="000000"/>
              </a:buClr>
            </a:pPr>
            <a:r>
              <a:rPr lang="en-US" sz="1100" b="1" dirty="0">
                <a:latin typeface="+mj-lt"/>
                <a:ea typeface="+mj-ea"/>
              </a:rPr>
              <a:t>                   Not started </a:t>
            </a:r>
          </a:p>
        </p:txBody>
      </p:sp>
      <p:sp>
        <p:nvSpPr>
          <p:cNvPr id="48" name="Freeform 155">
            <a:extLst>
              <a:ext uri="{FF2B5EF4-FFF2-40B4-BE49-F238E27FC236}">
                <a16:creationId xmlns="" xmlns:a16="http://schemas.microsoft.com/office/drawing/2014/main" id="{1163ECA5-2E92-0E4A-D285-64F90E941E22}"/>
              </a:ext>
            </a:extLst>
          </p:cNvPr>
          <p:cNvSpPr/>
          <p:nvPr/>
        </p:nvSpPr>
        <p:spPr>
          <a:xfrm>
            <a:off x="3331671" y="3180363"/>
            <a:ext cx="2507702"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sz="1100" b="1" dirty="0">
                <a:latin typeface="+mj-lt"/>
                <a:ea typeface="+mj-ea"/>
              </a:rPr>
              <a:t>Realization ：2025/12/27</a:t>
            </a:r>
            <a:br>
              <a:rPr lang="en-US" sz="1100" b="1" dirty="0">
                <a:latin typeface="+mj-lt"/>
                <a:ea typeface="+mj-ea"/>
              </a:rPr>
            </a:br>
            <a:r>
              <a:rPr lang="en-US" altLang="zh-CN" sz="1100" b="1" dirty="0">
                <a:latin typeface="+mj-lt"/>
                <a:ea typeface="+mj-ea"/>
              </a:rPr>
              <a:t>      Not started</a:t>
            </a:r>
          </a:p>
        </p:txBody>
      </p:sp>
      <p:sp>
        <p:nvSpPr>
          <p:cNvPr id="49" name="Rectangle 48"/>
          <p:cNvSpPr/>
          <p:nvPr/>
        </p:nvSpPr>
        <p:spPr>
          <a:xfrm>
            <a:off x="5017716" y="1083734"/>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12/20</a:t>
            </a:r>
            <a:endParaRPr lang="en-US" sz="1400" dirty="0">
              <a:ln w="0"/>
              <a:effectLst>
                <a:outerShdw blurRad="38100" dist="19050" dir="2700000" algn="tl" rotWithShape="0">
                  <a:schemeClr val="dk1">
                    <a:alpha val="40000"/>
                  </a:schemeClr>
                </a:outerShdw>
              </a:effectLst>
            </a:endParaRPr>
          </a:p>
        </p:txBody>
      </p:sp>
      <p:sp>
        <p:nvSpPr>
          <p:cNvPr id="50" name="Rectangle 49"/>
          <p:cNvSpPr/>
          <p:nvPr/>
        </p:nvSpPr>
        <p:spPr>
          <a:xfrm>
            <a:off x="5899625" y="1077310"/>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12/20</a:t>
            </a:r>
            <a:endParaRPr lang="en-US" sz="1400" dirty="0">
              <a:ln w="0"/>
              <a:effectLst>
                <a:outerShdw blurRad="38100" dist="19050" dir="2700000" algn="tl" rotWithShape="0">
                  <a:schemeClr val="dk1">
                    <a:alpha val="40000"/>
                  </a:schemeClr>
                </a:outerShdw>
              </a:effectLst>
            </a:endParaRPr>
          </a:p>
        </p:txBody>
      </p:sp>
      <p:sp>
        <p:nvSpPr>
          <p:cNvPr id="51" name="Rectangle 50"/>
          <p:cNvSpPr/>
          <p:nvPr/>
        </p:nvSpPr>
        <p:spPr>
          <a:xfrm>
            <a:off x="6797430" y="1067918"/>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12/27</a:t>
            </a:r>
            <a:endParaRPr lang="en-US" sz="1400" dirty="0">
              <a:ln w="0"/>
              <a:effectLst>
                <a:outerShdw blurRad="38100" dist="19050" dir="2700000" algn="tl" rotWithShape="0">
                  <a:schemeClr val="dk1">
                    <a:alpha val="40000"/>
                  </a:schemeClr>
                </a:outerShdw>
              </a:effectLst>
            </a:endParaRPr>
          </a:p>
        </p:txBody>
      </p:sp>
      <p:sp>
        <p:nvSpPr>
          <p:cNvPr id="52" name="Rectangle 51"/>
          <p:cNvSpPr/>
          <p:nvPr/>
        </p:nvSpPr>
        <p:spPr>
          <a:xfrm>
            <a:off x="11257844" y="1051100"/>
            <a:ext cx="897335" cy="338554"/>
          </a:xfrm>
          <a:prstGeom prst="rect">
            <a:avLst/>
          </a:prstGeom>
        </p:spPr>
        <p:txBody>
          <a:bodyPr wrap="square">
            <a:spAutoFit/>
          </a:bodyPr>
          <a:lstStyle/>
          <a:p>
            <a:pPr algn="ctr"/>
            <a:r>
              <a:rPr lang="en-US" sz="1600" dirty="0" smtClean="0">
                <a:ln w="0"/>
                <a:effectLst>
                  <a:outerShdw blurRad="38100" dist="19050" dir="2700000" algn="tl" rotWithShape="0">
                    <a:schemeClr val="dk1">
                      <a:alpha val="40000"/>
                    </a:schemeClr>
                  </a:outerShdw>
                </a:effectLst>
              </a:rPr>
              <a:t>02/17</a:t>
            </a:r>
            <a:endParaRPr lang="en-US" sz="1600" dirty="0">
              <a:ln w="0"/>
              <a:effectLst>
                <a:outerShdw blurRad="38100" dist="19050" dir="2700000" algn="tl" rotWithShape="0">
                  <a:schemeClr val="dk1">
                    <a:alpha val="40000"/>
                  </a:schemeClr>
                </a:outerShdw>
              </a:effectLst>
            </a:endParaRPr>
          </a:p>
        </p:txBody>
      </p:sp>
      <p:sp>
        <p:nvSpPr>
          <p:cNvPr id="53" name="Rectangle 52"/>
          <p:cNvSpPr/>
          <p:nvPr/>
        </p:nvSpPr>
        <p:spPr>
          <a:xfrm>
            <a:off x="8686741" y="108373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01/08</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14632902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Project Team</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sp>
        <p:nvSpPr>
          <p:cNvPr id="6" name="Rounded Rectangle 5"/>
          <p:cNvSpPr/>
          <p:nvPr/>
        </p:nvSpPr>
        <p:spPr>
          <a:xfrm>
            <a:off x="4774212" y="560292"/>
            <a:ext cx="2305050" cy="42172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7" name="Rounded Rectangle 6"/>
          <p:cNvSpPr/>
          <p:nvPr/>
        </p:nvSpPr>
        <p:spPr>
          <a:xfrm>
            <a:off x="4993287" y="760317"/>
            <a:ext cx="2305050" cy="42172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smtClean="0"/>
              <a:t>Project Team</a:t>
            </a:r>
            <a:endParaRPr lang="en-IN" dirty="0"/>
          </a:p>
        </p:txBody>
      </p:sp>
      <p:sp>
        <p:nvSpPr>
          <p:cNvPr id="8" name="Rounded Rectangle 7"/>
          <p:cNvSpPr/>
          <p:nvPr/>
        </p:nvSpPr>
        <p:spPr>
          <a:xfrm>
            <a:off x="806433" y="2090434"/>
            <a:ext cx="2305050" cy="350802"/>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 name="Rounded Rectangle 8"/>
          <p:cNvSpPr/>
          <p:nvPr/>
        </p:nvSpPr>
        <p:spPr>
          <a:xfrm>
            <a:off x="887396" y="2291356"/>
            <a:ext cx="2305050" cy="350803"/>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smtClean="0"/>
              <a:t>Project Manager</a:t>
            </a:r>
            <a:endParaRPr lang="en-IN" sz="1600" dirty="0"/>
          </a:p>
        </p:txBody>
      </p:sp>
      <p:sp>
        <p:nvSpPr>
          <p:cNvPr id="10" name="Rounded Rectangle 9"/>
          <p:cNvSpPr/>
          <p:nvPr/>
        </p:nvSpPr>
        <p:spPr>
          <a:xfrm>
            <a:off x="410563" y="3790964"/>
            <a:ext cx="1343025" cy="407587"/>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1" name="Rounded Rectangle 10"/>
          <p:cNvSpPr/>
          <p:nvPr/>
        </p:nvSpPr>
        <p:spPr>
          <a:xfrm>
            <a:off x="629638" y="3990989"/>
            <a:ext cx="1343025" cy="407587"/>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Manohar-G</a:t>
            </a:r>
            <a:endParaRPr lang="en-IN" sz="1600" dirty="0"/>
          </a:p>
        </p:txBody>
      </p:sp>
      <p:sp>
        <p:nvSpPr>
          <p:cNvPr id="12" name="Rounded Rectangle 11"/>
          <p:cNvSpPr/>
          <p:nvPr/>
        </p:nvSpPr>
        <p:spPr>
          <a:xfrm>
            <a:off x="4754546" y="2099637"/>
            <a:ext cx="2305050" cy="30781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3" name="Rounded Rectangle 12"/>
          <p:cNvSpPr/>
          <p:nvPr/>
        </p:nvSpPr>
        <p:spPr>
          <a:xfrm>
            <a:off x="4973621" y="2299662"/>
            <a:ext cx="2305050" cy="30781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400" dirty="0" smtClean="0"/>
              <a:t>Supporting Team </a:t>
            </a:r>
            <a:endParaRPr lang="en-IN" sz="1400" dirty="0"/>
          </a:p>
        </p:txBody>
      </p:sp>
      <p:sp>
        <p:nvSpPr>
          <p:cNvPr id="14" name="Rounded Rectangle 13"/>
          <p:cNvSpPr/>
          <p:nvPr/>
        </p:nvSpPr>
        <p:spPr>
          <a:xfrm>
            <a:off x="2197688" y="3793620"/>
            <a:ext cx="1490068" cy="407587"/>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5" name="Rounded Rectangle 14"/>
          <p:cNvSpPr/>
          <p:nvPr/>
        </p:nvSpPr>
        <p:spPr>
          <a:xfrm>
            <a:off x="2416763" y="3993645"/>
            <a:ext cx="1490068" cy="407587"/>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smtClean="0"/>
              <a:t>I</a:t>
            </a:r>
            <a:r>
              <a:rPr lang="en-GB" sz="1600" dirty="0" smtClean="0"/>
              <a:t>T</a:t>
            </a:r>
            <a:endParaRPr lang="en-IN" sz="1600" dirty="0"/>
          </a:p>
        </p:txBody>
      </p:sp>
      <p:sp>
        <p:nvSpPr>
          <p:cNvPr id="16" name="Rounded Rectangle 15"/>
          <p:cNvSpPr/>
          <p:nvPr/>
        </p:nvSpPr>
        <p:spPr>
          <a:xfrm>
            <a:off x="9140809" y="2065810"/>
            <a:ext cx="2305050" cy="347563"/>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7" name="Rounded Rectangle 16"/>
          <p:cNvSpPr/>
          <p:nvPr/>
        </p:nvSpPr>
        <p:spPr>
          <a:xfrm>
            <a:off x="9359884" y="2265835"/>
            <a:ext cx="2305050" cy="461265"/>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Project Development Team </a:t>
            </a:r>
            <a:endParaRPr lang="en-IN" sz="1600" dirty="0"/>
          </a:p>
        </p:txBody>
      </p:sp>
      <p:sp>
        <p:nvSpPr>
          <p:cNvPr id="18" name="Rounded Rectangle 17"/>
          <p:cNvSpPr/>
          <p:nvPr/>
        </p:nvSpPr>
        <p:spPr>
          <a:xfrm>
            <a:off x="4306881" y="3790963"/>
            <a:ext cx="1685925" cy="420438"/>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9" name="Rounded Rectangle 18"/>
          <p:cNvSpPr/>
          <p:nvPr/>
        </p:nvSpPr>
        <p:spPr>
          <a:xfrm>
            <a:off x="4525956" y="3990988"/>
            <a:ext cx="1685925" cy="420438"/>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Planning </a:t>
            </a:r>
            <a:endParaRPr lang="en-IN" sz="1600" dirty="0"/>
          </a:p>
        </p:txBody>
      </p:sp>
      <p:sp>
        <p:nvSpPr>
          <p:cNvPr id="20" name="Rounded Rectangle 19"/>
          <p:cNvSpPr/>
          <p:nvPr/>
        </p:nvSpPr>
        <p:spPr>
          <a:xfrm>
            <a:off x="6487513" y="3790964"/>
            <a:ext cx="1367431"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1" name="Rounded Rectangle 20"/>
          <p:cNvSpPr/>
          <p:nvPr/>
        </p:nvSpPr>
        <p:spPr>
          <a:xfrm>
            <a:off x="6706588" y="3990989"/>
            <a:ext cx="1367431"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Purchase </a:t>
            </a:r>
            <a:endParaRPr lang="en-IN" sz="1600" dirty="0"/>
          </a:p>
        </p:txBody>
      </p:sp>
      <p:sp>
        <p:nvSpPr>
          <p:cNvPr id="22" name="Rounded Rectangle 21"/>
          <p:cNvSpPr/>
          <p:nvPr/>
        </p:nvSpPr>
        <p:spPr>
          <a:xfrm>
            <a:off x="10265363" y="3790963"/>
            <a:ext cx="1513881" cy="420438"/>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3" name="Rounded Rectangle 22"/>
          <p:cNvSpPr/>
          <p:nvPr/>
        </p:nvSpPr>
        <p:spPr>
          <a:xfrm>
            <a:off x="10484438" y="3921702"/>
            <a:ext cx="1513881" cy="420438"/>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a:t>Manohar-G</a:t>
            </a:r>
            <a:endParaRPr lang="en-IN" sz="1600" dirty="0"/>
          </a:p>
        </p:txBody>
      </p:sp>
      <p:sp>
        <p:nvSpPr>
          <p:cNvPr id="24" name="Rounded Rectangle 23"/>
          <p:cNvSpPr/>
          <p:nvPr/>
        </p:nvSpPr>
        <p:spPr>
          <a:xfrm>
            <a:off x="6935189" y="5334361"/>
            <a:ext cx="1529951" cy="421521"/>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5" name="Rounded Rectangle 24"/>
          <p:cNvSpPr/>
          <p:nvPr/>
        </p:nvSpPr>
        <p:spPr>
          <a:xfrm>
            <a:off x="7154264" y="5534386"/>
            <a:ext cx="1529951" cy="485387"/>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Derek-yang</a:t>
            </a:r>
            <a:endParaRPr lang="en-IN" sz="1600" dirty="0"/>
          </a:p>
        </p:txBody>
      </p:sp>
      <p:sp>
        <p:nvSpPr>
          <p:cNvPr id="26" name="Rounded Rectangle 25"/>
          <p:cNvSpPr/>
          <p:nvPr/>
        </p:nvSpPr>
        <p:spPr>
          <a:xfrm>
            <a:off x="1691697" y="5350407"/>
            <a:ext cx="1753788" cy="422604"/>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7" name="Rounded Rectangle 26"/>
          <p:cNvSpPr/>
          <p:nvPr/>
        </p:nvSpPr>
        <p:spPr>
          <a:xfrm>
            <a:off x="1787521" y="5550432"/>
            <a:ext cx="1877039" cy="56752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Chandrasekhar-v</a:t>
            </a:r>
          </a:p>
        </p:txBody>
      </p:sp>
      <p:sp>
        <p:nvSpPr>
          <p:cNvPr id="28" name="Rounded Rectangle 27"/>
          <p:cNvSpPr/>
          <p:nvPr/>
        </p:nvSpPr>
        <p:spPr>
          <a:xfrm>
            <a:off x="4458699" y="5325886"/>
            <a:ext cx="1463276" cy="421520"/>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9" name="Rounded Rectangle 28"/>
          <p:cNvSpPr/>
          <p:nvPr/>
        </p:nvSpPr>
        <p:spPr>
          <a:xfrm>
            <a:off x="4677774" y="5497314"/>
            <a:ext cx="1463276" cy="52246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Nagarjuna</a:t>
            </a:r>
            <a:endParaRPr lang="en-IN" sz="1600" dirty="0"/>
          </a:p>
        </p:txBody>
      </p:sp>
      <p:sp>
        <p:nvSpPr>
          <p:cNvPr id="30" name="Rounded Rectangle 29"/>
          <p:cNvSpPr/>
          <p:nvPr/>
        </p:nvSpPr>
        <p:spPr>
          <a:xfrm>
            <a:off x="9343232" y="5339232"/>
            <a:ext cx="1549595" cy="421521"/>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31" name="Rounded Rectangle 30"/>
          <p:cNvSpPr/>
          <p:nvPr/>
        </p:nvSpPr>
        <p:spPr>
          <a:xfrm>
            <a:off x="9562307" y="5539257"/>
            <a:ext cx="1549595" cy="421521"/>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Balaji-v</a:t>
            </a:r>
            <a:endParaRPr lang="en-IN" sz="1600" dirty="0"/>
          </a:p>
        </p:txBody>
      </p:sp>
      <p:sp>
        <p:nvSpPr>
          <p:cNvPr id="32" name="Rounded Rectangle 31"/>
          <p:cNvSpPr/>
          <p:nvPr/>
        </p:nvSpPr>
        <p:spPr>
          <a:xfrm>
            <a:off x="8430613" y="3790964"/>
            <a:ext cx="1396600"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33" name="Rounded Rectangle 32"/>
          <p:cNvSpPr/>
          <p:nvPr/>
        </p:nvSpPr>
        <p:spPr>
          <a:xfrm>
            <a:off x="8649688" y="3990989"/>
            <a:ext cx="1396600"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Warehouse </a:t>
            </a:r>
            <a:endParaRPr lang="en-IN" sz="1600" dirty="0"/>
          </a:p>
        </p:txBody>
      </p:sp>
      <p:sp>
        <p:nvSpPr>
          <p:cNvPr id="34" name="Rounded Rectangle 33"/>
          <p:cNvSpPr/>
          <p:nvPr/>
        </p:nvSpPr>
        <p:spPr>
          <a:xfrm>
            <a:off x="4677774" y="6117952"/>
            <a:ext cx="1463276" cy="498326"/>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Rakhi </a:t>
            </a:r>
            <a:endParaRPr lang="en-IN" sz="1600" dirty="0"/>
          </a:p>
        </p:txBody>
      </p:sp>
      <p:sp>
        <p:nvSpPr>
          <p:cNvPr id="35" name="Rounded Rectangle 34"/>
          <p:cNvSpPr/>
          <p:nvPr/>
        </p:nvSpPr>
        <p:spPr>
          <a:xfrm>
            <a:off x="1834551" y="6154539"/>
            <a:ext cx="1877039" cy="56752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a:t>Syamsundar-r</a:t>
            </a:r>
            <a:endParaRPr lang="en-IN" sz="1600" dirty="0"/>
          </a:p>
        </p:txBody>
      </p:sp>
      <p:cxnSp>
        <p:nvCxnSpPr>
          <p:cNvPr id="36" name="Straight Arrow Connector 35"/>
          <p:cNvCxnSpPr/>
          <p:nvPr/>
        </p:nvCxnSpPr>
        <p:spPr>
          <a:xfrm>
            <a:off x="5992806" y="1182041"/>
            <a:ext cx="0" cy="285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37" name="Straight Arrow Connector 36"/>
          <p:cNvCxnSpPr/>
          <p:nvPr/>
        </p:nvCxnSpPr>
        <p:spPr>
          <a:xfrm flipH="1">
            <a:off x="1407103" y="2642159"/>
            <a:ext cx="13703" cy="1079518"/>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38" name="Straight Arrow Connector 37"/>
          <p:cNvCxnSpPr/>
          <p:nvPr/>
        </p:nvCxnSpPr>
        <p:spPr>
          <a:xfrm>
            <a:off x="10868430" y="2807277"/>
            <a:ext cx="24397" cy="91440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a:off x="2906706" y="448367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5278431" y="448367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1" name="Straight Arrow Connector 40"/>
          <p:cNvCxnSpPr/>
          <p:nvPr/>
        </p:nvCxnSpPr>
        <p:spPr>
          <a:xfrm>
            <a:off x="7298337" y="448367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2" name="Straight Arrow Connector 41"/>
          <p:cNvCxnSpPr/>
          <p:nvPr/>
        </p:nvCxnSpPr>
        <p:spPr>
          <a:xfrm>
            <a:off x="9562307" y="448367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p:nvPr/>
        </p:nvCxnSpPr>
        <p:spPr>
          <a:xfrm>
            <a:off x="9125948" y="306522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4" name="Straight Arrow Connector 43"/>
          <p:cNvCxnSpPr/>
          <p:nvPr/>
        </p:nvCxnSpPr>
        <p:spPr>
          <a:xfrm>
            <a:off x="7171228" y="3017602"/>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5" name="Straight Arrow Connector 44"/>
          <p:cNvCxnSpPr/>
          <p:nvPr/>
        </p:nvCxnSpPr>
        <p:spPr>
          <a:xfrm>
            <a:off x="5296312" y="305492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6" name="Straight Arrow Connector 45"/>
          <p:cNvCxnSpPr/>
          <p:nvPr/>
        </p:nvCxnSpPr>
        <p:spPr>
          <a:xfrm>
            <a:off x="3326103" y="3065227"/>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7" name="Straight Arrow Connector 46"/>
          <p:cNvCxnSpPr/>
          <p:nvPr/>
        </p:nvCxnSpPr>
        <p:spPr>
          <a:xfrm>
            <a:off x="6141050" y="2642159"/>
            <a:ext cx="0" cy="346093"/>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8" name="Straight Connector 47"/>
          <p:cNvCxnSpPr/>
          <p:nvPr/>
        </p:nvCxnSpPr>
        <p:spPr>
          <a:xfrm flipV="1">
            <a:off x="3326103" y="3032258"/>
            <a:ext cx="5814706" cy="14981"/>
          </a:xfrm>
          <a:prstGeom prst="line">
            <a:avLst/>
          </a:prstGeom>
          <a:noFill/>
          <a:ln w="28575" cap="flat" cmpd="sng" algn="ctr">
            <a:solidFill>
              <a:srgbClr val="1641F6"/>
            </a:solidFill>
            <a:prstDash val="sysDot"/>
          </a:ln>
          <a:effectLst>
            <a:outerShdw blurRad="50800" dist="38100" dir="10800000" algn="r" rotWithShape="0">
              <a:prstClr val="black">
                <a:alpha val="40000"/>
              </a:prstClr>
            </a:outerShdw>
          </a:effectLst>
          <a:scene3d>
            <a:camera prst="orthographicFront"/>
            <a:lightRig rig="threePt" dir="t"/>
          </a:scene3d>
          <a:sp3d>
            <a:bevelT/>
          </a:sp3d>
        </p:spPr>
      </p:cxnSp>
      <p:cxnSp>
        <p:nvCxnSpPr>
          <p:cNvPr id="49" name="Straight Arrow Connector 48"/>
          <p:cNvCxnSpPr/>
          <p:nvPr/>
        </p:nvCxnSpPr>
        <p:spPr>
          <a:xfrm>
            <a:off x="1838729" y="1396353"/>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0" name="Straight Arrow Connector 49"/>
          <p:cNvCxnSpPr/>
          <p:nvPr/>
        </p:nvCxnSpPr>
        <p:spPr>
          <a:xfrm>
            <a:off x="5992806" y="1396353"/>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1" name="Straight Arrow Connector 50"/>
          <p:cNvCxnSpPr/>
          <p:nvPr/>
        </p:nvCxnSpPr>
        <p:spPr>
          <a:xfrm>
            <a:off x="10337104" y="1396353"/>
            <a:ext cx="0" cy="523875"/>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3" name="Straight Connector 2"/>
          <p:cNvCxnSpPr/>
          <p:nvPr/>
        </p:nvCxnSpPr>
        <p:spPr>
          <a:xfrm>
            <a:off x="1456010" y="1396353"/>
            <a:ext cx="92005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1566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0" y="-16424"/>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项目</a:t>
            </a:r>
            <a:r>
              <a:rPr lang="zh-CN" altLang="en-US"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组织 </a:t>
            </a:r>
            <a:r>
              <a:rPr lang="en-US" altLang="zh-C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Project Organization</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sp>
        <p:nvSpPr>
          <p:cNvPr id="6" name="Rectangle 10">
            <a:extLst>
              <a:ext uri="{FF2B5EF4-FFF2-40B4-BE49-F238E27FC236}">
                <a16:creationId xmlns:a16="http://schemas.microsoft.com/office/drawing/2014/main" xmlns="" id="{19B6DAFC-99A8-AC46-A84B-2DA2D46DC801}"/>
              </a:ext>
            </a:extLst>
          </p:cNvPr>
          <p:cNvSpPr>
            <a:spLocks noChangeArrowheads="1"/>
          </p:cNvSpPr>
          <p:nvPr/>
        </p:nvSpPr>
        <p:spPr bwMode="auto">
          <a:xfrm>
            <a:off x="3947012" y="637232"/>
            <a:ext cx="4603895" cy="290433"/>
          </a:xfrm>
          <a:prstGeom prst="rect">
            <a:avLst/>
          </a:prstGeom>
          <a:ln/>
        </p:spPr>
        <p:style>
          <a:lnRef idx="1">
            <a:schemeClr val="accent5"/>
          </a:lnRef>
          <a:fillRef idx="2">
            <a:schemeClr val="accent5"/>
          </a:fillRef>
          <a:effectRef idx="1">
            <a:schemeClr val="accent5"/>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a:t>
            </a:r>
            <a:r>
              <a:rPr lang="zh-TW" altLang="en-US" sz="1449" b="1" kern="0" dirty="0" smtClean="0">
                <a:solidFill>
                  <a:srgbClr val="FFFFFF"/>
                </a:solidFill>
                <a:latin typeface="微软雅黑" panose="020B0503020204020204" pitchFamily="34" charset="-122"/>
                <a:ea typeface="微软雅黑" panose="020B0503020204020204" pitchFamily="34" charset="-122"/>
                <a:cs typeface="微软雅黑" charset="0"/>
              </a:rPr>
              <a:t>Sponsors</a:t>
            </a:r>
            <a:endPar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7" name="Rectangle 37">
            <a:extLst>
              <a:ext uri="{FF2B5EF4-FFF2-40B4-BE49-F238E27FC236}">
                <a16:creationId xmlns:a16="http://schemas.microsoft.com/office/drawing/2014/main" xmlns="" id="{0D3DE909-6DB0-C945-932D-31764274D12F}"/>
              </a:ext>
            </a:extLst>
          </p:cNvPr>
          <p:cNvSpPr>
            <a:spLocks noChangeArrowheads="1"/>
          </p:cNvSpPr>
          <p:nvPr/>
        </p:nvSpPr>
        <p:spPr bwMode="auto">
          <a:xfrm>
            <a:off x="4095257" y="1588298"/>
            <a:ext cx="4146487" cy="235369"/>
          </a:xfrm>
          <a:prstGeom prst="rect">
            <a:avLst/>
          </a:prstGeom>
          <a:ln/>
        </p:spPr>
        <p:style>
          <a:lnRef idx="1">
            <a:schemeClr val="accent1"/>
          </a:lnRef>
          <a:fillRef idx="2">
            <a:schemeClr val="accent1"/>
          </a:fillRef>
          <a:effectRef idx="1">
            <a:schemeClr val="accent1"/>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Group Management </a:t>
            </a:r>
            <a:r>
              <a:rPr lang="zh-CN" altLang="en-US" sz="1449" b="1" kern="0" dirty="0">
                <a:solidFill>
                  <a:srgbClr val="FFFFFF"/>
                </a:solidFill>
                <a:latin typeface="微软雅黑" panose="020B0503020204020204" pitchFamily="34" charset="-122"/>
                <a:ea typeface="微软雅黑" panose="020B0503020204020204" pitchFamily="34" charset="-122"/>
                <a:cs typeface="微软雅黑" charset="0"/>
              </a:rPr>
              <a:t>Office </a:t>
            </a:r>
            <a:r>
              <a:rPr lang="en-US" altLang="zh-CN" sz="1449" b="1" kern="0" dirty="0">
                <a:solidFill>
                  <a:srgbClr val="FFFFFF"/>
                </a:solidFill>
                <a:latin typeface="微软雅黑" panose="020B0503020204020204" pitchFamily="34" charset="-122"/>
                <a:ea typeface="微软雅黑" panose="020B0503020204020204" pitchFamily="34" charset="-122"/>
                <a:cs typeface="微软雅黑" charset="0"/>
              </a:rPr>
              <a:t>(PMO)</a:t>
            </a:r>
            <a:endParaRPr lang="en-GB" altLang="zh-CN"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8" name="矩形 8">
            <a:extLst>
              <a:ext uri="{FF2B5EF4-FFF2-40B4-BE49-F238E27FC236}">
                <a16:creationId xmlns:a16="http://schemas.microsoft.com/office/drawing/2014/main" xmlns="" id="{2BA65BC8-D98F-5E41-82D6-ACFA20A1581B}"/>
              </a:ext>
            </a:extLst>
          </p:cNvPr>
          <p:cNvSpPr>
            <a:spLocks noChangeArrowheads="1"/>
          </p:cNvSpPr>
          <p:nvPr/>
        </p:nvSpPr>
        <p:spPr bwMode="auto">
          <a:xfrm>
            <a:off x="4101642" y="1823667"/>
            <a:ext cx="4133715" cy="729786"/>
          </a:xfrm>
          <a:prstGeom prst="rect">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zh-CN" altLang="en-US" sz="1100" dirty="0" smtClean="0">
                <a:latin typeface="微软雅黑" panose="020B0503020204020204" pitchFamily="34" charset="-122"/>
                <a:ea typeface="微软雅黑" panose="020B0503020204020204" pitchFamily="34" charset="-122"/>
                <a:cs typeface="微软雅黑" charset="0"/>
              </a:rPr>
              <a:t>              Project </a:t>
            </a:r>
            <a:r>
              <a:rPr lang="zh-CN" altLang="en-US" sz="1100" dirty="0">
                <a:latin typeface="微软雅黑" panose="020B0503020204020204" pitchFamily="34" charset="-122"/>
                <a:ea typeface="微软雅黑" panose="020B0503020204020204" pitchFamily="34" charset="-122"/>
                <a:cs typeface="微软雅黑" charset="0"/>
              </a:rPr>
              <a:t>Director: </a:t>
            </a:r>
            <a:r>
              <a:rPr lang="en-US" altLang="zh-CN" sz="1100" dirty="0" smtClean="0">
                <a:latin typeface="微软雅黑" panose="020B0503020204020204" pitchFamily="34" charset="-122"/>
                <a:ea typeface="微软雅黑" panose="020B0503020204020204" pitchFamily="34" charset="-122"/>
                <a:cs typeface="微软雅黑" charset="0"/>
              </a:rPr>
              <a:t>Chandra (IT)         </a:t>
            </a:r>
            <a:endParaRPr lang="en-US" altLang="zh-CN" sz="1100" dirty="0">
              <a:latin typeface="微软雅黑" panose="020B0503020204020204" pitchFamily="34" charset="-122"/>
              <a:ea typeface="微软雅黑" panose="020B0503020204020204" pitchFamily="34" charset="-122"/>
              <a:cs typeface="微软雅黑" charset="0"/>
            </a:endParaRPr>
          </a:p>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100" dirty="0">
                <a:latin typeface="微软雅黑" panose="020B0503020204020204" pitchFamily="34" charset="-122"/>
                <a:ea typeface="微软雅黑" panose="020B0503020204020204" pitchFamily="34" charset="-122"/>
                <a:cs typeface="微软雅黑" charset="0"/>
              </a:rPr>
              <a:t> </a:t>
            </a:r>
            <a:r>
              <a:rPr lang="en-US" altLang="zh-CN" sz="1100" dirty="0" smtClean="0">
                <a:latin typeface="微软雅黑" panose="020B0503020204020204" pitchFamily="34" charset="-122"/>
                <a:ea typeface="微软雅黑" panose="020B0503020204020204" pitchFamily="34" charset="-122"/>
                <a:cs typeface="微软雅黑" charset="0"/>
              </a:rPr>
              <a:t>            </a:t>
            </a:r>
            <a:r>
              <a:rPr lang="zh-CN" altLang="en-US" sz="1100" dirty="0" smtClean="0">
                <a:latin typeface="微软雅黑" panose="020B0503020204020204" pitchFamily="34" charset="-122"/>
                <a:ea typeface="微软雅黑" panose="020B0503020204020204" pitchFamily="34" charset="-122"/>
                <a:cs typeface="微软雅黑" charset="0"/>
              </a:rPr>
              <a:t>Project </a:t>
            </a:r>
            <a:r>
              <a:rPr lang="zh-CN" altLang="en-US" sz="1100" dirty="0">
                <a:latin typeface="微软雅黑" panose="020B0503020204020204" pitchFamily="34" charset="-122"/>
                <a:ea typeface="微软雅黑" panose="020B0503020204020204" pitchFamily="34" charset="-122"/>
                <a:cs typeface="微软雅黑" charset="0"/>
              </a:rPr>
              <a:t>Manager</a:t>
            </a:r>
            <a:r>
              <a:rPr lang="en-US" altLang="zh-CN" sz="1100" dirty="0">
                <a:latin typeface="微软雅黑" panose="020B0503020204020204" pitchFamily="34" charset="-122"/>
                <a:ea typeface="微软雅黑" panose="020B0503020204020204" pitchFamily="34" charset="-122"/>
                <a:cs typeface="微软雅黑" charset="0"/>
              </a:rPr>
              <a:t>-APC: </a:t>
            </a:r>
            <a:r>
              <a:rPr lang="en-US" altLang="zh-CN" sz="1100" dirty="0" smtClean="0">
                <a:latin typeface="微软雅黑" panose="020B0503020204020204" pitchFamily="34" charset="-122"/>
                <a:ea typeface="微软雅黑" panose="020B0503020204020204" pitchFamily="34" charset="-122"/>
                <a:cs typeface="微软雅黑" charset="0"/>
              </a:rPr>
              <a:t>Manohar-g </a:t>
            </a:r>
            <a:r>
              <a:rPr lang="zh-CN" altLang="en-US" sz="1100" dirty="0" smtClean="0">
                <a:latin typeface="微软雅黑" panose="020B0503020204020204" pitchFamily="34" charset="-122"/>
                <a:ea typeface="微软雅黑" panose="020B0503020204020204" pitchFamily="34" charset="-122"/>
                <a:cs typeface="微软雅黑" charset="0"/>
              </a:rPr>
              <a:t>(</a:t>
            </a:r>
            <a:r>
              <a:rPr lang="en-US" altLang="zh-CN" sz="1100" dirty="0">
                <a:latin typeface="微软雅黑" panose="020B0503020204020204" pitchFamily="34" charset="-122"/>
                <a:ea typeface="微软雅黑" panose="020B0503020204020204" pitchFamily="34" charset="-122"/>
                <a:cs typeface="微软雅黑" charset="0"/>
              </a:rPr>
              <a:t>IT</a:t>
            </a:r>
            <a:r>
              <a:rPr lang="zh-CN" altLang="en-US" sz="1100" dirty="0" smtClean="0">
                <a:latin typeface="微软雅黑" panose="020B0503020204020204" pitchFamily="34" charset="-122"/>
                <a:ea typeface="微软雅黑" panose="020B0503020204020204" pitchFamily="34" charset="-122"/>
                <a:cs typeface="微软雅黑" charset="0"/>
              </a:rPr>
              <a:t>) </a:t>
            </a:r>
            <a:endParaRPr lang="en-US" altLang="zh-TW" sz="1100" dirty="0">
              <a:latin typeface="微软雅黑" panose="020B0503020204020204" pitchFamily="34" charset="-122"/>
              <a:ea typeface="微软雅黑" panose="020B0503020204020204" pitchFamily="34" charset="-122"/>
              <a:cs typeface="微软雅黑" charset="0"/>
            </a:endParaRPr>
          </a:p>
        </p:txBody>
      </p:sp>
      <p:sp>
        <p:nvSpPr>
          <p:cNvPr id="9" name="Rectangle 106">
            <a:extLst>
              <a:ext uri="{FF2B5EF4-FFF2-40B4-BE49-F238E27FC236}">
                <a16:creationId xmlns:a16="http://schemas.microsoft.com/office/drawing/2014/main" xmlns="" id="{53D57F36-C75E-418A-88D4-781CE66FEBFA}"/>
              </a:ext>
            </a:extLst>
          </p:cNvPr>
          <p:cNvSpPr/>
          <p:nvPr/>
        </p:nvSpPr>
        <p:spPr>
          <a:xfrm>
            <a:off x="631240" y="3508239"/>
            <a:ext cx="10431126" cy="2878024"/>
          </a:xfrm>
          <a:prstGeom prst="rect">
            <a:avLst/>
          </a:prstGeom>
          <a:ln/>
        </p:spPr>
        <p:style>
          <a:lnRef idx="1">
            <a:schemeClr val="accent2"/>
          </a:lnRef>
          <a:fillRef idx="2">
            <a:schemeClr val="accent2"/>
          </a:fillRef>
          <a:effectRef idx="1">
            <a:schemeClr val="accent2"/>
          </a:effectRef>
          <a:fontRef idx="minor">
            <a:schemeClr val="dk1"/>
          </a:fontRef>
        </p:style>
        <p:txBody>
          <a:bodyPr lIns="108800" tIns="54401" rIns="108800" bIns="54401" anchor="t" anchorCtr="1"/>
          <a:lstStyle/>
          <a:p>
            <a:pPr marL="0" marR="0" lvl="0" indent="0" algn="ctr" defTabSz="543995" eaLnBrk="0" fontAlgn="base" latinLnBrk="0" hangingPunct="0">
              <a:lnSpc>
                <a:spcPct val="90000"/>
              </a:lnSpc>
              <a:spcBef>
                <a:spcPts val="357"/>
              </a:spcBef>
              <a:spcAft>
                <a:spcPct val="0"/>
              </a:spcAft>
              <a:buClr>
                <a:srgbClr val="7889FB"/>
              </a:buClr>
              <a:buSzPct val="100000"/>
              <a:buFontTx/>
              <a:buNone/>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kumimoji="0" lang="zh-CN" altLang="en-US"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charset="0"/>
              </a:rPr>
              <a:t>Core Business Process Group</a:t>
            </a:r>
          </a:p>
        </p:txBody>
      </p:sp>
      <p:sp>
        <p:nvSpPr>
          <p:cNvPr id="10"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1037460" y="4092020"/>
            <a:ext cx="1733266" cy="434125"/>
          </a:xfrm>
          <a:prstGeom prst="rect">
            <a:avLst/>
          </a:prstGeom>
          <a:ln/>
        </p:spPr>
        <p:style>
          <a:lnRef idx="1">
            <a:schemeClr val="accent6"/>
          </a:lnRef>
          <a:fillRef idx="2">
            <a:schemeClr val="accent6"/>
          </a:fillRef>
          <a:effectRef idx="1">
            <a:schemeClr val="accent6"/>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Planning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1"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737362" y="4616185"/>
            <a:ext cx="2405042"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Nagarjuna</a:t>
            </a:r>
            <a:r>
              <a:rPr lang="en-US" altLang="zh-CN" sz="1000" b="1" kern="0" dirty="0" smtClean="0">
                <a:latin typeface="微软雅黑" panose="020B0503020204020204" pitchFamily="34" charset="-122"/>
                <a:ea typeface="微软雅黑" panose="020B0503020204020204" pitchFamily="34" charset="-122"/>
              </a:rPr>
              <a:t>,</a:t>
            </a: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Rakhi</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
        <p:nvSpPr>
          <p:cNvPr id="12" name="文本框 1"/>
          <p:cNvSpPr txBox="1"/>
          <p:nvPr/>
        </p:nvSpPr>
        <p:spPr>
          <a:xfrm>
            <a:off x="4470705" y="2995592"/>
            <a:ext cx="4076994" cy="369332"/>
          </a:xfrm>
          <a:prstGeom prst="rect">
            <a:avLst/>
          </a:prstGeom>
          <a:noFill/>
        </p:spPr>
        <p:txBody>
          <a:bodyPr wrap="square" rtlCol="0">
            <a:spAutoFit/>
          </a:bodyPr>
          <a:lstStyle/>
          <a:p>
            <a:r>
              <a:rPr lang="en-US" altLang="zh-CN" b="1" dirty="0">
                <a:solidFill>
                  <a:schemeClr val="tx1"/>
                </a:solidFill>
                <a:latin typeface="+mj-ea"/>
                <a:ea typeface="+mj-ea"/>
              </a:rPr>
              <a:t>BPO: business process owner</a:t>
            </a:r>
            <a:endParaRPr lang="zh-CN" altLang="en-US" b="1" dirty="0">
              <a:solidFill>
                <a:schemeClr val="tx1"/>
              </a:solidFill>
              <a:latin typeface="+mj-ea"/>
              <a:ea typeface="+mj-ea"/>
            </a:endParaRPr>
          </a:p>
        </p:txBody>
      </p:sp>
      <p:sp>
        <p:nvSpPr>
          <p:cNvPr id="13" name="Rectangle 44">
            <a:extLst>
              <a:ext uri="{FF2B5EF4-FFF2-40B4-BE49-F238E27FC236}">
                <a16:creationId xmlns:a16="http://schemas.microsoft.com/office/drawing/2014/main" xmlns="" id="{8BA07AA3-4F68-40A9-A3C0-DD27E6795C63}"/>
              </a:ext>
            </a:extLst>
          </p:cNvPr>
          <p:cNvSpPr>
            <a:spLocks noChangeArrowheads="1"/>
          </p:cNvSpPr>
          <p:nvPr/>
        </p:nvSpPr>
        <p:spPr bwMode="auto">
          <a:xfrm>
            <a:off x="8715000" y="4075083"/>
            <a:ext cx="1937982" cy="406893"/>
          </a:xfrm>
          <a:prstGeom prst="rect">
            <a:avLst/>
          </a:prstGeom>
          <a:ln/>
        </p:spPr>
        <p:style>
          <a:lnRef idx="1">
            <a:schemeClr val="accent6"/>
          </a:lnRef>
          <a:fillRef idx="2">
            <a:schemeClr val="accent6"/>
          </a:fillRef>
          <a:effectRef idx="1">
            <a:schemeClr val="accent6"/>
          </a:effectRef>
          <a:fontRef idx="minor">
            <a:schemeClr val="dk1"/>
          </a:fontRef>
        </p:style>
        <p:txBody>
          <a:bodyPr lIns="108800" tIns="54401" rIns="108800" bIns="54401" anchor="ctr" anchorCtr="1"/>
          <a:lstStyle/>
          <a:p>
            <a:pPr algn="ct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000" b="1" kern="0" dirty="0" smtClean="0">
                <a:solidFill>
                  <a:prstClr val="white"/>
                </a:solidFill>
                <a:latin typeface="微软雅黑" panose="020B0503020204020204" pitchFamily="34" charset="-122"/>
                <a:ea typeface="微软雅黑" panose="020B0503020204020204" pitchFamily="34" charset="-122"/>
                <a:cs typeface="微软雅黑" charset="0"/>
              </a:rPr>
              <a:t>APC IT</a:t>
            </a:r>
            <a:endParaRPr lang="zh-CN" altLang="en-GB" sz="10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4" name="Rectangle 34">
            <a:extLst>
              <a:ext uri="{FF2B5EF4-FFF2-40B4-BE49-F238E27FC236}">
                <a16:creationId xmlns:a16="http://schemas.microsoft.com/office/drawing/2014/main" xmlns="" id="{F47F8B38-6711-4939-9F26-0ECD9C502EAE}"/>
              </a:ext>
            </a:extLst>
          </p:cNvPr>
          <p:cNvSpPr>
            <a:spLocks noChangeArrowheads="1"/>
          </p:cNvSpPr>
          <p:nvPr/>
        </p:nvSpPr>
        <p:spPr bwMode="auto">
          <a:xfrm>
            <a:off x="8324871" y="4568283"/>
            <a:ext cx="2630370" cy="1474420"/>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pPr>
            <a:endParaRPr lang="en-US" altLang="zh-CN" sz="1000" b="1" kern="0" dirty="0">
              <a:solidFill>
                <a:srgbClr val="FF0000"/>
              </a:solidFill>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pPr>
            <a:r>
              <a:rPr lang="en-US" altLang="zh-CN" sz="1000" b="1" kern="0" dirty="0">
                <a:solidFill>
                  <a:srgbClr val="FF0000"/>
                </a:solidFill>
                <a:latin typeface="微软雅黑" panose="020B0503020204020204" pitchFamily="34" charset="-122"/>
                <a:ea typeface="微软雅黑" panose="020B0503020204020204" pitchFamily="34" charset="-122"/>
              </a:rPr>
              <a:t>     Team Leader           : </a:t>
            </a:r>
            <a:r>
              <a:rPr lang="en-US" altLang="zh-CN" sz="1000" b="1" kern="0" dirty="0">
                <a:solidFill>
                  <a:schemeClr val="tx1"/>
                </a:solidFill>
                <a:latin typeface="微软雅黑" panose="020B0503020204020204" pitchFamily="34" charset="-122"/>
                <a:ea typeface="微软雅黑" panose="020B0503020204020204" pitchFamily="34" charset="-122"/>
              </a:rPr>
              <a:t>Syamsundar-r </a:t>
            </a:r>
          </a:p>
          <a:p>
            <a:pPr algn="ctr" defTabSz="543995" eaLnBrk="0" fontAlgn="base" hangingPunct="0">
              <a:lnSpc>
                <a:spcPct val="104000"/>
              </a:lnSpc>
              <a:spcBef>
                <a:spcPct val="20000"/>
              </a:spcBef>
              <a:spcAft>
                <a:spcPct val="0"/>
              </a:spcAft>
              <a:buClr>
                <a:srgbClr val="7889FB"/>
              </a:buClr>
              <a:buSzPct val="70000"/>
              <a:tabLst>
                <a:tab pos="10139437" algn="r"/>
              </a:tabLst>
            </a:pPr>
            <a:r>
              <a:rPr lang="en-US" altLang="zh-CN" sz="1000" b="1" kern="0" dirty="0">
                <a:solidFill>
                  <a:srgbClr val="FF0000"/>
                </a:solidFill>
                <a:latin typeface="微软雅黑" panose="020B0503020204020204" pitchFamily="34" charset="-122"/>
                <a:ea typeface="微软雅黑" panose="020B0503020204020204" pitchFamily="34" charset="-122"/>
              </a:rPr>
              <a:t>Project Developers :  </a:t>
            </a:r>
            <a:r>
              <a:rPr lang="en-US" altLang="zh-CN" sz="1000" b="1" kern="0" dirty="0">
                <a:solidFill>
                  <a:schemeClr val="tx1"/>
                </a:solidFill>
                <a:latin typeface="微软雅黑" panose="020B0503020204020204" pitchFamily="34" charset="-122"/>
                <a:ea typeface="微软雅黑" panose="020B0503020204020204" pitchFamily="34" charset="-122"/>
              </a:rPr>
              <a:t>Manohar-g</a:t>
            </a:r>
            <a:r>
              <a:rPr lang="en-US" altLang="zh-CN" sz="1000" b="1" kern="0" dirty="0">
                <a:solidFill>
                  <a:srgbClr val="FF0000"/>
                </a:solidFill>
                <a:latin typeface="微软雅黑" panose="020B0503020204020204" pitchFamily="34" charset="-122"/>
                <a:ea typeface="微软雅黑" panose="020B0503020204020204" pitchFamily="34" charset="-122"/>
              </a:rPr>
              <a:t> </a:t>
            </a:r>
          </a:p>
          <a:p>
            <a:pPr algn="ctr" defTabSz="543995" eaLnBrk="0" fontAlgn="base" hangingPunct="0">
              <a:lnSpc>
                <a:spcPct val="104000"/>
              </a:lnSpc>
              <a:spcBef>
                <a:spcPct val="20000"/>
              </a:spcBef>
              <a:spcAft>
                <a:spcPct val="0"/>
              </a:spcAft>
              <a:buClr>
                <a:srgbClr val="7889FB"/>
              </a:buClr>
              <a:buSzPct val="70000"/>
              <a:tabLst>
                <a:tab pos="10139437" algn="r"/>
              </a:tabLst>
            </a:pPr>
            <a:r>
              <a:rPr lang="en-US" altLang="zh-CN" sz="1000" b="1" kern="0" dirty="0">
                <a:solidFill>
                  <a:srgbClr val="FF0000"/>
                </a:solidFill>
                <a:latin typeface="微软雅黑" panose="020B0503020204020204" pitchFamily="34" charset="-122"/>
                <a:ea typeface="微软雅黑" panose="020B0503020204020204" pitchFamily="34" charset="-122"/>
              </a:rPr>
              <a:t>                                   </a:t>
            </a:r>
          </a:p>
        </p:txBody>
      </p:sp>
      <p:sp>
        <p:nvSpPr>
          <p:cNvPr id="15" name="Rectangle 31">
            <a:extLst>
              <a:ext uri="{FF2B5EF4-FFF2-40B4-BE49-F238E27FC236}">
                <a16:creationId xmlns:a16="http://schemas.microsoft.com/office/drawing/2014/main" xmlns="" id="{64E2BF76-3F93-ED46-A6C5-3B3C5EE16641}"/>
              </a:ext>
            </a:extLst>
          </p:cNvPr>
          <p:cNvSpPr>
            <a:spLocks noChangeArrowheads="1"/>
          </p:cNvSpPr>
          <p:nvPr/>
        </p:nvSpPr>
        <p:spPr bwMode="auto">
          <a:xfrm>
            <a:off x="837026" y="1419356"/>
            <a:ext cx="2682547" cy="337884"/>
          </a:xfrm>
          <a:prstGeom prst="rect">
            <a:avLst/>
          </a:prstGeom>
          <a:ln/>
        </p:spPr>
        <p:style>
          <a:lnRef idx="1">
            <a:schemeClr val="accent1"/>
          </a:lnRef>
          <a:fillRef idx="2">
            <a:schemeClr val="accent1"/>
          </a:fillRef>
          <a:effectRef idx="1">
            <a:schemeClr val="accent1"/>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200" b="1" kern="0" dirty="0">
                <a:solidFill>
                  <a:srgbClr val="FFFFFF"/>
                </a:solidFill>
                <a:latin typeface="微软雅黑" panose="020B0503020204020204" pitchFamily="34" charset="-122"/>
                <a:ea typeface="微软雅黑" panose="020B0503020204020204" pitchFamily="34" charset="-122"/>
                <a:cs typeface="微软雅黑" charset="0"/>
              </a:rPr>
              <a:t>Steering</a:t>
            </a:r>
            <a:r>
              <a:rPr lang="en-US" altLang="zh-TW" sz="1200" b="1" kern="0" dirty="0" smtClean="0">
                <a:solidFill>
                  <a:srgbClr val="FFFFFF"/>
                </a:solidFill>
                <a:latin typeface="微软雅黑" panose="020B0503020204020204" pitchFamily="34" charset="-122"/>
                <a:ea typeface="微软雅黑" panose="020B0503020204020204" pitchFamily="34" charset="-122"/>
                <a:cs typeface="微软雅黑" charset="0"/>
              </a:rPr>
              <a:t> </a:t>
            </a:r>
            <a:r>
              <a:rPr lang="zh-TW" altLang="en-US" sz="1200" b="1" kern="0" dirty="0" smtClean="0">
                <a:solidFill>
                  <a:srgbClr val="FFFFFF"/>
                </a:solidFill>
                <a:latin typeface="微软雅黑" panose="020B0503020204020204" pitchFamily="34" charset="-122"/>
                <a:ea typeface="微软雅黑" panose="020B0503020204020204" pitchFamily="34" charset="-122"/>
                <a:cs typeface="微软雅黑" charset="0"/>
              </a:rPr>
              <a:t>Committee</a:t>
            </a:r>
            <a:endParaRPr lang="zh-CN" altLang="en-GB" sz="1200"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16" name="Rectangle 32">
            <a:extLst>
              <a:ext uri="{FF2B5EF4-FFF2-40B4-BE49-F238E27FC236}">
                <a16:creationId xmlns:a16="http://schemas.microsoft.com/office/drawing/2014/main" xmlns="" id="{012333FD-DB28-C345-8720-FC2F9D8979FA}"/>
              </a:ext>
            </a:extLst>
          </p:cNvPr>
          <p:cNvSpPr>
            <a:spLocks noChangeArrowheads="1"/>
          </p:cNvSpPr>
          <p:nvPr/>
        </p:nvSpPr>
        <p:spPr bwMode="auto">
          <a:xfrm>
            <a:off x="841553" y="1751159"/>
            <a:ext cx="2673492" cy="802294"/>
          </a:xfrm>
          <a:prstGeom prst="rect">
            <a:avLst/>
          </a:prstGeom>
          <a:solidFill>
            <a:srgbClr val="FFFFFF"/>
          </a:solidFill>
          <a:ln w="12600">
            <a:solidFill>
              <a:schemeClr val="accent1"/>
            </a:solidFill>
            <a:miter lim="800000"/>
            <a:headEnd/>
            <a:tailEnd/>
          </a:ln>
        </p:spPr>
        <p:txBody>
          <a:bodyPr wrap="none" lIns="108800" tIns="54401" rIns="108800" bIns="54401" anchor="ctr"/>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200" dirty="0" smtClean="0">
                <a:latin typeface="微软雅黑" panose="020B0503020204020204" pitchFamily="34" charset="-122"/>
                <a:ea typeface="微软雅黑" panose="020B0503020204020204" pitchFamily="34" charset="-122"/>
                <a:cs typeface="微软雅黑" charset="0"/>
              </a:rPr>
              <a:t> </a:t>
            </a:r>
            <a:r>
              <a:rPr lang="en-US" altLang="zh-TW" sz="1200" dirty="0" smtClean="0">
                <a:ea typeface="微软雅黑" panose="020B0503020204020204" pitchFamily="34" charset="-122"/>
                <a:cs typeface="微软雅黑" charset="0"/>
              </a:rPr>
              <a:t>Rakhi , Derek-yang , Balaji-v , </a:t>
            </a:r>
          </a:p>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TW" sz="1200" dirty="0" smtClean="0">
                <a:ea typeface="微软雅黑" panose="020B0503020204020204" pitchFamily="34" charset="-122"/>
                <a:cs typeface="微软雅黑" charset="0"/>
              </a:rPr>
              <a:t>Manohar-g</a:t>
            </a:r>
            <a:endParaRPr lang="en-US" altLang="zh-TW" sz="1200" dirty="0">
              <a:ea typeface="微软雅黑" panose="020B0503020204020204" pitchFamily="34" charset="-122"/>
              <a:cs typeface="微软雅黑" charset="0"/>
            </a:endParaRPr>
          </a:p>
        </p:txBody>
      </p:sp>
      <p:cxnSp>
        <p:nvCxnSpPr>
          <p:cNvPr id="17" name="肘形连接符 45"/>
          <p:cNvCxnSpPr/>
          <p:nvPr/>
        </p:nvCxnSpPr>
        <p:spPr>
          <a:xfrm flipV="1">
            <a:off x="3524098" y="776327"/>
            <a:ext cx="419705" cy="1138694"/>
          </a:xfrm>
          <a:prstGeom prst="bentConnector3">
            <a:avLst/>
          </a:prstGeom>
          <a:ln/>
        </p:spPr>
        <p:style>
          <a:lnRef idx="1">
            <a:schemeClr val="accent2"/>
          </a:lnRef>
          <a:fillRef idx="0">
            <a:schemeClr val="accent2"/>
          </a:fillRef>
          <a:effectRef idx="0">
            <a:schemeClr val="accent2"/>
          </a:effectRef>
          <a:fontRef idx="minor">
            <a:schemeClr val="tx1"/>
          </a:fontRef>
        </p:style>
      </p:cxnSp>
      <p:sp>
        <p:nvSpPr>
          <p:cNvPr id="18"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3524098" y="4061095"/>
            <a:ext cx="1733266" cy="434125"/>
          </a:xfrm>
          <a:prstGeom prst="rect">
            <a:avLst/>
          </a:prstGeom>
          <a:ln/>
        </p:spPr>
        <p:style>
          <a:lnRef idx="1">
            <a:schemeClr val="accent6"/>
          </a:lnRef>
          <a:fillRef idx="2">
            <a:schemeClr val="accent6"/>
          </a:fillRef>
          <a:effectRef idx="1">
            <a:schemeClr val="accent6"/>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Purchase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9"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5992360" y="4061096"/>
            <a:ext cx="1733266" cy="434125"/>
          </a:xfrm>
          <a:prstGeom prst="rect">
            <a:avLst/>
          </a:prstGeom>
          <a:ln/>
        </p:spPr>
        <p:style>
          <a:lnRef idx="1">
            <a:schemeClr val="accent6"/>
          </a:lnRef>
          <a:fillRef idx="2">
            <a:schemeClr val="accent6"/>
          </a:fillRef>
          <a:effectRef idx="1">
            <a:schemeClr val="accent6"/>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Warehouse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20"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3209842" y="4592234"/>
            <a:ext cx="2402505"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Derek-yang</a:t>
            </a:r>
            <a:endParaRPr lang="en-US" altLang="zh-TW"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GB" altLang="zh-CN" sz="1000" b="1" kern="0" dirty="0" smtClean="0">
                <a:latin typeface="微软雅黑" panose="020B0503020204020204" pitchFamily="34" charset="-122"/>
                <a:ea typeface="微软雅黑" panose="020B0503020204020204" pitchFamily="34" charset="-122"/>
              </a:rPr>
              <a:t>Derek-yang</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
        <p:nvSpPr>
          <p:cNvPr id="21"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5789653" y="4592234"/>
            <a:ext cx="2362611"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Balaji-v</a:t>
            </a:r>
            <a:endParaRPr lang="en-US" altLang="zh-TW"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Balaji-v</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
        <p:nvSpPr>
          <p:cNvPr id="22" name="Rectangle 9">
            <a:extLst>
              <a:ext uri="{FF2B5EF4-FFF2-40B4-BE49-F238E27FC236}">
                <a16:creationId xmlns:a16="http://schemas.microsoft.com/office/drawing/2014/main" xmlns="" id="{F5C3E0C9-8A73-404B-A4D3-D1152812BE18}"/>
              </a:ext>
            </a:extLst>
          </p:cNvPr>
          <p:cNvSpPr>
            <a:spLocks noChangeArrowheads="1"/>
          </p:cNvSpPr>
          <p:nvPr/>
        </p:nvSpPr>
        <p:spPr bwMode="auto">
          <a:xfrm>
            <a:off x="4740996" y="955066"/>
            <a:ext cx="2855008" cy="31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00" tIns="54401" rIns="108800" bIns="54401"/>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GB" altLang="zh-CN" sz="1600" dirty="0" smtClean="0">
                <a:solidFill>
                  <a:srgbClr val="000000"/>
                </a:solidFill>
                <a:latin typeface="微软雅黑" panose="020B0503020204020204" pitchFamily="34" charset="-122"/>
                <a:ea typeface="微软雅黑" panose="020B0503020204020204" pitchFamily="34" charset="-122"/>
                <a:cs typeface="微软雅黑" charset="0"/>
              </a:rPr>
              <a:t>IT</a:t>
            </a:r>
            <a:endParaRPr lang="zh-CN" altLang="en-GB" sz="1600" dirty="0">
              <a:solidFill>
                <a:srgbClr val="000000"/>
              </a:solidFill>
              <a:latin typeface="微软雅黑" panose="020B0503020204020204" pitchFamily="34" charset="-122"/>
              <a:ea typeface="微软雅黑" panose="020B0503020204020204" pitchFamily="34" charset="-122"/>
              <a:cs typeface="微软雅黑" charset="0"/>
            </a:endParaRPr>
          </a:p>
        </p:txBody>
      </p:sp>
      <p:sp>
        <p:nvSpPr>
          <p:cNvPr id="23" name="矩形 51">
            <a:extLst>
              <a:ext uri="{FF2B5EF4-FFF2-40B4-BE49-F238E27FC236}">
                <a16:creationId xmlns:a16="http://schemas.microsoft.com/office/drawing/2014/main" xmlns="" id="{F47A9402-BB8E-024E-996B-AD38B2863928}"/>
              </a:ext>
            </a:extLst>
          </p:cNvPr>
          <p:cNvSpPr>
            <a:spLocks noChangeArrowheads="1"/>
          </p:cNvSpPr>
          <p:nvPr/>
        </p:nvSpPr>
        <p:spPr bwMode="auto">
          <a:xfrm>
            <a:off x="3943803" y="640256"/>
            <a:ext cx="4603896" cy="632912"/>
          </a:xfrm>
          <a:prstGeom prst="rect">
            <a:avLst/>
          </a:prstGeom>
          <a:noFill/>
          <a:ln w="9525">
            <a:solidFill>
              <a:schemeClr val="accent3"/>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marL="277663" indent="-277663" defTabSz="543995" eaLnBrk="0" fontAlgn="base" hangingPunct="0">
              <a:spcBef>
                <a:spcPct val="25000"/>
              </a:spcBef>
              <a:spcAft>
                <a:spcPct val="0"/>
              </a:spcAft>
              <a:buFontTx/>
              <a:buChar char="•"/>
              <a:defRPr/>
            </a:pPr>
            <a:endParaRPr lang="zh-CN" altLang="en-US" sz="1449" kern="0">
              <a:solidFill>
                <a:srgbClr val="FFFFFF"/>
              </a:solidFill>
              <a:latin typeface="微软雅黑" panose="020B0503020204020204" pitchFamily="34" charset="-122"/>
              <a:ea typeface="微软雅黑" panose="020B0503020204020204" pitchFamily="34" charset="-122"/>
              <a:cs typeface="微软雅黑" charset="0"/>
            </a:endParaRPr>
          </a:p>
        </p:txBody>
      </p:sp>
      <p:cxnSp>
        <p:nvCxnSpPr>
          <p:cNvPr id="3" name="Straight Arrow Connector 2"/>
          <p:cNvCxnSpPr>
            <a:stCxn id="22" idx="2"/>
            <a:endCxn id="7" idx="0"/>
          </p:cNvCxnSpPr>
          <p:nvPr/>
        </p:nvCxnSpPr>
        <p:spPr>
          <a:xfrm>
            <a:off x="6168500" y="1273168"/>
            <a:ext cx="1" cy="3151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157871" y="2552459"/>
            <a:ext cx="10628" cy="5307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0550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3582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项</a:t>
            </a:r>
            <a:r>
              <a:rPr lang="zh-CN"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目沟通 </a:t>
            </a:r>
            <a:r>
              <a:rPr lang="en-US" altLang="zh-C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Project Communication</a:t>
            </a:r>
            <a:endPar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graphicFrame>
        <p:nvGraphicFramePr>
          <p:cNvPr id="22" name="表格 2"/>
          <p:cNvGraphicFramePr>
            <a:graphicFrameLocks noGrp="1"/>
          </p:cNvGraphicFramePr>
          <p:nvPr>
            <p:extLst>
              <p:ext uri="{D42A27DB-BD31-4B8C-83A1-F6EECF244321}">
                <p14:modId xmlns:p14="http://schemas.microsoft.com/office/powerpoint/2010/main" val="2616531033"/>
              </p:ext>
            </p:extLst>
          </p:nvPr>
        </p:nvGraphicFramePr>
        <p:xfrm>
          <a:off x="679520" y="648131"/>
          <a:ext cx="11265029" cy="3901853"/>
        </p:xfrm>
        <a:graphic>
          <a:graphicData uri="http://schemas.openxmlformats.org/drawingml/2006/table">
            <a:tbl>
              <a:tblPr>
                <a:tableStyleId>{3B4B98B0-60AC-42C2-AFA5-B58CD77FA1E5}</a:tableStyleId>
              </a:tblPr>
              <a:tblGrid>
                <a:gridCol w="1611275">
                  <a:extLst>
                    <a:ext uri="{9D8B030D-6E8A-4147-A177-3AD203B41FA5}">
                      <a16:colId xmlns="" xmlns:a16="http://schemas.microsoft.com/office/drawing/2014/main" val="20000"/>
                    </a:ext>
                  </a:extLst>
                </a:gridCol>
                <a:gridCol w="1930487">
                  <a:extLst>
                    <a:ext uri="{9D8B030D-6E8A-4147-A177-3AD203B41FA5}">
                      <a16:colId xmlns="" xmlns:a16="http://schemas.microsoft.com/office/drawing/2014/main" val="20001"/>
                    </a:ext>
                  </a:extLst>
                </a:gridCol>
                <a:gridCol w="2775097">
                  <a:extLst>
                    <a:ext uri="{9D8B030D-6E8A-4147-A177-3AD203B41FA5}">
                      <a16:colId xmlns="" xmlns:a16="http://schemas.microsoft.com/office/drawing/2014/main" val="20002"/>
                    </a:ext>
                  </a:extLst>
                </a:gridCol>
                <a:gridCol w="1564460">
                  <a:extLst>
                    <a:ext uri="{9D8B030D-6E8A-4147-A177-3AD203B41FA5}">
                      <a16:colId xmlns="" xmlns:a16="http://schemas.microsoft.com/office/drawing/2014/main" val="20003"/>
                    </a:ext>
                  </a:extLst>
                </a:gridCol>
                <a:gridCol w="1050141">
                  <a:extLst>
                    <a:ext uri="{9D8B030D-6E8A-4147-A177-3AD203B41FA5}">
                      <a16:colId xmlns="" xmlns:a16="http://schemas.microsoft.com/office/drawing/2014/main" val="20004"/>
                    </a:ext>
                  </a:extLst>
                </a:gridCol>
                <a:gridCol w="2333569">
                  <a:extLst>
                    <a:ext uri="{9D8B030D-6E8A-4147-A177-3AD203B41FA5}">
                      <a16:colId xmlns="" xmlns:a16="http://schemas.microsoft.com/office/drawing/2014/main" val="20005"/>
                    </a:ext>
                  </a:extLst>
                </a:gridCol>
              </a:tblGrid>
              <a:tr h="945169">
                <a:tc>
                  <a:txBody>
                    <a:bodyPr/>
                    <a:lstStyle/>
                    <a:p>
                      <a:pPr algn="ctr" rtl="0" fontAlgn="ctr"/>
                      <a:r>
                        <a:rPr lang="zh-CN" altLang="en-US" sz="1100" b="1" u="none" strike="noStrike" dirty="0">
                          <a:solidFill>
                            <a:schemeClr val="bg1"/>
                          </a:solidFill>
                          <a:effectLst/>
                        </a:rPr>
                        <a:t>Type of Communication</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Frequency</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Purpose and Content</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Output</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Originator</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Attendees </a:t>
                      </a:r>
                      <a:r>
                        <a:rPr lang="en-US" altLang="zh-CN" sz="1100" b="1" u="none" strike="noStrike" dirty="0">
                          <a:solidFill>
                            <a:schemeClr val="bg1"/>
                          </a:solidFill>
                          <a:effectLst/>
                        </a:rPr>
                        <a:t>/ </a:t>
                      </a:r>
                      <a:r>
                        <a:rPr lang="zh-CN" altLang="en-US" sz="1100" b="1" u="none" strike="noStrike" dirty="0">
                          <a:solidFill>
                            <a:schemeClr val="bg1"/>
                          </a:solidFill>
                          <a:effectLst/>
                        </a:rPr>
                        <a:t>Senders</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extLst>
                  <a:ext uri="{0D108BD9-81ED-4DB2-BD59-A6C34878D82A}">
                    <a16:rowId xmlns="" xmlns:a16="http://schemas.microsoft.com/office/drawing/2014/main" val="10000"/>
                  </a:ext>
                </a:extLst>
              </a:tr>
              <a:tr h="1478342">
                <a:tc>
                  <a:txBody>
                    <a:bodyPr/>
                    <a:lstStyle/>
                    <a:p>
                      <a:pPr algn="ctr" rtl="0" fontAlgn="ctr"/>
                      <a:r>
                        <a:rPr lang="en-US" altLang="zh-CN" sz="1100" u="none" strike="noStrike" dirty="0" smtClean="0">
                          <a:effectLst/>
                        </a:rPr>
                        <a:t>Weekly</a:t>
                      </a:r>
                      <a:r>
                        <a:rPr lang="en-US" altLang="zh-CN" sz="1100" u="none" strike="noStrike" baseline="0" dirty="0" smtClean="0">
                          <a:effectLst/>
                        </a:rPr>
                        <a:t> Report</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Every </a:t>
                      </a:r>
                      <a:r>
                        <a:rPr lang="en-US" altLang="zh-CN" sz="1100" u="none" strike="noStrike" dirty="0" smtClean="0">
                          <a:effectLst/>
                        </a:rPr>
                        <a:t>Saturday till project</a:t>
                      </a:r>
                      <a:r>
                        <a:rPr lang="en-US" altLang="zh-CN" sz="1100" u="none" strike="noStrike" baseline="0" dirty="0" smtClean="0">
                          <a:effectLst/>
                        </a:rPr>
                        <a:t> go-live</a:t>
                      </a:r>
                      <a:endParaRPr lang="en-US" altLang="zh-CN" sz="1100" u="none" strike="noStrike" dirty="0" smtClean="0">
                        <a:effectLst/>
                      </a:endParaRPr>
                    </a:p>
                    <a:p>
                      <a:pPr algn="ctr" rtl="0" fontAlgn="ctr"/>
                      <a:r>
                        <a:rPr lang="en-US" altLang="zh-CN" sz="1100" u="none" strike="noStrike" baseline="0" dirty="0" smtClean="0">
                          <a:effectLst/>
                        </a:rPr>
                        <a:t>APC 16:00-16:30</a:t>
                      </a: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Email report on project progress</a:t>
                      </a:r>
                    </a:p>
                    <a:p>
                      <a:pPr algn="ctr"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Project Progress Report</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sz="1100" u="none" strike="noStrike" dirty="0" smtClean="0">
                          <a:effectLst/>
                        </a:rPr>
                        <a:t>IT </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altLang="zh-CN" sz="1100" u="none" strike="noStrike" dirty="0" smtClean="0">
                          <a:effectLst/>
                        </a:rPr>
                        <a:t>IT Members</a:t>
                      </a:r>
                      <a:r>
                        <a:rPr lang="en-US" altLang="zh-CN" sz="1100" u="none" strike="noStrike" baseline="0" dirty="0" smtClean="0">
                          <a:effectLst/>
                        </a:rPr>
                        <a:t>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extLst>
                  <a:ext uri="{0D108BD9-81ED-4DB2-BD59-A6C34878D82A}">
                    <a16:rowId xmlns="" xmlns:a16="http://schemas.microsoft.com/office/drawing/2014/main" val="10002"/>
                  </a:ext>
                </a:extLst>
              </a:tr>
              <a:tr h="1478342">
                <a:tc>
                  <a:txBody>
                    <a:bodyPr/>
                    <a:lstStyle/>
                    <a:p>
                      <a:pPr algn="ctr" rtl="0" fontAlgn="ctr"/>
                      <a:r>
                        <a:rPr lang="en-GB" altLang="zh-CN" sz="1100" u="none" strike="noStrike" dirty="0" smtClean="0">
                          <a:effectLst/>
                        </a:rPr>
                        <a:t>Weekly meeting – Project </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Every </a:t>
                      </a:r>
                      <a:r>
                        <a:rPr lang="en-US" altLang="zh-CN" sz="1100" u="none" strike="noStrike" dirty="0" smtClean="0">
                          <a:effectLst/>
                        </a:rPr>
                        <a:t>Thursday till project</a:t>
                      </a:r>
                      <a:r>
                        <a:rPr lang="en-US" altLang="zh-CN" sz="1100" u="none" strike="noStrike" baseline="0" dirty="0" smtClean="0">
                          <a:effectLst/>
                        </a:rPr>
                        <a:t> go-live </a:t>
                      </a:r>
                      <a:endParaRPr lang="en-US" altLang="zh-CN" sz="1100" u="none" strike="noStrike" dirty="0" smtClean="0">
                        <a:effectLst/>
                      </a:endParaRPr>
                    </a:p>
                    <a:p>
                      <a:pPr algn="ctr" rtl="0" fontAlgn="ct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Report on the progress of the project</a:t>
                      </a:r>
                      <a:br>
                        <a:rPr lang="zh-CN" altLang="en-US" sz="1100" u="none" strike="noStrike" dirty="0" smtClean="0">
                          <a:effectLst/>
                        </a:rPr>
                      </a:br>
                      <a:r>
                        <a:rPr lang="zh-CN" altLang="en-US" sz="1100" u="none" strike="noStrike" dirty="0" smtClean="0">
                          <a:effectLst/>
                        </a:rPr>
                        <a:t>Next work plan</a:t>
                      </a:r>
                      <a:br>
                        <a:rPr lang="zh-CN" altLang="en-US" sz="1100" u="none" strike="noStrike" dirty="0" smtClean="0">
                          <a:effectLst/>
                        </a:rPr>
                      </a:br>
                      <a:r>
                        <a:rPr lang="zh-CN" altLang="en-US" sz="1100" u="none" strike="noStrike" dirty="0" smtClean="0">
                          <a:effectLst/>
                        </a:rPr>
                        <a:t>Where help is needed</a:t>
                      </a:r>
                    </a:p>
                    <a:p>
                      <a:pPr algn="ctr"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Meeting Minutes</a:t>
                      </a:r>
                    </a:p>
                    <a:p>
                      <a:pPr algn="ctr" rtl="0" fontAlgn="ct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sz="1100" u="none" strike="noStrike" dirty="0" smtClean="0">
                          <a:effectLst/>
                        </a:rPr>
                        <a:t>IT</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GB" altLang="zh-CN" sz="1100" u="none" strike="noStrike" dirty="0" smtClean="0">
                          <a:effectLst/>
                        </a:rPr>
                        <a:t>Planning</a:t>
                      </a:r>
                      <a:r>
                        <a:rPr lang="en-GB" altLang="zh-CN" sz="1100" u="none" strike="noStrike" baseline="0" dirty="0" smtClean="0">
                          <a:effectLst/>
                        </a:rPr>
                        <a:t> , Warehouse , Purchase , IT , Production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r>
            </a:tbl>
          </a:graphicData>
        </a:graphic>
      </p:graphicFrame>
      <p:sp>
        <p:nvSpPr>
          <p:cNvPr id="23" name="圆角矩形 6"/>
          <p:cNvSpPr/>
          <p:nvPr/>
        </p:nvSpPr>
        <p:spPr>
          <a:xfrm>
            <a:off x="662975" y="5440870"/>
            <a:ext cx="3702867" cy="737857"/>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b="1" dirty="0" smtClean="0"/>
              <a:t>Email</a:t>
            </a:r>
          </a:p>
        </p:txBody>
      </p:sp>
      <p:sp>
        <p:nvSpPr>
          <p:cNvPr id="24" name="圆角矩形 8"/>
          <p:cNvSpPr/>
          <p:nvPr/>
        </p:nvSpPr>
        <p:spPr>
          <a:xfrm>
            <a:off x="5836586" y="5440869"/>
            <a:ext cx="3791855" cy="737857"/>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smtClean="0"/>
              <a:t>WhatsApp</a:t>
            </a:r>
          </a:p>
        </p:txBody>
      </p:sp>
      <p:sp>
        <p:nvSpPr>
          <p:cNvPr id="25" name="标题 1"/>
          <p:cNvSpPr txBox="1">
            <a:spLocks/>
          </p:cNvSpPr>
          <p:nvPr/>
        </p:nvSpPr>
        <p:spPr>
          <a:xfrm>
            <a:off x="662975" y="4682836"/>
            <a:ext cx="10850563" cy="523183"/>
          </a:xfrm>
          <a:prstGeom prst="rect">
            <a:avLst/>
          </a:prstGeom>
        </p:spPr>
        <p:txBody>
          <a:bodyPr vert="horz"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eaLnBrk="0" latinLnBrk="1" hangingPunct="0"/>
            <a:r>
              <a:rPr lang="zh-CN" altLang="en-US" sz="2000" dirty="0">
                <a:solidFill>
                  <a:srgbClr val="002060"/>
                </a:solidFill>
                <a:effectLst>
                  <a:outerShdw blurRad="50800" dist="50800" dir="5400000" algn="ctr" rotWithShape="0">
                    <a:schemeClr val="bg1"/>
                  </a:outerShdw>
                </a:effectLst>
                <a:latin typeface="72 Black" panose="020B0A04030603020204" pitchFamily="34" charset="0"/>
                <a:ea typeface="+mn-ea"/>
                <a:cs typeface="72 Black" panose="020B0A04030603020204" pitchFamily="34" charset="0"/>
              </a:rPr>
              <a:t>项目沟通</a:t>
            </a:r>
            <a:r>
              <a:rPr lang="en-US" altLang="zh-CN" sz="2000" dirty="0">
                <a:solidFill>
                  <a:srgbClr val="002060"/>
                </a:solidFill>
                <a:effectLst>
                  <a:outerShdw blurRad="50800" dist="50800" dir="5400000" algn="ctr" rotWithShape="0">
                    <a:schemeClr val="bg1"/>
                  </a:outerShdw>
                </a:effectLst>
                <a:latin typeface="72 Black" panose="020B0A04030603020204" pitchFamily="34" charset="0"/>
                <a:ea typeface="+mn-ea"/>
                <a:cs typeface="72 Black" panose="020B0A04030603020204" pitchFamily="34" charset="0"/>
              </a:rPr>
              <a:t>-</a:t>
            </a:r>
            <a:r>
              <a:rPr lang="zh-CN" altLang="en-US" sz="2000" dirty="0">
                <a:solidFill>
                  <a:srgbClr val="002060"/>
                </a:solidFill>
                <a:effectLst>
                  <a:outerShdw blurRad="50800" dist="50800" dir="5400000" algn="ctr" rotWithShape="0">
                    <a:schemeClr val="bg1"/>
                  </a:outerShdw>
                </a:effectLst>
                <a:latin typeface="72 Black" panose="020B0A04030603020204" pitchFamily="34" charset="0"/>
                <a:ea typeface="+mn-ea"/>
                <a:cs typeface="72 Black" panose="020B0A04030603020204" pitchFamily="34" charset="0"/>
              </a:rPr>
              <a:t>工具 </a:t>
            </a:r>
            <a:r>
              <a:rPr lang="en-US" altLang="zh-CN" sz="2000" dirty="0">
                <a:solidFill>
                  <a:srgbClr val="002060"/>
                </a:solidFill>
                <a:effectLst>
                  <a:outerShdw blurRad="50800" dist="50800" dir="5400000" algn="ctr" rotWithShape="0">
                    <a:schemeClr val="bg1"/>
                  </a:outerShdw>
                </a:effectLst>
                <a:latin typeface="72 Black" panose="020B0A04030603020204" pitchFamily="34" charset="0"/>
                <a:ea typeface="+mn-ea"/>
                <a:cs typeface="72 Black" panose="020B0A04030603020204" pitchFamily="34" charset="0"/>
              </a:rPr>
              <a:t>Project Communication- Tools</a:t>
            </a:r>
            <a:endParaRPr lang="zh-CN" altLang="en-US" sz="2000" dirty="0">
              <a:solidFill>
                <a:srgbClr val="002060"/>
              </a:solidFill>
              <a:effectLst>
                <a:outerShdw blurRad="50800" dist="50800" dir="5400000" algn="ctr" rotWithShape="0">
                  <a:schemeClr val="bg1"/>
                </a:outerShdw>
              </a:effectLst>
              <a:latin typeface="72 Black" panose="020B0A04030603020204" pitchFamily="34" charset="0"/>
              <a:ea typeface="+mn-ea"/>
              <a:cs typeface="72 Black" panose="020B0A04030603020204" pitchFamily="34" charset="0"/>
            </a:endParaRPr>
          </a:p>
        </p:txBody>
      </p:sp>
      <p:sp>
        <p:nvSpPr>
          <p:cNvPr id="26" name="五角星 3"/>
          <p:cNvSpPr/>
          <p:nvPr/>
        </p:nvSpPr>
        <p:spPr bwMode="auto">
          <a:xfrm>
            <a:off x="103534" y="785842"/>
            <a:ext cx="271604" cy="307818"/>
          </a:xfrm>
          <a:prstGeom prst="star5">
            <a:avLst/>
          </a:prstGeom>
          <a:solidFill>
            <a:srgbClr val="FF0000"/>
          </a:solidFill>
          <a:ln w="12700" cmpd="sng">
            <a:noFill/>
            <a:round/>
            <a:headEnd/>
            <a:tailEnd/>
          </a:ln>
          <a:effectLst/>
        </p:spPr>
        <p:txBody>
          <a:bodyPr lIns="36000" tIns="36000" rIns="36000" bIns="36000" rtlCol="0" anchor="ctr"/>
          <a:lstStyle/>
          <a:p>
            <a:pPr algn="ctr"/>
            <a:endParaRPr kumimoji="1" lang="zh-CN" altLang="en-US" b="0">
              <a:solidFill>
                <a:schemeClr val="tx2">
                  <a:lumMod val="60000"/>
                  <a:lumOff val="40000"/>
                </a:schemeClr>
              </a:solidFill>
              <a:ea typeface="微软雅黑" pitchFamily="34" charset="-122"/>
            </a:endParaRPr>
          </a:p>
        </p:txBody>
      </p:sp>
    </p:spTree>
    <p:extLst>
      <p:ext uri="{BB962C8B-B14F-4D97-AF65-F5344CB8AC3E}">
        <p14:creationId xmlns:p14="http://schemas.microsoft.com/office/powerpoint/2010/main" val="3270731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238" y="-10948"/>
            <a:ext cx="12160038" cy="467173"/>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eaLnBrk="0" latinLnBrk="1" hangingPunct="0">
              <a:buClr>
                <a:srgbClr val="006600"/>
              </a:buClr>
              <a:buSzPct val="85000"/>
            </a:pPr>
            <a:r>
              <a:rPr lang="en-GB" altLang="zh-TW"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                                                                CMT </a:t>
            </a:r>
            <a:r>
              <a:rPr lang="zh-TW" altLang="en-US"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工</a:t>
            </a:r>
            <a:r>
              <a:rPr lang="zh-TW"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作流程 </a:t>
            </a:r>
            <a:r>
              <a:rPr lang="en-GB" altLang="zh-TW"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CMT</a:t>
            </a:r>
            <a:r>
              <a:rPr lang="en-US" altLang="zh-CN"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 </a:t>
            </a:r>
            <a:r>
              <a:rPr lang="en-US" altLang="zh-CN"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Work-flow</a:t>
            </a:r>
            <a:endParaRPr lang="zh-CN" altLang="en-US"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02975"/>
          </a:xfrm>
          <a:prstGeom prst="rect">
            <a:avLst/>
          </a:prstGeom>
        </p:spPr>
      </p:pic>
      <p:sp>
        <p:nvSpPr>
          <p:cNvPr id="59" name="Rectangle 58"/>
          <p:cNvSpPr/>
          <p:nvPr/>
        </p:nvSpPr>
        <p:spPr>
          <a:xfrm>
            <a:off x="-8251" y="502071"/>
            <a:ext cx="1406502" cy="251384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sz="1600" dirty="0" smtClean="0"/>
              <a:t>Data Capture</a:t>
            </a:r>
            <a:endParaRPr lang="en-IN" sz="1600" dirty="0"/>
          </a:p>
        </p:txBody>
      </p:sp>
      <p:sp>
        <p:nvSpPr>
          <p:cNvPr id="60" name="Rectangle 59"/>
          <p:cNvSpPr/>
          <p:nvPr/>
        </p:nvSpPr>
        <p:spPr>
          <a:xfrm>
            <a:off x="17351" y="5048033"/>
            <a:ext cx="1416654" cy="135560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1600" dirty="0" smtClean="0"/>
              <a:t>Top </a:t>
            </a:r>
            <a:endParaRPr lang="en-GB" dirty="0" smtClean="0"/>
          </a:p>
          <a:p>
            <a:pPr algn="ctr"/>
            <a:r>
              <a:rPr lang="en-GB" sz="1600" dirty="0" smtClean="0"/>
              <a:t>Management</a:t>
            </a:r>
            <a:endParaRPr lang="en-IN" sz="1600" dirty="0"/>
          </a:p>
        </p:txBody>
      </p:sp>
      <p:sp>
        <p:nvSpPr>
          <p:cNvPr id="61" name="Rectangle 60"/>
          <p:cNvSpPr/>
          <p:nvPr/>
        </p:nvSpPr>
        <p:spPr>
          <a:xfrm>
            <a:off x="1566751" y="504332"/>
            <a:ext cx="10610638" cy="25093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dirty="0"/>
          </a:p>
        </p:txBody>
      </p:sp>
      <p:sp>
        <p:nvSpPr>
          <p:cNvPr id="62" name="Rectangle 61"/>
          <p:cNvSpPr/>
          <p:nvPr/>
        </p:nvSpPr>
        <p:spPr>
          <a:xfrm>
            <a:off x="1566751" y="3059504"/>
            <a:ext cx="10610638" cy="191351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63" name="Rectangle 62"/>
          <p:cNvSpPr/>
          <p:nvPr/>
        </p:nvSpPr>
        <p:spPr>
          <a:xfrm>
            <a:off x="-8251" y="3059504"/>
            <a:ext cx="1416654" cy="193369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600" dirty="0" smtClean="0"/>
              <a:t>Production</a:t>
            </a:r>
            <a:endParaRPr lang="en-IN" sz="1600" dirty="0"/>
          </a:p>
        </p:txBody>
      </p:sp>
      <p:sp>
        <p:nvSpPr>
          <p:cNvPr id="64" name="Rectangle 63"/>
          <p:cNvSpPr/>
          <p:nvPr/>
        </p:nvSpPr>
        <p:spPr>
          <a:xfrm>
            <a:off x="1566752" y="5048033"/>
            <a:ext cx="10610637" cy="137827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65" name="Oval 64"/>
          <p:cNvSpPr/>
          <p:nvPr/>
        </p:nvSpPr>
        <p:spPr>
          <a:xfrm>
            <a:off x="5192415" y="1402676"/>
            <a:ext cx="1309881" cy="1172231"/>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1400" dirty="0" smtClean="0"/>
              <a:t>Cutting Material Report</a:t>
            </a:r>
            <a:endParaRPr lang="en-IN" sz="1400" dirty="0"/>
          </a:p>
        </p:txBody>
      </p:sp>
      <p:sp>
        <p:nvSpPr>
          <p:cNvPr id="66" name="Rounded Rectangle 65"/>
          <p:cNvSpPr/>
          <p:nvPr/>
        </p:nvSpPr>
        <p:spPr>
          <a:xfrm>
            <a:off x="1823466" y="1815169"/>
            <a:ext cx="1556117" cy="389769"/>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400" dirty="0" smtClean="0"/>
              <a:t>Purchase Team</a:t>
            </a:r>
            <a:endParaRPr lang="en-IN" sz="1400" dirty="0"/>
          </a:p>
        </p:txBody>
      </p:sp>
      <p:sp>
        <p:nvSpPr>
          <p:cNvPr id="67" name="Rounded Rectangle 66"/>
          <p:cNvSpPr/>
          <p:nvPr/>
        </p:nvSpPr>
        <p:spPr>
          <a:xfrm>
            <a:off x="8315128" y="1853973"/>
            <a:ext cx="2142313" cy="389769"/>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400" dirty="0" smtClean="0"/>
              <a:t>Warehouse Team</a:t>
            </a:r>
            <a:endParaRPr lang="en-IN" sz="1400" dirty="0"/>
          </a:p>
        </p:txBody>
      </p:sp>
      <p:sp>
        <p:nvSpPr>
          <p:cNvPr id="68" name="Rounded Rectangle 67"/>
          <p:cNvSpPr/>
          <p:nvPr/>
        </p:nvSpPr>
        <p:spPr>
          <a:xfrm>
            <a:off x="4865571" y="557122"/>
            <a:ext cx="2142312" cy="380644"/>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400" dirty="0" smtClean="0"/>
              <a:t>BOM</a:t>
            </a:r>
            <a:endParaRPr lang="en-IN" sz="1400" dirty="0"/>
          </a:p>
        </p:txBody>
      </p:sp>
      <p:sp>
        <p:nvSpPr>
          <p:cNvPr id="69" name="Rounded Rectangle 68"/>
          <p:cNvSpPr/>
          <p:nvPr/>
        </p:nvSpPr>
        <p:spPr>
          <a:xfrm>
            <a:off x="1815655" y="4019528"/>
            <a:ext cx="2142313" cy="389769"/>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400" dirty="0" smtClean="0"/>
              <a:t>Planning Team</a:t>
            </a:r>
            <a:endParaRPr lang="en-IN" sz="1400" dirty="0"/>
          </a:p>
        </p:txBody>
      </p:sp>
      <p:sp>
        <p:nvSpPr>
          <p:cNvPr id="70" name="Rounded Rectangle 69"/>
          <p:cNvSpPr/>
          <p:nvPr/>
        </p:nvSpPr>
        <p:spPr>
          <a:xfrm>
            <a:off x="4881372" y="4019528"/>
            <a:ext cx="2142313" cy="389769"/>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400" dirty="0" smtClean="0"/>
              <a:t>Plant In-charge</a:t>
            </a:r>
            <a:endParaRPr lang="en-IN" sz="1400" dirty="0"/>
          </a:p>
        </p:txBody>
      </p:sp>
      <p:sp>
        <p:nvSpPr>
          <p:cNvPr id="71" name="Rounded Rectangle 70"/>
          <p:cNvSpPr/>
          <p:nvPr/>
        </p:nvSpPr>
        <p:spPr>
          <a:xfrm>
            <a:off x="8342783" y="3981820"/>
            <a:ext cx="2142313" cy="387762"/>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400" dirty="0" smtClean="0"/>
              <a:t>Line Supervisor</a:t>
            </a:r>
            <a:endParaRPr lang="en-IN" sz="1400" dirty="0"/>
          </a:p>
        </p:txBody>
      </p:sp>
      <p:sp>
        <p:nvSpPr>
          <p:cNvPr id="72" name="Flowchart: Preparation 71"/>
          <p:cNvSpPr/>
          <p:nvPr/>
        </p:nvSpPr>
        <p:spPr>
          <a:xfrm>
            <a:off x="4872131" y="5536794"/>
            <a:ext cx="2142313" cy="511885"/>
          </a:xfrm>
          <a:prstGeom prst="flowChartPreparation">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algn="ctr"/>
            <a:r>
              <a:rPr lang="en-GB" sz="1400" dirty="0" smtClean="0"/>
              <a:t> Top Management </a:t>
            </a:r>
            <a:endParaRPr lang="en-IN" sz="1400" dirty="0"/>
          </a:p>
        </p:txBody>
      </p:sp>
      <p:cxnSp>
        <p:nvCxnSpPr>
          <p:cNvPr id="73" name="Straight Arrow Connector 72"/>
          <p:cNvCxnSpPr/>
          <p:nvPr/>
        </p:nvCxnSpPr>
        <p:spPr>
          <a:xfrm>
            <a:off x="5883625" y="2574907"/>
            <a:ext cx="0" cy="86244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5936727" y="4437001"/>
            <a:ext cx="5755" cy="104699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Rectangle 74"/>
          <p:cNvSpPr/>
          <p:nvPr/>
        </p:nvSpPr>
        <p:spPr>
          <a:xfrm>
            <a:off x="6486079" y="1610119"/>
            <a:ext cx="1902509" cy="276999"/>
          </a:xfrm>
          <a:prstGeom prst="rect">
            <a:avLst/>
          </a:prstGeom>
        </p:spPr>
        <p:txBody>
          <a:bodyPr wrap="none">
            <a:spAutoFit/>
          </a:bodyPr>
          <a:lstStyle/>
          <a:p>
            <a:r>
              <a:rPr lang="en-IN" sz="1200" dirty="0">
                <a:solidFill>
                  <a:srgbClr val="C00000"/>
                </a:solidFill>
              </a:rPr>
              <a:t>Issue materials, verify stock</a:t>
            </a:r>
          </a:p>
        </p:txBody>
      </p:sp>
      <p:sp>
        <p:nvSpPr>
          <p:cNvPr id="76" name="TextBox 75"/>
          <p:cNvSpPr txBox="1"/>
          <p:nvPr/>
        </p:nvSpPr>
        <p:spPr>
          <a:xfrm>
            <a:off x="3491089" y="2178195"/>
            <a:ext cx="1634238" cy="276999"/>
          </a:xfrm>
          <a:prstGeom prst="rect">
            <a:avLst/>
          </a:prstGeom>
          <a:noFill/>
        </p:spPr>
        <p:txBody>
          <a:bodyPr wrap="square" rtlCol="0">
            <a:spAutoFit/>
          </a:bodyPr>
          <a:lstStyle/>
          <a:p>
            <a:r>
              <a:rPr lang="en-GB" sz="1200" dirty="0">
                <a:solidFill>
                  <a:srgbClr val="C00000"/>
                </a:solidFill>
              </a:rPr>
              <a:t> Track </a:t>
            </a:r>
            <a:r>
              <a:rPr lang="en-GB" sz="1200" dirty="0" smtClean="0">
                <a:solidFill>
                  <a:srgbClr val="C00000"/>
                </a:solidFill>
              </a:rPr>
              <a:t>Purchase Status</a:t>
            </a:r>
            <a:endParaRPr lang="en-IN" sz="1200" dirty="0">
              <a:solidFill>
                <a:srgbClr val="C00000"/>
              </a:solidFill>
            </a:endParaRPr>
          </a:p>
        </p:txBody>
      </p:sp>
      <p:sp>
        <p:nvSpPr>
          <p:cNvPr id="77" name="Rectangle 76"/>
          <p:cNvSpPr/>
          <p:nvPr/>
        </p:nvSpPr>
        <p:spPr>
          <a:xfrm>
            <a:off x="2725218" y="5535368"/>
            <a:ext cx="2072043" cy="461665"/>
          </a:xfrm>
          <a:prstGeom prst="rect">
            <a:avLst/>
          </a:prstGeom>
        </p:spPr>
        <p:txBody>
          <a:bodyPr wrap="square">
            <a:spAutoFit/>
          </a:bodyPr>
          <a:lstStyle/>
          <a:p>
            <a:pPr marL="171450" indent="-171450">
              <a:buFont typeface="Wingdings" panose="05000000000000000000" pitchFamily="2" charset="2"/>
              <a:buChar char="Ø"/>
            </a:pPr>
            <a:r>
              <a:rPr lang="en-GB" sz="1200" dirty="0">
                <a:solidFill>
                  <a:srgbClr val="C00000"/>
                </a:solidFill>
              </a:rPr>
              <a:t>View overall readiness </a:t>
            </a:r>
            <a:r>
              <a:rPr lang="en-GB" sz="1200" dirty="0" smtClean="0">
                <a:solidFill>
                  <a:srgbClr val="C00000"/>
                </a:solidFill>
              </a:rPr>
              <a:t>% </a:t>
            </a:r>
          </a:p>
          <a:p>
            <a:pPr marL="171450" indent="-171450">
              <a:buFont typeface="Wingdings" panose="05000000000000000000" pitchFamily="2" charset="2"/>
              <a:buChar char="Ø"/>
            </a:pPr>
            <a:r>
              <a:rPr lang="en-GB" sz="1200" dirty="0" smtClean="0">
                <a:solidFill>
                  <a:srgbClr val="C00000"/>
                </a:solidFill>
              </a:rPr>
              <a:t>material trends </a:t>
            </a:r>
          </a:p>
        </p:txBody>
      </p:sp>
      <p:sp>
        <p:nvSpPr>
          <p:cNvPr id="78" name="TextBox 77"/>
          <p:cNvSpPr txBox="1"/>
          <p:nvPr/>
        </p:nvSpPr>
        <p:spPr>
          <a:xfrm>
            <a:off x="6031293" y="5106961"/>
            <a:ext cx="2613891" cy="276999"/>
          </a:xfrm>
          <a:prstGeom prst="rect">
            <a:avLst/>
          </a:prstGeom>
          <a:noFill/>
        </p:spPr>
        <p:txBody>
          <a:bodyPr wrap="square" rtlCol="0">
            <a:spAutoFit/>
          </a:bodyPr>
          <a:lstStyle/>
          <a:p>
            <a:r>
              <a:rPr lang="en-GB" sz="1200" dirty="0" smtClean="0">
                <a:solidFill>
                  <a:srgbClr val="FF0000"/>
                </a:solidFill>
              </a:rPr>
              <a:t>Sees high-level overview</a:t>
            </a:r>
            <a:endParaRPr lang="en-IN" sz="1200" dirty="0">
              <a:solidFill>
                <a:srgbClr val="FF0000"/>
              </a:solidFill>
            </a:endParaRPr>
          </a:p>
        </p:txBody>
      </p:sp>
      <p:graphicFrame>
        <p:nvGraphicFramePr>
          <p:cNvPr id="79" name="Table 78"/>
          <p:cNvGraphicFramePr>
            <a:graphicFrameLocks noGrp="1"/>
          </p:cNvGraphicFramePr>
          <p:nvPr>
            <p:extLst/>
          </p:nvPr>
        </p:nvGraphicFramePr>
        <p:xfrm>
          <a:off x="8437507" y="3155919"/>
          <a:ext cx="3061766" cy="863609"/>
        </p:xfrm>
        <a:graphic>
          <a:graphicData uri="http://schemas.openxmlformats.org/drawingml/2006/table">
            <a:tbl>
              <a:tblPr/>
              <a:tblGrid>
                <a:gridCol w="3061766"/>
              </a:tblGrid>
              <a:tr h="863609">
                <a:tc>
                  <a:txBody>
                    <a:bodyPr/>
                    <a:lstStyle/>
                    <a:p>
                      <a:pPr marL="171450" indent="-171450" algn="l" defTabSz="914400" rtl="0" eaLnBrk="1" latinLnBrk="0" hangingPunct="1">
                        <a:buFont typeface="Wingdings" panose="05000000000000000000" pitchFamily="2" charset="2"/>
                        <a:buChar char="Ø"/>
                      </a:pPr>
                      <a:r>
                        <a:rPr lang="en-GB" sz="1200" kern="1200" dirty="0">
                          <a:solidFill>
                            <a:schemeClr val="tx1"/>
                          </a:solidFill>
                          <a:latin typeface="+mn-lt"/>
                          <a:ea typeface="+mn-ea"/>
                          <a:cs typeface="+mn-cs"/>
                        </a:rPr>
                        <a:t>Check assigned </a:t>
                      </a:r>
                      <a:r>
                        <a:rPr lang="en-GB" sz="1200" kern="1200" dirty="0" smtClean="0">
                          <a:solidFill>
                            <a:schemeClr val="tx1"/>
                          </a:solidFill>
                          <a:latin typeface="+mn-lt"/>
                          <a:ea typeface="+mn-ea"/>
                          <a:cs typeface="+mn-cs"/>
                        </a:rPr>
                        <a:t>POs</a:t>
                      </a:r>
                    </a:p>
                    <a:p>
                      <a:pPr marL="171450" indent="-171450" algn="l" defTabSz="914400" rtl="0" eaLnBrk="1" latinLnBrk="0" hangingPunct="1">
                        <a:buFont typeface="Wingdings" panose="05000000000000000000" pitchFamily="2" charset="2"/>
                        <a:buChar char="Ø"/>
                      </a:pPr>
                      <a:r>
                        <a:rPr lang="en-GB" sz="1200" kern="1200" dirty="0" smtClean="0">
                          <a:solidFill>
                            <a:schemeClr val="tx1"/>
                          </a:solidFill>
                          <a:latin typeface="+mn-lt"/>
                          <a:ea typeface="+mn-ea"/>
                          <a:cs typeface="+mn-cs"/>
                        </a:rPr>
                        <a:t>start </a:t>
                      </a:r>
                      <a:r>
                        <a:rPr lang="en-GB" sz="1200" kern="1200" dirty="0">
                          <a:solidFill>
                            <a:schemeClr val="tx1"/>
                          </a:solidFill>
                          <a:latin typeface="+mn-lt"/>
                          <a:ea typeface="+mn-ea"/>
                          <a:cs typeface="+mn-cs"/>
                        </a:rPr>
                        <a:t>cutting only if fully </a:t>
                      </a:r>
                      <a:r>
                        <a:rPr lang="en-GB" sz="1200" kern="1200" dirty="0" smtClean="0">
                          <a:solidFill>
                            <a:schemeClr val="tx1"/>
                          </a:solidFill>
                          <a:latin typeface="+mn-lt"/>
                          <a:ea typeface="+mn-ea"/>
                          <a:cs typeface="+mn-cs"/>
                        </a:rPr>
                        <a:t>ready</a:t>
                      </a:r>
                    </a:p>
                    <a:p>
                      <a:pPr marL="171450" indent="-171450" algn="l" defTabSz="914400" rtl="0" eaLnBrk="1" latinLnBrk="0" hangingPunct="1">
                        <a:buFont typeface="Wingdings" panose="05000000000000000000" pitchFamily="2" charset="2"/>
                        <a:buChar char="Ø"/>
                      </a:pPr>
                      <a:r>
                        <a:rPr lang="en-GB" sz="1200" kern="1200" dirty="0" smtClean="0">
                          <a:solidFill>
                            <a:schemeClr val="tx1"/>
                          </a:solidFill>
                          <a:latin typeface="+mn-lt"/>
                          <a:ea typeface="+mn-ea"/>
                          <a:cs typeface="+mn-cs"/>
                        </a:rPr>
                        <a:t> </a:t>
                      </a:r>
                      <a:r>
                        <a:rPr lang="en-GB" sz="1200" kern="1200" dirty="0">
                          <a:solidFill>
                            <a:schemeClr val="tx1"/>
                          </a:solidFill>
                          <a:latin typeface="+mn-lt"/>
                          <a:ea typeface="+mn-ea"/>
                          <a:cs typeface="+mn-cs"/>
                        </a:rPr>
                        <a:t>escalate</a:t>
                      </a:r>
                    </a:p>
                  </a:txBody>
                  <a:tcPr anchor="ctr">
                    <a:lnL>
                      <a:noFill/>
                    </a:lnL>
                    <a:lnR>
                      <a:noFill/>
                    </a:lnR>
                    <a:lnT>
                      <a:noFill/>
                    </a:lnT>
                    <a:lnB>
                      <a:noFill/>
                    </a:lnB>
                  </a:tcPr>
                </a:tc>
              </a:tr>
            </a:tbl>
          </a:graphicData>
        </a:graphic>
      </p:graphicFrame>
      <p:sp>
        <p:nvSpPr>
          <p:cNvPr id="80" name="Rectangle 79"/>
          <p:cNvSpPr/>
          <p:nvPr/>
        </p:nvSpPr>
        <p:spPr>
          <a:xfrm>
            <a:off x="4855846" y="3349630"/>
            <a:ext cx="2765905" cy="646331"/>
          </a:xfrm>
          <a:prstGeom prst="rect">
            <a:avLst/>
          </a:prstGeom>
        </p:spPr>
        <p:txBody>
          <a:bodyPr wrap="square">
            <a:spAutoFit/>
          </a:bodyPr>
          <a:lstStyle/>
          <a:p>
            <a:pPr marL="171450" indent="-171450">
              <a:buFont typeface="Wingdings" panose="05000000000000000000" pitchFamily="2" charset="2"/>
              <a:buChar char="Ø"/>
            </a:pPr>
            <a:r>
              <a:rPr lang="en-GB" sz="1200" dirty="0"/>
              <a:t>Track PO-wise </a:t>
            </a:r>
            <a:r>
              <a:rPr lang="en-GB" sz="1200" dirty="0" smtClean="0"/>
              <a:t>readiness </a:t>
            </a:r>
          </a:p>
          <a:p>
            <a:pPr marL="171450" indent="-171450">
              <a:buFont typeface="Wingdings" panose="05000000000000000000" pitchFamily="2" charset="2"/>
              <a:buChar char="Ø"/>
            </a:pPr>
            <a:r>
              <a:rPr lang="en-GB" sz="1200" dirty="0" smtClean="0"/>
              <a:t>material issues</a:t>
            </a:r>
          </a:p>
          <a:p>
            <a:pPr marL="171450" indent="-171450">
              <a:buFont typeface="Wingdings" panose="05000000000000000000" pitchFamily="2" charset="2"/>
              <a:buChar char="Ø"/>
            </a:pPr>
            <a:r>
              <a:rPr lang="en-GB" sz="1200" dirty="0" smtClean="0"/>
              <a:t>escalate </a:t>
            </a:r>
            <a:r>
              <a:rPr lang="en-GB" sz="1200" dirty="0"/>
              <a:t>to teams</a:t>
            </a:r>
            <a:endParaRPr lang="en-IN" sz="1200" dirty="0"/>
          </a:p>
        </p:txBody>
      </p:sp>
      <p:sp>
        <p:nvSpPr>
          <p:cNvPr id="81" name="Rectangle 80"/>
          <p:cNvSpPr/>
          <p:nvPr/>
        </p:nvSpPr>
        <p:spPr>
          <a:xfrm>
            <a:off x="1733818" y="3335489"/>
            <a:ext cx="1886417" cy="646331"/>
          </a:xfrm>
          <a:prstGeom prst="rect">
            <a:avLst/>
          </a:prstGeom>
        </p:spPr>
        <p:txBody>
          <a:bodyPr wrap="square">
            <a:spAutoFit/>
          </a:bodyPr>
          <a:lstStyle/>
          <a:p>
            <a:pPr marL="171450" indent="-171450">
              <a:buFont typeface="Wingdings" panose="05000000000000000000" pitchFamily="2" charset="2"/>
              <a:buChar char="Ø"/>
            </a:pPr>
            <a:r>
              <a:rPr lang="en-GB" sz="1200" dirty="0"/>
              <a:t>Ensure BOM is </a:t>
            </a:r>
            <a:r>
              <a:rPr lang="en-GB" sz="1200" dirty="0" smtClean="0"/>
              <a:t>accurate </a:t>
            </a:r>
          </a:p>
          <a:p>
            <a:pPr marL="171450" indent="-171450">
              <a:buFont typeface="Wingdings" panose="05000000000000000000" pitchFamily="2" charset="2"/>
              <a:buChar char="Ø"/>
            </a:pPr>
            <a:r>
              <a:rPr lang="en-GB" sz="1200" dirty="0" smtClean="0"/>
              <a:t>validate </a:t>
            </a:r>
            <a:r>
              <a:rPr lang="en-GB" sz="1200" dirty="0"/>
              <a:t>material </a:t>
            </a:r>
            <a:r>
              <a:rPr lang="en-GB" sz="1200" dirty="0" smtClean="0"/>
              <a:t>need </a:t>
            </a:r>
          </a:p>
          <a:p>
            <a:pPr marL="171450" indent="-171450">
              <a:buFont typeface="Wingdings" panose="05000000000000000000" pitchFamily="2" charset="2"/>
              <a:buChar char="Ø"/>
            </a:pPr>
            <a:r>
              <a:rPr lang="en-GB" sz="1200" dirty="0" smtClean="0"/>
              <a:t>resolve </a:t>
            </a:r>
            <a:r>
              <a:rPr lang="en-GB" sz="1200" dirty="0"/>
              <a:t>errors</a:t>
            </a:r>
            <a:endParaRPr lang="en-IN" sz="1200" dirty="0"/>
          </a:p>
        </p:txBody>
      </p:sp>
      <p:cxnSp>
        <p:nvCxnSpPr>
          <p:cNvPr id="82" name="Straight Arrow Connector 81"/>
          <p:cNvCxnSpPr/>
          <p:nvPr/>
        </p:nvCxnSpPr>
        <p:spPr>
          <a:xfrm flipH="1">
            <a:off x="3620235" y="2349969"/>
            <a:ext cx="1705087" cy="1187212"/>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6314682" y="2417934"/>
            <a:ext cx="2028101" cy="111712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V="1">
            <a:off x="7077455" y="4173085"/>
            <a:ext cx="1237673" cy="455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3985623" y="4214412"/>
            <a:ext cx="878605" cy="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6031293" y="1017549"/>
            <a:ext cx="1736686" cy="461665"/>
          </a:xfrm>
          <a:prstGeom prst="rect">
            <a:avLst/>
          </a:prstGeom>
        </p:spPr>
        <p:txBody>
          <a:bodyPr wrap="square">
            <a:spAutoFit/>
          </a:bodyPr>
          <a:lstStyle/>
          <a:p>
            <a:r>
              <a:rPr lang="en-IN" sz="1200" dirty="0">
                <a:solidFill>
                  <a:srgbClr val="C00000"/>
                </a:solidFill>
              </a:rPr>
              <a:t>Provides base material requirements.</a:t>
            </a:r>
          </a:p>
        </p:txBody>
      </p:sp>
      <p:cxnSp>
        <p:nvCxnSpPr>
          <p:cNvPr id="87" name="Straight Arrow Connector 86"/>
          <p:cNvCxnSpPr/>
          <p:nvPr/>
        </p:nvCxnSpPr>
        <p:spPr>
          <a:xfrm>
            <a:off x="5883625" y="937766"/>
            <a:ext cx="0" cy="4616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3404462" y="1967191"/>
            <a:ext cx="1801103" cy="280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p:cNvSpPr/>
          <p:nvPr/>
        </p:nvSpPr>
        <p:spPr>
          <a:xfrm>
            <a:off x="3529265" y="1588138"/>
            <a:ext cx="1429494" cy="276999"/>
          </a:xfrm>
          <a:prstGeom prst="rect">
            <a:avLst/>
          </a:prstGeom>
        </p:spPr>
        <p:txBody>
          <a:bodyPr wrap="none">
            <a:spAutoFit/>
          </a:bodyPr>
          <a:lstStyle/>
          <a:p>
            <a:r>
              <a:rPr lang="en-IN" sz="1200" dirty="0">
                <a:solidFill>
                  <a:srgbClr val="C00000"/>
                </a:solidFill>
              </a:rPr>
              <a:t>Input purchase data</a:t>
            </a:r>
          </a:p>
        </p:txBody>
      </p:sp>
      <p:cxnSp>
        <p:nvCxnSpPr>
          <p:cNvPr id="90" name="Straight Arrow Connector 89"/>
          <p:cNvCxnSpPr/>
          <p:nvPr/>
        </p:nvCxnSpPr>
        <p:spPr>
          <a:xfrm flipH="1" flipV="1">
            <a:off x="3395989" y="2079551"/>
            <a:ext cx="1788853" cy="256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6506011" y="1987783"/>
            <a:ext cx="1801103" cy="280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H="1" flipV="1">
            <a:off x="6497538" y="2100143"/>
            <a:ext cx="1788853" cy="256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p:cNvSpPr/>
          <p:nvPr/>
        </p:nvSpPr>
        <p:spPr>
          <a:xfrm>
            <a:off x="6677802" y="2196099"/>
            <a:ext cx="1570238" cy="276999"/>
          </a:xfrm>
          <a:prstGeom prst="rect">
            <a:avLst/>
          </a:prstGeom>
        </p:spPr>
        <p:txBody>
          <a:bodyPr wrap="none">
            <a:spAutoFit/>
          </a:bodyPr>
          <a:lstStyle/>
          <a:p>
            <a:r>
              <a:rPr lang="en-IN" sz="1200" dirty="0" smtClean="0">
                <a:solidFill>
                  <a:srgbClr val="C00000"/>
                </a:solidFill>
              </a:rPr>
              <a:t>Warehouse stock data</a:t>
            </a:r>
            <a:endParaRPr lang="en-IN" sz="1200" dirty="0">
              <a:solidFill>
                <a:srgbClr val="C00000"/>
              </a:solidFill>
            </a:endParaRPr>
          </a:p>
        </p:txBody>
      </p:sp>
      <p:sp>
        <p:nvSpPr>
          <p:cNvPr id="94" name="Rounded Rectangle 93"/>
          <p:cNvSpPr/>
          <p:nvPr/>
        </p:nvSpPr>
        <p:spPr>
          <a:xfrm>
            <a:off x="1370" y="6404937"/>
            <a:ext cx="12192000" cy="45066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400" dirty="0"/>
              <a:t>Cutting Material Report auto-syncs </a:t>
            </a:r>
            <a:r>
              <a:rPr lang="en-GB" sz="1400" dirty="0" smtClean="0"/>
              <a:t>BOM,PURCHASE, WAREHOUSE, PLANNING AND PO DATA| </a:t>
            </a:r>
            <a:r>
              <a:rPr lang="en-GB" sz="1400" dirty="0"/>
              <a:t>Triggers alerts and tracks material readiness</a:t>
            </a:r>
            <a:endParaRPr lang="en-IN" sz="1400" dirty="0"/>
          </a:p>
        </p:txBody>
      </p:sp>
      <p:sp>
        <p:nvSpPr>
          <p:cNvPr id="95" name="Rectangle 94"/>
          <p:cNvSpPr/>
          <p:nvPr/>
        </p:nvSpPr>
        <p:spPr>
          <a:xfrm>
            <a:off x="7260915" y="4154816"/>
            <a:ext cx="721672" cy="307777"/>
          </a:xfrm>
          <a:prstGeom prst="rect">
            <a:avLst/>
          </a:prstGeom>
        </p:spPr>
        <p:txBody>
          <a:bodyPr wrap="none">
            <a:spAutoFit/>
          </a:bodyPr>
          <a:lstStyle/>
          <a:p>
            <a:r>
              <a:rPr lang="en-IN" sz="1400" dirty="0" smtClean="0">
                <a:solidFill>
                  <a:schemeClr val="bg2">
                    <a:lumMod val="50000"/>
                  </a:schemeClr>
                </a:solidFill>
              </a:rPr>
              <a:t>Assigns</a:t>
            </a:r>
            <a:endParaRPr lang="en-IN" sz="1400" dirty="0">
              <a:solidFill>
                <a:schemeClr val="bg2">
                  <a:lumMod val="50000"/>
                </a:schemeClr>
              </a:solidFill>
            </a:endParaRPr>
          </a:p>
        </p:txBody>
      </p:sp>
      <p:sp>
        <p:nvSpPr>
          <p:cNvPr id="96" name="Rectangle 95"/>
          <p:cNvSpPr/>
          <p:nvPr/>
        </p:nvSpPr>
        <p:spPr>
          <a:xfrm>
            <a:off x="4102189" y="4235751"/>
            <a:ext cx="656783" cy="307777"/>
          </a:xfrm>
          <a:prstGeom prst="rect">
            <a:avLst/>
          </a:prstGeom>
        </p:spPr>
        <p:txBody>
          <a:bodyPr wrap="none">
            <a:spAutoFit/>
          </a:bodyPr>
          <a:lstStyle/>
          <a:p>
            <a:r>
              <a:rPr lang="en-IN" sz="1400" dirty="0" smtClean="0">
                <a:solidFill>
                  <a:schemeClr val="bg2">
                    <a:lumMod val="50000"/>
                  </a:schemeClr>
                </a:solidFill>
              </a:rPr>
              <a:t>shares</a:t>
            </a:r>
            <a:endParaRPr lang="en-IN" dirty="0">
              <a:solidFill>
                <a:schemeClr val="bg2">
                  <a:lumMod val="50000"/>
                </a:schemeClr>
              </a:solidFill>
            </a:endParaRPr>
          </a:p>
        </p:txBody>
      </p:sp>
    </p:spTree>
    <p:extLst>
      <p:ext uri="{BB962C8B-B14F-4D97-AF65-F5344CB8AC3E}">
        <p14:creationId xmlns:p14="http://schemas.microsoft.com/office/powerpoint/2010/main" val="308226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ounded Rectangle 3"/>
          <p:cNvSpPr/>
          <p:nvPr/>
        </p:nvSpPr>
        <p:spPr>
          <a:xfrm>
            <a:off x="364834" y="902460"/>
            <a:ext cx="2530764" cy="5911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1600" dirty="0"/>
              <a:t>📋 Assigned </a:t>
            </a:r>
            <a:r>
              <a:rPr lang="en-IN" sz="1600" dirty="0" smtClean="0"/>
              <a:t>Pos</a:t>
            </a:r>
          </a:p>
          <a:p>
            <a:pPr algn="ctr"/>
            <a:r>
              <a:rPr lang="en-GB" sz="1600" dirty="0"/>
              <a:t>5</a:t>
            </a:r>
            <a:endParaRPr lang="en-IN" sz="1600" dirty="0"/>
          </a:p>
        </p:txBody>
      </p:sp>
      <p:sp>
        <p:nvSpPr>
          <p:cNvPr id="5" name="Rounded Rectangle 4"/>
          <p:cNvSpPr/>
          <p:nvPr/>
        </p:nvSpPr>
        <p:spPr>
          <a:xfrm>
            <a:off x="3144981" y="897858"/>
            <a:ext cx="2530764" cy="59112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dirty="0"/>
              <a:t>✅ Ready to </a:t>
            </a:r>
            <a:r>
              <a:rPr lang="en-IN" sz="1600" dirty="0" smtClean="0"/>
              <a:t>Cutting</a:t>
            </a:r>
          </a:p>
          <a:p>
            <a:pPr algn="ctr"/>
            <a:r>
              <a:rPr lang="en-GB" sz="1600" dirty="0"/>
              <a:t>3</a:t>
            </a:r>
            <a:endParaRPr lang="en-IN" sz="1600" dirty="0"/>
          </a:p>
        </p:txBody>
      </p:sp>
      <p:sp>
        <p:nvSpPr>
          <p:cNvPr id="6" name="Rounded Rectangle 5"/>
          <p:cNvSpPr/>
          <p:nvPr/>
        </p:nvSpPr>
        <p:spPr>
          <a:xfrm>
            <a:off x="5966691" y="905547"/>
            <a:ext cx="2530764" cy="591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600" dirty="0"/>
              <a:t>❌ Not </a:t>
            </a:r>
            <a:r>
              <a:rPr lang="en-IN" sz="1600" dirty="0" smtClean="0"/>
              <a:t>Ready</a:t>
            </a:r>
          </a:p>
          <a:p>
            <a:pPr algn="ctr"/>
            <a:r>
              <a:rPr lang="en-GB" sz="1600" dirty="0" smtClean="0"/>
              <a:t>1</a:t>
            </a:r>
            <a:endParaRPr lang="en-IN" sz="1600" dirty="0"/>
          </a:p>
        </p:txBody>
      </p:sp>
      <p:sp>
        <p:nvSpPr>
          <p:cNvPr id="7" name="Rounded Rectangle 6"/>
          <p:cNvSpPr/>
          <p:nvPr/>
        </p:nvSpPr>
        <p:spPr>
          <a:xfrm>
            <a:off x="8913090" y="897730"/>
            <a:ext cx="2530764" cy="59112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dirty="0"/>
              <a:t>Escalated </a:t>
            </a:r>
            <a:endParaRPr lang="en-IN" dirty="0" smtClean="0"/>
          </a:p>
          <a:p>
            <a:pPr algn="ctr"/>
            <a:r>
              <a:rPr lang="en-GB" dirty="0"/>
              <a:t>1</a:t>
            </a:r>
            <a:endParaRPr lang="en-GB" dirty="0" smtClean="0"/>
          </a:p>
        </p:txBody>
      </p:sp>
      <p:graphicFrame>
        <p:nvGraphicFramePr>
          <p:cNvPr id="9" name="Table 8"/>
          <p:cNvGraphicFramePr>
            <a:graphicFrameLocks noGrp="1"/>
          </p:cNvGraphicFramePr>
          <p:nvPr>
            <p:extLst/>
          </p:nvPr>
        </p:nvGraphicFramePr>
        <p:xfrm>
          <a:off x="364834" y="1922330"/>
          <a:ext cx="8451275" cy="1112520"/>
        </p:xfrm>
        <a:graphic>
          <a:graphicData uri="http://schemas.openxmlformats.org/drawingml/2006/table">
            <a:tbl>
              <a:tblPr firstRow="1" bandRow="1">
                <a:tableStyleId>{5C22544A-7EE6-4342-B048-85BDC9FD1C3A}</a:tableStyleId>
              </a:tblPr>
              <a:tblGrid>
                <a:gridCol w="1690255"/>
                <a:gridCol w="1690255"/>
                <a:gridCol w="1690255"/>
                <a:gridCol w="1690255"/>
                <a:gridCol w="1690255"/>
              </a:tblGrid>
              <a:tr h="370840">
                <a:tc>
                  <a:txBody>
                    <a:bodyPr/>
                    <a:lstStyle/>
                    <a:p>
                      <a:r>
                        <a:rPr lang="en-GB" dirty="0" smtClean="0"/>
                        <a:t>Day</a:t>
                      </a:r>
                      <a:endParaRPr lang="en-IN" dirty="0"/>
                    </a:p>
                  </a:txBody>
                  <a:tcPr/>
                </a:tc>
                <a:tc>
                  <a:txBody>
                    <a:bodyPr/>
                    <a:lstStyle/>
                    <a:p>
                      <a:r>
                        <a:rPr lang="en-GB" dirty="0" smtClean="0"/>
                        <a:t>Line</a:t>
                      </a:r>
                      <a:endParaRPr lang="en-IN" dirty="0"/>
                    </a:p>
                  </a:txBody>
                  <a:tcPr/>
                </a:tc>
                <a:tc>
                  <a:txBody>
                    <a:bodyPr/>
                    <a:lstStyle/>
                    <a:p>
                      <a:r>
                        <a:rPr lang="en-GB" dirty="0" smtClean="0"/>
                        <a:t>PO NO</a:t>
                      </a:r>
                      <a:endParaRPr lang="en-IN" dirty="0"/>
                    </a:p>
                  </a:txBody>
                  <a:tcPr/>
                </a:tc>
                <a:tc>
                  <a:txBody>
                    <a:bodyPr/>
                    <a:lstStyle/>
                    <a:p>
                      <a:r>
                        <a:rPr lang="en-GB" dirty="0" smtClean="0"/>
                        <a:t>Article </a:t>
                      </a:r>
                      <a:endParaRPr lang="en-IN" dirty="0"/>
                    </a:p>
                  </a:txBody>
                  <a:tcPr/>
                </a:tc>
                <a:tc>
                  <a:txBody>
                    <a:bodyPr/>
                    <a:lstStyle/>
                    <a:p>
                      <a:r>
                        <a:rPr lang="en-GB" dirty="0" smtClean="0"/>
                        <a:t>Material Status</a:t>
                      </a:r>
                      <a:r>
                        <a:rPr lang="en-GB" baseline="0" dirty="0" smtClean="0"/>
                        <a:t> </a:t>
                      </a:r>
                      <a:endParaRPr lang="en-IN" dirty="0"/>
                    </a:p>
                  </a:txBody>
                  <a:tcPr/>
                </a:tc>
              </a:tr>
              <a:tr h="370840">
                <a:tc>
                  <a:txBody>
                    <a:bodyPr/>
                    <a:lstStyle/>
                    <a:p>
                      <a:r>
                        <a:rPr lang="en-GB" sz="1400" dirty="0" smtClean="0"/>
                        <a:t>2025/07/05</a:t>
                      </a:r>
                      <a:endParaRPr lang="en-IN" sz="1400" dirty="0"/>
                    </a:p>
                  </a:txBody>
                  <a:tcPr/>
                </a:tc>
                <a:tc>
                  <a:txBody>
                    <a:bodyPr/>
                    <a:lstStyle/>
                    <a:p>
                      <a:r>
                        <a:rPr lang="en-GB" sz="1400" dirty="0" smtClean="0"/>
                        <a:t>AP11CO5</a:t>
                      </a:r>
                      <a:endParaRPr lang="en-IN" sz="1400" dirty="0"/>
                    </a:p>
                  </a:txBody>
                  <a:tcPr/>
                </a:tc>
                <a:tc>
                  <a:txBody>
                    <a:bodyPr/>
                    <a:lstStyle/>
                    <a:p>
                      <a:r>
                        <a:rPr lang="en-IN" sz="1400" kern="1200" dirty="0" smtClean="0">
                          <a:solidFill>
                            <a:schemeClr val="dk1"/>
                          </a:solidFill>
                          <a:effectLst/>
                          <a:latin typeface="+mn-lt"/>
                          <a:ea typeface="+mn-ea"/>
                          <a:cs typeface="+mn-cs"/>
                        </a:rPr>
                        <a:t>1000042525</a:t>
                      </a:r>
                      <a:endParaRPr lang="en-IN" sz="1400" dirty="0"/>
                    </a:p>
                  </a:txBody>
                  <a:tcPr/>
                </a:tc>
                <a:tc>
                  <a:txBody>
                    <a:bodyPr/>
                    <a:lstStyle/>
                    <a:p>
                      <a:r>
                        <a:rPr lang="en-GB" sz="1400" b="0" dirty="0" smtClean="0"/>
                        <a:t>Samba</a:t>
                      </a:r>
                      <a:endParaRPr lang="en-IN" sz="14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smtClean="0"/>
                        <a:t>✅ OK</a:t>
                      </a:r>
                    </a:p>
                  </a:txBody>
                  <a:tcPr/>
                </a:tc>
              </a:tr>
              <a:tr h="370840">
                <a:tc>
                  <a:txBody>
                    <a:bodyPr/>
                    <a:lstStyle/>
                    <a:p>
                      <a:endParaRPr lang="en-IN" sz="1400" dirty="0"/>
                    </a:p>
                  </a:txBody>
                  <a:tcPr/>
                </a:tc>
                <a:tc>
                  <a:txBody>
                    <a:bodyPr/>
                    <a:lstStyle/>
                    <a:p>
                      <a:endParaRPr lang="en-IN" sz="1400" dirty="0"/>
                    </a:p>
                  </a:txBody>
                  <a:tcPr/>
                </a:tc>
                <a:tc>
                  <a:txBody>
                    <a:bodyPr/>
                    <a:lstStyle/>
                    <a:p>
                      <a:r>
                        <a:rPr lang="en-IN" sz="1400" kern="1200" dirty="0" smtClean="0">
                          <a:solidFill>
                            <a:schemeClr val="dk1"/>
                          </a:solidFill>
                          <a:effectLst/>
                          <a:latin typeface="+mn-lt"/>
                          <a:ea typeface="+mn-ea"/>
                          <a:cs typeface="+mn-cs"/>
                        </a:rPr>
                        <a:t>1000042579</a:t>
                      </a:r>
                      <a:endParaRPr lang="en-IN" sz="1400" dirty="0"/>
                    </a:p>
                  </a:txBody>
                  <a:tcPr/>
                </a:tc>
                <a:tc>
                  <a:txBody>
                    <a:bodyPr/>
                    <a:lstStyle/>
                    <a:p>
                      <a:r>
                        <a:rPr lang="en-GB" sz="1400" dirty="0" smtClean="0"/>
                        <a:t>Samba</a:t>
                      </a:r>
                      <a:endParaRPr lang="en-IN"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smtClean="0"/>
                        <a:t>❌ Short</a:t>
                      </a:r>
                    </a:p>
                  </a:txBody>
                  <a:tcPr/>
                </a:tc>
              </a:tr>
            </a:tbl>
          </a:graphicData>
        </a:graphic>
      </p:graphicFrame>
      <p:graphicFrame>
        <p:nvGraphicFramePr>
          <p:cNvPr id="11" name="Table 10"/>
          <p:cNvGraphicFramePr>
            <a:graphicFrameLocks noGrp="1"/>
          </p:cNvGraphicFramePr>
          <p:nvPr>
            <p:extLst/>
          </p:nvPr>
        </p:nvGraphicFramePr>
        <p:xfrm>
          <a:off x="415637" y="3942229"/>
          <a:ext cx="11203709" cy="1346200"/>
        </p:xfrm>
        <a:graphic>
          <a:graphicData uri="http://schemas.openxmlformats.org/drawingml/2006/table">
            <a:tbl>
              <a:tblPr firstRow="1" bandRow="1">
                <a:tableStyleId>{5C22544A-7EE6-4342-B048-85BDC9FD1C3A}</a:tableStyleId>
              </a:tblPr>
              <a:tblGrid>
                <a:gridCol w="1182254"/>
                <a:gridCol w="785091"/>
                <a:gridCol w="868218"/>
                <a:gridCol w="1797398"/>
                <a:gridCol w="853438"/>
                <a:gridCol w="1016000"/>
                <a:gridCol w="923637"/>
                <a:gridCol w="905163"/>
                <a:gridCol w="1752139"/>
                <a:gridCol w="1120371"/>
              </a:tblGrid>
              <a:tr h="370840">
                <a:tc>
                  <a:txBody>
                    <a:bodyPr/>
                    <a:lstStyle/>
                    <a:p>
                      <a:r>
                        <a:rPr lang="en-GB" sz="1400" dirty="0" smtClean="0"/>
                        <a:t>PO NO</a:t>
                      </a:r>
                      <a:endParaRPr lang="en-IN" sz="1400" dirty="0"/>
                    </a:p>
                  </a:txBody>
                  <a:tcPr/>
                </a:tc>
                <a:tc>
                  <a:txBody>
                    <a:bodyPr/>
                    <a:lstStyle/>
                    <a:p>
                      <a:r>
                        <a:rPr lang="en-GB" sz="1400" dirty="0" smtClean="0"/>
                        <a:t>Article</a:t>
                      </a:r>
                      <a:endParaRPr lang="en-IN" sz="1400" dirty="0"/>
                    </a:p>
                  </a:txBody>
                  <a:tcPr/>
                </a:tc>
                <a:tc>
                  <a:txBody>
                    <a:bodyPr/>
                    <a:lstStyle/>
                    <a:p>
                      <a:r>
                        <a:rPr lang="en-GB" sz="1400" dirty="0" smtClean="0"/>
                        <a:t>Material</a:t>
                      </a:r>
                      <a:endParaRPr lang="en-IN" sz="1400" dirty="0"/>
                    </a:p>
                  </a:txBody>
                  <a:tcPr/>
                </a:tc>
                <a:tc>
                  <a:txBody>
                    <a:bodyPr/>
                    <a:lstStyle/>
                    <a:p>
                      <a:r>
                        <a:rPr lang="en-GB" sz="1400" dirty="0" smtClean="0"/>
                        <a:t>Material Name</a:t>
                      </a:r>
                      <a:endParaRPr lang="en-IN" sz="1400" dirty="0"/>
                    </a:p>
                  </a:txBody>
                  <a:tcPr/>
                </a:tc>
                <a:tc>
                  <a:txBody>
                    <a:bodyPr/>
                    <a:lstStyle/>
                    <a:p>
                      <a:r>
                        <a:rPr lang="en-GB" sz="1400" dirty="0" smtClean="0"/>
                        <a:t>Required Qty</a:t>
                      </a:r>
                      <a:endParaRPr lang="en-IN" sz="1400" dirty="0"/>
                    </a:p>
                  </a:txBody>
                  <a:tcPr/>
                </a:tc>
                <a:tc>
                  <a:txBody>
                    <a:bodyPr/>
                    <a:lstStyle/>
                    <a:p>
                      <a:r>
                        <a:rPr lang="en-GB" sz="1400" dirty="0" smtClean="0"/>
                        <a:t>Available Qty</a:t>
                      </a:r>
                      <a:endParaRPr lang="en-IN" sz="1400" dirty="0"/>
                    </a:p>
                  </a:txBody>
                  <a:tcPr/>
                </a:tc>
                <a:tc>
                  <a:txBody>
                    <a:bodyPr/>
                    <a:lstStyle/>
                    <a:p>
                      <a:r>
                        <a:rPr lang="en-GB" sz="1400" dirty="0" smtClean="0"/>
                        <a:t>Shortage</a:t>
                      </a:r>
                      <a:r>
                        <a:rPr lang="en-GB" sz="1400" baseline="0" dirty="0" smtClean="0"/>
                        <a:t> Qty</a:t>
                      </a:r>
                      <a:endParaRPr lang="en-IN" sz="1400" dirty="0"/>
                    </a:p>
                  </a:txBody>
                  <a:tcPr/>
                </a:tc>
                <a:tc>
                  <a:txBody>
                    <a:bodyPr/>
                    <a:lstStyle/>
                    <a:p>
                      <a:r>
                        <a:rPr lang="en-GB" sz="1400" dirty="0" smtClean="0"/>
                        <a:t>Status</a:t>
                      </a:r>
                      <a:endParaRPr lang="en-IN" sz="1400" dirty="0"/>
                    </a:p>
                  </a:txBody>
                  <a:tcPr/>
                </a:tc>
                <a:tc>
                  <a:txBody>
                    <a:bodyPr/>
                    <a:lstStyle/>
                    <a:p>
                      <a:r>
                        <a:rPr lang="en-GB" sz="1400" dirty="0" smtClean="0"/>
                        <a:t>Invoice </a:t>
                      </a:r>
                      <a:endParaRPr lang="en-IN" sz="1400" dirty="0"/>
                    </a:p>
                  </a:txBody>
                  <a:tcPr/>
                </a:tc>
                <a:tc>
                  <a:txBody>
                    <a:bodyPr/>
                    <a:lstStyle/>
                    <a:p>
                      <a:r>
                        <a:rPr lang="en-GB" sz="1400" dirty="0" smtClean="0"/>
                        <a:t>ETA</a:t>
                      </a:r>
                      <a:endParaRPr lang="en-IN" sz="1400" dirty="0"/>
                    </a:p>
                  </a:txBody>
                  <a:tcPr/>
                </a:tc>
              </a:tr>
              <a:tr h="370840">
                <a:tc>
                  <a:txBody>
                    <a:bodyPr/>
                    <a:lstStyle/>
                    <a:p>
                      <a:r>
                        <a:rPr lang="en-IN" sz="1400" kern="1200" dirty="0" smtClean="0">
                          <a:effectLst/>
                        </a:rPr>
                        <a:t>1000206709</a:t>
                      </a:r>
                      <a:endParaRPr lang="en-IN" sz="1400" dirty="0"/>
                    </a:p>
                  </a:txBody>
                  <a:tcPr/>
                </a:tc>
                <a:tc>
                  <a:txBody>
                    <a:bodyPr/>
                    <a:lstStyle/>
                    <a:p>
                      <a:r>
                        <a:rPr lang="en-GB" sz="1400" dirty="0" smtClean="0"/>
                        <a:t>Samba</a:t>
                      </a:r>
                      <a:endParaRPr lang="en-IN" sz="1400" dirty="0"/>
                    </a:p>
                  </a:txBody>
                  <a:tcPr/>
                </a:tc>
                <a:tc>
                  <a:txBody>
                    <a:bodyPr/>
                    <a:lstStyle/>
                    <a:p>
                      <a:r>
                        <a:rPr lang="en-GB" sz="1400" dirty="0" smtClean="0"/>
                        <a:t>M001</a:t>
                      </a:r>
                      <a:endParaRPr lang="en-IN" sz="1400" dirty="0"/>
                    </a:p>
                  </a:txBody>
                  <a:tcPr/>
                </a:tc>
                <a:tc>
                  <a:txBody>
                    <a:bodyPr/>
                    <a:lstStyle/>
                    <a:p>
                      <a:r>
                        <a:rPr lang="en-GB" sz="1400" dirty="0" smtClean="0"/>
                        <a:t>Material 1 </a:t>
                      </a:r>
                      <a:endParaRPr lang="en-IN" sz="1400" dirty="0"/>
                    </a:p>
                  </a:txBody>
                  <a:tcPr/>
                </a:tc>
                <a:tc>
                  <a:txBody>
                    <a:bodyPr/>
                    <a:lstStyle/>
                    <a:p>
                      <a:r>
                        <a:rPr lang="en-GB" sz="1400" dirty="0" smtClean="0"/>
                        <a:t>125</a:t>
                      </a:r>
                      <a:endParaRPr lang="en-IN" sz="1400" dirty="0"/>
                    </a:p>
                  </a:txBody>
                  <a:tcPr/>
                </a:tc>
                <a:tc>
                  <a:txBody>
                    <a:bodyPr/>
                    <a:lstStyle/>
                    <a:p>
                      <a:r>
                        <a:rPr lang="en-GB" sz="1400" dirty="0" smtClean="0"/>
                        <a:t>125</a:t>
                      </a:r>
                      <a:endParaRPr lang="en-IN" sz="1400" dirty="0"/>
                    </a:p>
                  </a:txBody>
                  <a:tcPr/>
                </a:tc>
                <a:tc>
                  <a:txBody>
                    <a:bodyPr/>
                    <a:lstStyle/>
                    <a:p>
                      <a:r>
                        <a:rPr lang="en-GB" sz="1400" dirty="0" smtClean="0"/>
                        <a:t>0</a:t>
                      </a:r>
                      <a:endParaRPr lang="en-IN" sz="1400" dirty="0"/>
                    </a:p>
                  </a:txBody>
                  <a:tcPr/>
                </a:tc>
                <a:tc>
                  <a:txBody>
                    <a:bodyPr/>
                    <a:lstStyle/>
                    <a:p>
                      <a:r>
                        <a:rPr lang="en-IN" sz="1400" dirty="0" smtClean="0"/>
                        <a:t>✅ OK</a:t>
                      </a:r>
                      <a:endParaRPr lang="en-IN" sz="1400" dirty="0"/>
                    </a:p>
                  </a:txBody>
                  <a:tcPr/>
                </a:tc>
                <a:tc>
                  <a:txBody>
                    <a:bodyPr/>
                    <a:lstStyle/>
                    <a:p>
                      <a:endParaRPr lang="en-IN" sz="1400" dirty="0"/>
                    </a:p>
                  </a:txBody>
                  <a:tcPr/>
                </a:tc>
                <a:tc>
                  <a:txBody>
                    <a:bodyPr/>
                    <a:lstStyle/>
                    <a:p>
                      <a:endParaRPr lang="en-IN" sz="1400" dirty="0"/>
                    </a:p>
                  </a:txBody>
                  <a:tcPr/>
                </a:tc>
              </a:tr>
              <a:tr h="370840">
                <a:tc>
                  <a:txBody>
                    <a:bodyPr/>
                    <a:lstStyle/>
                    <a:p>
                      <a:r>
                        <a:rPr lang="en-IN" sz="1400" kern="1200" dirty="0" smtClean="0">
                          <a:effectLst/>
                        </a:rPr>
                        <a:t>1000206709</a:t>
                      </a:r>
                      <a:endParaRPr lang="en-IN" sz="1400" dirty="0"/>
                    </a:p>
                  </a:txBody>
                  <a:tcPr/>
                </a:tc>
                <a:tc>
                  <a:txBody>
                    <a:bodyPr/>
                    <a:lstStyle/>
                    <a:p>
                      <a:r>
                        <a:rPr lang="en-GB" sz="1400" dirty="0" smtClean="0"/>
                        <a:t>Samba</a:t>
                      </a:r>
                      <a:endParaRPr lang="en-IN" sz="1400" dirty="0"/>
                    </a:p>
                  </a:txBody>
                  <a:tcPr/>
                </a:tc>
                <a:tc>
                  <a:txBody>
                    <a:bodyPr/>
                    <a:lstStyle/>
                    <a:p>
                      <a:r>
                        <a:rPr lang="en-GB" sz="1400" dirty="0" smtClean="0"/>
                        <a:t>M002</a:t>
                      </a:r>
                      <a:endParaRPr lang="en-IN" sz="1400" dirty="0"/>
                    </a:p>
                  </a:txBody>
                  <a:tcPr/>
                </a:tc>
                <a:tc>
                  <a:txBody>
                    <a:bodyPr/>
                    <a:lstStyle/>
                    <a:p>
                      <a:r>
                        <a:rPr lang="en-GB" sz="1400" dirty="0" smtClean="0"/>
                        <a:t>Material 2</a:t>
                      </a:r>
                      <a:endParaRPr lang="en-IN" sz="1400" dirty="0"/>
                    </a:p>
                  </a:txBody>
                  <a:tcPr/>
                </a:tc>
                <a:tc>
                  <a:txBody>
                    <a:bodyPr/>
                    <a:lstStyle/>
                    <a:p>
                      <a:r>
                        <a:rPr lang="en-GB" sz="1400" dirty="0" smtClean="0"/>
                        <a:t>520</a:t>
                      </a:r>
                      <a:endParaRPr lang="en-IN" sz="1400" dirty="0"/>
                    </a:p>
                  </a:txBody>
                  <a:tcPr/>
                </a:tc>
                <a:tc>
                  <a:txBody>
                    <a:bodyPr/>
                    <a:lstStyle/>
                    <a:p>
                      <a:r>
                        <a:rPr lang="en-GB" sz="1400" dirty="0" smtClean="0"/>
                        <a:t>300</a:t>
                      </a:r>
                      <a:endParaRPr lang="en-IN" sz="1400" dirty="0"/>
                    </a:p>
                  </a:txBody>
                  <a:tcPr/>
                </a:tc>
                <a:tc>
                  <a:txBody>
                    <a:bodyPr/>
                    <a:lstStyle/>
                    <a:p>
                      <a:r>
                        <a:rPr lang="en-GB" sz="1400" dirty="0" smtClean="0"/>
                        <a:t>220</a:t>
                      </a:r>
                      <a:endParaRPr lang="en-IN"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smtClean="0"/>
                        <a:t>❌ Short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smtClean="0"/>
                        <a:t>INV-MAT-20240620-0048</a:t>
                      </a:r>
                    </a:p>
                  </a:txBody>
                  <a:tcPr/>
                </a:tc>
                <a:tc>
                  <a:txBody>
                    <a:bodyPr/>
                    <a:lstStyle/>
                    <a:p>
                      <a:r>
                        <a:rPr lang="en-GB" sz="1400" dirty="0" smtClean="0"/>
                        <a:t>2025/07/05</a:t>
                      </a:r>
                      <a:endParaRPr lang="en-IN" sz="1400" dirty="0"/>
                    </a:p>
                  </a:txBody>
                  <a:tcPr/>
                </a:tc>
              </a:tr>
            </a:tbl>
          </a:graphicData>
        </a:graphic>
      </p:graphicFrame>
      <p:sp>
        <p:nvSpPr>
          <p:cNvPr id="14" name="Rectangle 13"/>
          <p:cNvSpPr/>
          <p:nvPr/>
        </p:nvSpPr>
        <p:spPr>
          <a:xfrm>
            <a:off x="350980" y="3592816"/>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1000042579</a:t>
            </a:r>
            <a:endParaRPr lang="en-IN" dirty="0"/>
          </a:p>
        </p:txBody>
      </p:sp>
      <p:sp>
        <p:nvSpPr>
          <p:cNvPr id="15" name="Rectangle 14"/>
          <p:cNvSpPr/>
          <p:nvPr/>
        </p:nvSpPr>
        <p:spPr>
          <a:xfrm>
            <a:off x="350980" y="3583580"/>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PO NO</a:t>
            </a:r>
            <a:endParaRPr lang="en-IN" sz="1400" dirty="0"/>
          </a:p>
        </p:txBody>
      </p:sp>
      <p:sp>
        <p:nvSpPr>
          <p:cNvPr id="16" name="TextBox 15"/>
          <p:cNvSpPr txBox="1"/>
          <p:nvPr/>
        </p:nvSpPr>
        <p:spPr>
          <a:xfrm>
            <a:off x="3865420" y="3572271"/>
            <a:ext cx="7453746" cy="369332"/>
          </a:xfrm>
          <a:prstGeom prst="rect">
            <a:avLst/>
          </a:prstGeom>
          <a:noFill/>
        </p:spPr>
        <p:txBody>
          <a:bodyPr wrap="square" rtlCol="0">
            <a:spAutoFit/>
          </a:bodyPr>
          <a:lstStyle/>
          <a:p>
            <a:r>
              <a:rPr lang="en-GB" dirty="0" smtClean="0"/>
              <a:t>By default the field takes short material status </a:t>
            </a:r>
            <a:r>
              <a:rPr lang="en-GB" dirty="0" err="1" smtClean="0"/>
              <a:t>po</a:t>
            </a:r>
            <a:r>
              <a:rPr lang="en-GB" dirty="0" smtClean="0"/>
              <a:t> in ascending order</a:t>
            </a:r>
            <a:endParaRPr lang="en-IN" dirty="0"/>
          </a:p>
        </p:txBody>
      </p:sp>
      <p:cxnSp>
        <p:nvCxnSpPr>
          <p:cNvPr id="18" name="Straight Arrow Connector 17"/>
          <p:cNvCxnSpPr>
            <a:stCxn id="46" idx="1"/>
            <a:endCxn id="14" idx="3"/>
          </p:cNvCxnSpPr>
          <p:nvPr/>
        </p:nvCxnSpPr>
        <p:spPr>
          <a:xfrm flipH="1">
            <a:off x="2964871" y="2811851"/>
            <a:ext cx="4987633" cy="928747"/>
          </a:xfrm>
          <a:prstGeom prst="straightConnector1">
            <a:avLst/>
          </a:prstGeom>
          <a:ln w="1905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20" name="Rectangle 19"/>
          <p:cNvSpPr/>
          <p:nvPr/>
        </p:nvSpPr>
        <p:spPr>
          <a:xfrm>
            <a:off x="350980" y="5724222"/>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1000042579</a:t>
            </a:r>
            <a:endParaRPr lang="en-IN" dirty="0"/>
          </a:p>
        </p:txBody>
      </p:sp>
      <p:sp>
        <p:nvSpPr>
          <p:cNvPr id="21" name="Rectangle 20"/>
          <p:cNvSpPr/>
          <p:nvPr/>
        </p:nvSpPr>
        <p:spPr>
          <a:xfrm>
            <a:off x="350980" y="5714986"/>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PO NO</a:t>
            </a:r>
            <a:endParaRPr lang="en-IN" sz="1400" dirty="0"/>
          </a:p>
        </p:txBody>
      </p:sp>
      <p:sp>
        <p:nvSpPr>
          <p:cNvPr id="22" name="Rectangle 21"/>
          <p:cNvSpPr/>
          <p:nvPr/>
        </p:nvSpPr>
        <p:spPr>
          <a:xfrm>
            <a:off x="3126510" y="5736459"/>
            <a:ext cx="5343236"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Enter Issue</a:t>
            </a:r>
            <a:endParaRPr lang="en-IN" sz="1400" dirty="0"/>
          </a:p>
        </p:txBody>
      </p:sp>
      <p:sp>
        <p:nvSpPr>
          <p:cNvPr id="23" name="Rectangle 22"/>
          <p:cNvSpPr/>
          <p:nvPr/>
        </p:nvSpPr>
        <p:spPr>
          <a:xfrm>
            <a:off x="3126510" y="5727224"/>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Issue</a:t>
            </a:r>
            <a:endParaRPr lang="en-IN" sz="1400" dirty="0"/>
          </a:p>
        </p:txBody>
      </p:sp>
      <p:sp>
        <p:nvSpPr>
          <p:cNvPr id="26" name="Rounded Rectangle 25"/>
          <p:cNvSpPr/>
          <p:nvPr/>
        </p:nvSpPr>
        <p:spPr>
          <a:xfrm>
            <a:off x="8811490" y="5727224"/>
            <a:ext cx="1016001" cy="30479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400" dirty="0" smtClean="0">
                <a:solidFill>
                  <a:schemeClr val="tx1"/>
                </a:solidFill>
              </a:rPr>
              <a:t>Submit</a:t>
            </a:r>
            <a:endParaRPr lang="en-IN" dirty="0">
              <a:solidFill>
                <a:schemeClr val="tx1"/>
              </a:solidFill>
            </a:endParaRPr>
          </a:p>
        </p:txBody>
      </p:sp>
      <p:sp>
        <p:nvSpPr>
          <p:cNvPr id="28" name="Rectangle 27"/>
          <p:cNvSpPr/>
          <p:nvPr/>
        </p:nvSpPr>
        <p:spPr>
          <a:xfrm>
            <a:off x="364834" y="6447006"/>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1000042579</a:t>
            </a:r>
            <a:endParaRPr lang="en-IN" dirty="0"/>
          </a:p>
        </p:txBody>
      </p:sp>
      <p:sp>
        <p:nvSpPr>
          <p:cNvPr id="29" name="Rectangle 28"/>
          <p:cNvSpPr/>
          <p:nvPr/>
        </p:nvSpPr>
        <p:spPr>
          <a:xfrm>
            <a:off x="350980" y="6437771"/>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PO NO</a:t>
            </a:r>
            <a:endParaRPr lang="en-IN" sz="1400" dirty="0"/>
          </a:p>
        </p:txBody>
      </p:sp>
      <p:sp>
        <p:nvSpPr>
          <p:cNvPr id="30" name="Rounded Rectangle 29"/>
          <p:cNvSpPr/>
          <p:nvPr/>
        </p:nvSpPr>
        <p:spPr>
          <a:xfrm>
            <a:off x="3228107" y="6419311"/>
            <a:ext cx="1016001" cy="3047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400" dirty="0" smtClean="0">
                <a:solidFill>
                  <a:schemeClr val="tx1"/>
                </a:solidFill>
              </a:rPr>
              <a:t>Check</a:t>
            </a:r>
            <a:endParaRPr lang="en-IN" dirty="0">
              <a:solidFill>
                <a:schemeClr val="tx1"/>
              </a:solidFill>
            </a:endParaRPr>
          </a:p>
        </p:txBody>
      </p:sp>
      <p:sp>
        <p:nvSpPr>
          <p:cNvPr id="32" name="Rounded Rectangle 31"/>
          <p:cNvSpPr/>
          <p:nvPr/>
        </p:nvSpPr>
        <p:spPr>
          <a:xfrm>
            <a:off x="3228104" y="1576263"/>
            <a:ext cx="5089237" cy="28632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i="1" dirty="0">
                <a:solidFill>
                  <a:schemeClr val="tx1"/>
                </a:solidFill>
              </a:rPr>
              <a:t>PO Readiness List</a:t>
            </a:r>
            <a:endParaRPr lang="en-IN" dirty="0">
              <a:solidFill>
                <a:schemeClr val="tx1"/>
              </a:solidFill>
            </a:endParaRPr>
          </a:p>
        </p:txBody>
      </p:sp>
      <p:sp>
        <p:nvSpPr>
          <p:cNvPr id="33" name="Rounded Rectangle 32"/>
          <p:cNvSpPr/>
          <p:nvPr/>
        </p:nvSpPr>
        <p:spPr>
          <a:xfrm>
            <a:off x="3228104" y="3179582"/>
            <a:ext cx="5089237" cy="2863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b="1" i="1" dirty="0">
                <a:solidFill>
                  <a:schemeClr val="tx1"/>
                </a:solidFill>
              </a:rPr>
              <a:t>Material Checklist by PO</a:t>
            </a:r>
            <a:endParaRPr lang="en-IN" dirty="0">
              <a:solidFill>
                <a:schemeClr val="tx1"/>
              </a:solidFill>
            </a:endParaRPr>
          </a:p>
        </p:txBody>
      </p:sp>
      <p:sp>
        <p:nvSpPr>
          <p:cNvPr id="34" name="Rounded Rectangle 33"/>
          <p:cNvSpPr/>
          <p:nvPr/>
        </p:nvSpPr>
        <p:spPr>
          <a:xfrm>
            <a:off x="3253509" y="5360256"/>
            <a:ext cx="5089237" cy="28632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solidFill>
                  <a:schemeClr val="tx1"/>
                </a:solidFill>
              </a:rPr>
              <a:t>Raise Escalations</a:t>
            </a:r>
            <a:endParaRPr lang="en-IN" dirty="0">
              <a:solidFill>
                <a:schemeClr val="tx1"/>
              </a:solidFill>
            </a:endParaRPr>
          </a:p>
        </p:txBody>
      </p:sp>
      <p:sp>
        <p:nvSpPr>
          <p:cNvPr id="35" name="Rounded Rectangle 34"/>
          <p:cNvSpPr/>
          <p:nvPr/>
        </p:nvSpPr>
        <p:spPr>
          <a:xfrm>
            <a:off x="3228104" y="6082503"/>
            <a:ext cx="5089237" cy="28632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Request store verification</a:t>
            </a:r>
            <a:endParaRPr lang="en-IN" dirty="0">
              <a:solidFill>
                <a:schemeClr val="tx1"/>
              </a:solidFill>
            </a:endParaRPr>
          </a:p>
        </p:txBody>
      </p:sp>
      <p:sp>
        <p:nvSpPr>
          <p:cNvPr id="38" name="Rectangle 37"/>
          <p:cNvSpPr/>
          <p:nvPr/>
        </p:nvSpPr>
        <p:spPr>
          <a:xfrm>
            <a:off x="3144981" y="483797"/>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All</a:t>
            </a:r>
            <a:endParaRPr lang="en-IN" dirty="0"/>
          </a:p>
        </p:txBody>
      </p:sp>
      <p:sp>
        <p:nvSpPr>
          <p:cNvPr id="39" name="Rectangle 38"/>
          <p:cNvSpPr/>
          <p:nvPr/>
        </p:nvSpPr>
        <p:spPr>
          <a:xfrm>
            <a:off x="3144981" y="474561"/>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PO NO</a:t>
            </a:r>
            <a:endParaRPr lang="en-IN" sz="1400" dirty="0"/>
          </a:p>
        </p:txBody>
      </p:sp>
      <p:sp>
        <p:nvSpPr>
          <p:cNvPr id="40" name="Rectangle 39"/>
          <p:cNvSpPr/>
          <p:nvPr/>
        </p:nvSpPr>
        <p:spPr>
          <a:xfrm>
            <a:off x="5925128" y="501129"/>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All</a:t>
            </a:r>
            <a:endParaRPr lang="en-IN" dirty="0"/>
          </a:p>
        </p:txBody>
      </p:sp>
      <p:sp>
        <p:nvSpPr>
          <p:cNvPr id="41" name="Rectangle 40"/>
          <p:cNvSpPr/>
          <p:nvPr/>
        </p:nvSpPr>
        <p:spPr>
          <a:xfrm>
            <a:off x="5925128" y="491893"/>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Status</a:t>
            </a:r>
            <a:endParaRPr lang="en-IN" sz="1400" dirty="0"/>
          </a:p>
        </p:txBody>
      </p:sp>
      <p:sp>
        <p:nvSpPr>
          <p:cNvPr id="42" name="Rectangle 41"/>
          <p:cNvSpPr/>
          <p:nvPr/>
        </p:nvSpPr>
        <p:spPr>
          <a:xfrm>
            <a:off x="8705275" y="501129"/>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smtClean="0"/>
              <a:t>                   </a:t>
            </a:r>
            <a:r>
              <a:rPr lang="en-IN" sz="1400" dirty="0" smtClean="0"/>
              <a:t>All</a:t>
            </a:r>
            <a:endParaRPr lang="en-IN" dirty="0"/>
          </a:p>
        </p:txBody>
      </p:sp>
      <p:sp>
        <p:nvSpPr>
          <p:cNvPr id="43" name="Rectangle 42"/>
          <p:cNvSpPr/>
          <p:nvPr/>
        </p:nvSpPr>
        <p:spPr>
          <a:xfrm>
            <a:off x="8705275" y="491893"/>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Line</a:t>
            </a:r>
            <a:endParaRPr lang="en-IN" sz="1400" dirty="0"/>
          </a:p>
        </p:txBody>
      </p:sp>
      <p:sp>
        <p:nvSpPr>
          <p:cNvPr id="45" name="Rounded Rectangle 44"/>
          <p:cNvSpPr/>
          <p:nvPr/>
        </p:nvSpPr>
        <p:spPr>
          <a:xfrm>
            <a:off x="7952504" y="2328536"/>
            <a:ext cx="729674" cy="24938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smtClean="0"/>
              <a:t>Check</a:t>
            </a:r>
            <a:endParaRPr lang="en-IN" dirty="0"/>
          </a:p>
        </p:txBody>
      </p:sp>
      <p:sp>
        <p:nvSpPr>
          <p:cNvPr id="46" name="Rounded Rectangle 45"/>
          <p:cNvSpPr/>
          <p:nvPr/>
        </p:nvSpPr>
        <p:spPr>
          <a:xfrm>
            <a:off x="7952504" y="2687160"/>
            <a:ext cx="729674" cy="24938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smtClean="0"/>
              <a:t>Check</a:t>
            </a:r>
            <a:endParaRPr lang="en-IN" dirty="0"/>
          </a:p>
        </p:txBody>
      </p:sp>
      <p:sp>
        <p:nvSpPr>
          <p:cNvPr id="47" name="Rectangle 46"/>
          <p:cNvSpPr/>
          <p:nvPr/>
        </p:nvSpPr>
        <p:spPr>
          <a:xfrm>
            <a:off x="30643" y="-10948"/>
            <a:ext cx="12160038" cy="422791"/>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Cutting </a:t>
            </a:r>
            <a:r>
              <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Material </a:t>
            </a:r>
            <a:r>
              <a:rPr lang="en-GB"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Availability – Line Supervisor</a:t>
            </a:r>
            <a:endParaRPr lang="en-GB" sz="2000"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48" name="Picture 47"/>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363852"/>
          </a:xfrm>
          <a:prstGeom prst="rect">
            <a:avLst/>
          </a:prstGeom>
        </p:spPr>
      </p:pic>
      <p:sp>
        <p:nvSpPr>
          <p:cNvPr id="2" name="Rectangle 1"/>
          <p:cNvSpPr/>
          <p:nvPr/>
        </p:nvSpPr>
        <p:spPr>
          <a:xfrm>
            <a:off x="0" y="473205"/>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3" name="Rectangle 2"/>
          <p:cNvSpPr/>
          <p:nvPr/>
        </p:nvSpPr>
        <p:spPr>
          <a:xfrm>
            <a:off x="198578" y="465678"/>
            <a:ext cx="510782" cy="276999"/>
          </a:xfrm>
          <a:prstGeom prst="rect">
            <a:avLst/>
          </a:prstGeom>
        </p:spPr>
        <p:txBody>
          <a:bodyPr wrap="none">
            <a:spAutoFit/>
          </a:bodyPr>
          <a:lstStyle/>
          <a:p>
            <a:pPr algn="ctr"/>
            <a:r>
              <a:rPr lang="en-GB" sz="1200" dirty="0" smtClean="0"/>
              <a:t>From</a:t>
            </a:r>
            <a:endParaRPr lang="en-IN" sz="1200" dirty="0"/>
          </a:p>
        </p:txBody>
      </p:sp>
      <p:sp>
        <p:nvSpPr>
          <p:cNvPr id="44" name="Rectangle 43"/>
          <p:cNvSpPr/>
          <p:nvPr/>
        </p:nvSpPr>
        <p:spPr>
          <a:xfrm>
            <a:off x="1534230" y="483114"/>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49" name="Rectangle 48"/>
          <p:cNvSpPr/>
          <p:nvPr/>
        </p:nvSpPr>
        <p:spPr>
          <a:xfrm>
            <a:off x="1729958" y="477040"/>
            <a:ext cx="358240" cy="276999"/>
          </a:xfrm>
          <a:prstGeom prst="rect">
            <a:avLst/>
          </a:prstGeom>
        </p:spPr>
        <p:txBody>
          <a:bodyPr wrap="none">
            <a:spAutoFit/>
          </a:bodyPr>
          <a:lstStyle/>
          <a:p>
            <a:pPr algn="ctr"/>
            <a:r>
              <a:rPr lang="en-GB" sz="1200" dirty="0" smtClean="0"/>
              <a:t>TO</a:t>
            </a:r>
            <a:endParaRPr lang="en-IN" sz="1200" dirty="0"/>
          </a:p>
        </p:txBody>
      </p:sp>
      <p:sp>
        <p:nvSpPr>
          <p:cNvPr id="8" name="Rectangle 7"/>
          <p:cNvSpPr/>
          <p:nvPr/>
        </p:nvSpPr>
        <p:spPr>
          <a:xfrm>
            <a:off x="650789" y="474561"/>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Merge 9"/>
          <p:cNvSpPr/>
          <p:nvPr/>
        </p:nvSpPr>
        <p:spPr>
          <a:xfrm>
            <a:off x="1348167" y="553678"/>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574757" y="458024"/>
            <a:ext cx="870751" cy="261610"/>
          </a:xfrm>
          <a:prstGeom prst="rect">
            <a:avLst/>
          </a:prstGeom>
        </p:spPr>
        <p:txBody>
          <a:bodyPr wrap="none">
            <a:spAutoFit/>
          </a:bodyPr>
          <a:lstStyle/>
          <a:p>
            <a:pPr algn="ctr"/>
            <a:r>
              <a:rPr lang="en-GB" sz="1050" dirty="0" smtClean="0"/>
              <a:t>2025/07/01</a:t>
            </a:r>
            <a:endParaRPr lang="en-IN" sz="1050" dirty="0"/>
          </a:p>
        </p:txBody>
      </p:sp>
      <p:sp>
        <p:nvSpPr>
          <p:cNvPr id="51" name="Rectangle 50"/>
          <p:cNvSpPr/>
          <p:nvPr/>
        </p:nvSpPr>
        <p:spPr>
          <a:xfrm>
            <a:off x="2040025" y="491724"/>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Merge 51"/>
          <p:cNvSpPr/>
          <p:nvPr/>
        </p:nvSpPr>
        <p:spPr>
          <a:xfrm>
            <a:off x="2737403" y="570841"/>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1963993" y="475187"/>
            <a:ext cx="870751" cy="261610"/>
          </a:xfrm>
          <a:prstGeom prst="rect">
            <a:avLst/>
          </a:prstGeom>
        </p:spPr>
        <p:txBody>
          <a:bodyPr wrap="none">
            <a:spAutoFit/>
          </a:bodyPr>
          <a:lstStyle/>
          <a:p>
            <a:pPr algn="ctr"/>
            <a:r>
              <a:rPr lang="en-GB" sz="1050" dirty="0" smtClean="0"/>
              <a:t>2025/07/05</a:t>
            </a:r>
            <a:endParaRPr lang="en-IN" sz="1050" dirty="0"/>
          </a:p>
        </p:txBody>
      </p:sp>
      <p:sp>
        <p:nvSpPr>
          <p:cNvPr id="12" name="Rectangle 11"/>
          <p:cNvSpPr/>
          <p:nvPr/>
        </p:nvSpPr>
        <p:spPr>
          <a:xfrm>
            <a:off x="30643" y="411843"/>
            <a:ext cx="2948082" cy="384849"/>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48434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ounded Rectangle 3"/>
          <p:cNvSpPr/>
          <p:nvPr/>
        </p:nvSpPr>
        <p:spPr>
          <a:xfrm>
            <a:off x="207819" y="1231076"/>
            <a:ext cx="2530764" cy="5911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1600" dirty="0"/>
              <a:t>📋 Total POs </a:t>
            </a:r>
            <a:r>
              <a:rPr lang="en-IN" sz="1600" dirty="0" smtClean="0"/>
              <a:t>Today</a:t>
            </a:r>
          </a:p>
          <a:p>
            <a:pPr algn="ctr"/>
            <a:r>
              <a:rPr lang="en-IN" sz="1600" dirty="0" smtClean="0"/>
              <a:t>28</a:t>
            </a:r>
            <a:endParaRPr lang="en-IN" sz="1600" dirty="0"/>
          </a:p>
        </p:txBody>
      </p:sp>
      <p:sp>
        <p:nvSpPr>
          <p:cNvPr id="5" name="Rounded Rectangle 4"/>
          <p:cNvSpPr/>
          <p:nvPr/>
        </p:nvSpPr>
        <p:spPr>
          <a:xfrm>
            <a:off x="3181926" y="1245329"/>
            <a:ext cx="2530764" cy="59112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dirty="0"/>
              <a:t>✅ Fully Ready </a:t>
            </a:r>
            <a:r>
              <a:rPr lang="en-IN" sz="1600" dirty="0" smtClean="0"/>
              <a:t>Pos</a:t>
            </a:r>
          </a:p>
          <a:p>
            <a:pPr algn="ctr"/>
            <a:r>
              <a:rPr lang="en-GB" sz="1600" dirty="0" smtClean="0"/>
              <a:t>19</a:t>
            </a:r>
            <a:endParaRPr lang="en-IN" sz="1600" dirty="0"/>
          </a:p>
        </p:txBody>
      </p:sp>
      <p:sp>
        <p:nvSpPr>
          <p:cNvPr id="6" name="Rounded Rectangle 5"/>
          <p:cNvSpPr/>
          <p:nvPr/>
        </p:nvSpPr>
        <p:spPr>
          <a:xfrm>
            <a:off x="6220253" y="1231076"/>
            <a:ext cx="2530764" cy="591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600" dirty="0"/>
              <a:t>🚫 Shortage </a:t>
            </a:r>
            <a:r>
              <a:rPr lang="en-IN" sz="1600" dirty="0" smtClean="0"/>
              <a:t>Pos</a:t>
            </a:r>
          </a:p>
          <a:p>
            <a:pPr algn="ctr"/>
            <a:r>
              <a:rPr lang="en-GB" sz="1600" dirty="0"/>
              <a:t>7</a:t>
            </a:r>
            <a:endParaRPr lang="en-IN" sz="1600" dirty="0"/>
          </a:p>
        </p:txBody>
      </p:sp>
      <p:sp>
        <p:nvSpPr>
          <p:cNvPr id="7" name="Rounded Rectangle 6"/>
          <p:cNvSpPr/>
          <p:nvPr/>
        </p:nvSpPr>
        <p:spPr>
          <a:xfrm>
            <a:off x="9232868" y="1231076"/>
            <a:ext cx="2530764" cy="59112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 Delayed </a:t>
            </a:r>
            <a:r>
              <a:rPr lang="en-IN" dirty="0" smtClean="0"/>
              <a:t>Pos</a:t>
            </a:r>
          </a:p>
          <a:p>
            <a:pPr algn="ctr"/>
            <a:r>
              <a:rPr lang="en-GB" dirty="0"/>
              <a:t>2</a:t>
            </a:r>
            <a:endParaRPr lang="en-GB" dirty="0" smtClean="0"/>
          </a:p>
        </p:txBody>
      </p:sp>
      <p:graphicFrame>
        <p:nvGraphicFramePr>
          <p:cNvPr id="9" name="Table 8"/>
          <p:cNvGraphicFramePr>
            <a:graphicFrameLocks noGrp="1"/>
          </p:cNvGraphicFramePr>
          <p:nvPr>
            <p:extLst/>
          </p:nvPr>
        </p:nvGraphicFramePr>
        <p:xfrm>
          <a:off x="355603" y="2402194"/>
          <a:ext cx="11383813" cy="2595880"/>
        </p:xfrm>
        <a:graphic>
          <a:graphicData uri="http://schemas.openxmlformats.org/drawingml/2006/table">
            <a:tbl>
              <a:tblPr firstRow="1" bandRow="1">
                <a:tableStyleId>{5C22544A-7EE6-4342-B048-85BDC9FD1C3A}</a:tableStyleId>
              </a:tblPr>
              <a:tblGrid>
                <a:gridCol w="1149924"/>
                <a:gridCol w="1136073"/>
                <a:gridCol w="1167987"/>
                <a:gridCol w="1531483"/>
                <a:gridCol w="873254"/>
                <a:gridCol w="1802840"/>
                <a:gridCol w="1551709"/>
                <a:gridCol w="840509"/>
                <a:gridCol w="1330034"/>
              </a:tblGrid>
              <a:tr h="370840">
                <a:tc>
                  <a:txBody>
                    <a:bodyPr/>
                    <a:lstStyle/>
                    <a:p>
                      <a:r>
                        <a:rPr lang="en-GB" sz="1400" dirty="0" smtClean="0"/>
                        <a:t>Date </a:t>
                      </a:r>
                      <a:endParaRPr lang="en-IN" sz="1400" dirty="0"/>
                    </a:p>
                  </a:txBody>
                  <a:tcPr/>
                </a:tc>
                <a:tc>
                  <a:txBody>
                    <a:bodyPr/>
                    <a:lstStyle/>
                    <a:p>
                      <a:r>
                        <a:rPr lang="en-GB" sz="1400" dirty="0" smtClean="0"/>
                        <a:t>PO NO </a:t>
                      </a:r>
                      <a:endParaRPr lang="en-IN" sz="1400" dirty="0"/>
                    </a:p>
                  </a:txBody>
                  <a:tcPr/>
                </a:tc>
                <a:tc>
                  <a:txBody>
                    <a:bodyPr/>
                    <a:lstStyle/>
                    <a:p>
                      <a:r>
                        <a:rPr lang="en-GB" sz="1400" dirty="0" smtClean="0"/>
                        <a:t>Model </a:t>
                      </a:r>
                      <a:endParaRPr lang="en-IN" sz="1400" dirty="0"/>
                    </a:p>
                  </a:txBody>
                  <a:tcPr/>
                </a:tc>
                <a:tc>
                  <a:txBody>
                    <a:bodyPr/>
                    <a:lstStyle/>
                    <a:p>
                      <a:r>
                        <a:rPr lang="en-GB" sz="1400" dirty="0" smtClean="0"/>
                        <a:t>Plant</a:t>
                      </a:r>
                      <a:endParaRPr lang="en-IN" sz="1400" dirty="0"/>
                    </a:p>
                  </a:txBody>
                  <a:tcPr/>
                </a:tc>
                <a:tc>
                  <a:txBody>
                    <a:bodyPr/>
                    <a:lstStyle/>
                    <a:p>
                      <a:r>
                        <a:rPr lang="en-GB" sz="1400" dirty="0" smtClean="0"/>
                        <a:t>Line </a:t>
                      </a:r>
                      <a:endParaRPr lang="en-IN" sz="1400" dirty="0"/>
                    </a:p>
                  </a:txBody>
                  <a:tcPr/>
                </a:tc>
                <a:tc>
                  <a:txBody>
                    <a:bodyPr/>
                    <a:lstStyle/>
                    <a:p>
                      <a:r>
                        <a:rPr lang="en-GB" sz="1400" dirty="0" smtClean="0"/>
                        <a:t>Material Readiness %</a:t>
                      </a:r>
                      <a:endParaRPr lang="en-IN" sz="1400" dirty="0"/>
                    </a:p>
                  </a:txBody>
                  <a:tcPr/>
                </a:tc>
                <a:tc>
                  <a:txBody>
                    <a:bodyPr/>
                    <a:lstStyle/>
                    <a:p>
                      <a:r>
                        <a:rPr lang="en-GB" sz="1400" dirty="0" smtClean="0"/>
                        <a:t>Status</a:t>
                      </a:r>
                      <a:r>
                        <a:rPr lang="en-GB" sz="1400" baseline="0" dirty="0" smtClean="0"/>
                        <a:t> </a:t>
                      </a:r>
                      <a:endParaRPr lang="en-IN" sz="1400" dirty="0"/>
                    </a:p>
                  </a:txBody>
                  <a:tcPr/>
                </a:tc>
                <a:tc>
                  <a:txBody>
                    <a:bodyPr/>
                    <a:lstStyle/>
                    <a:p>
                      <a:r>
                        <a:rPr lang="en-GB" sz="1400" dirty="0" smtClean="0"/>
                        <a:t>Delay</a:t>
                      </a:r>
                      <a:endParaRPr lang="en-IN" sz="1400" dirty="0"/>
                    </a:p>
                  </a:txBody>
                  <a:tcPr/>
                </a:tc>
                <a:tc>
                  <a:txBody>
                    <a:bodyPr/>
                    <a:lstStyle/>
                    <a:p>
                      <a:r>
                        <a:rPr lang="en-GB" sz="1400" dirty="0" smtClean="0"/>
                        <a:t>Action </a:t>
                      </a:r>
                      <a:endParaRPr lang="en-IN"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dirty="0" smtClean="0"/>
                        <a:t>2025/07/02</a:t>
                      </a:r>
                      <a:endParaRPr lang="en-IN" sz="1400" dirty="0" smtClean="0"/>
                    </a:p>
                  </a:txBody>
                  <a:tcPr/>
                </a:tc>
                <a:tc>
                  <a:txBody>
                    <a:bodyPr/>
                    <a:lstStyle/>
                    <a:p>
                      <a:r>
                        <a:rPr lang="en-IN" sz="1400" dirty="0" smtClean="0"/>
                        <a:t>1000042579</a:t>
                      </a:r>
                      <a:endParaRPr lang="en-IN" sz="1400" dirty="0"/>
                    </a:p>
                  </a:txBody>
                  <a:tcPr/>
                </a:tc>
                <a:tc>
                  <a:txBody>
                    <a:bodyPr/>
                    <a:lstStyle/>
                    <a:p>
                      <a:r>
                        <a:rPr lang="en-GB" sz="1400" dirty="0" smtClean="0"/>
                        <a:t>SAMBA</a:t>
                      </a:r>
                      <a:endParaRPr lang="en-IN" sz="1400" dirty="0"/>
                    </a:p>
                  </a:txBody>
                  <a:tcPr/>
                </a:tc>
                <a:tc>
                  <a:txBody>
                    <a:bodyPr/>
                    <a:lstStyle/>
                    <a:p>
                      <a:r>
                        <a:rPr lang="en-GB" sz="1400" dirty="0" smtClean="0"/>
                        <a:t>AP11</a:t>
                      </a:r>
                      <a:endParaRPr lang="en-IN" sz="1400" dirty="0"/>
                    </a:p>
                  </a:txBody>
                  <a:tcPr/>
                </a:tc>
                <a:tc>
                  <a:txBody>
                    <a:bodyPr/>
                    <a:lstStyle/>
                    <a:p>
                      <a:r>
                        <a:rPr lang="en-GB" sz="1400" dirty="0" smtClean="0"/>
                        <a:t>AP11C02</a:t>
                      </a:r>
                      <a:endParaRPr lang="en-IN" sz="1400" dirty="0"/>
                    </a:p>
                  </a:txBody>
                  <a:tcPr/>
                </a:tc>
                <a:tc>
                  <a:txBody>
                    <a:bodyPr/>
                    <a:lstStyle/>
                    <a:p>
                      <a:r>
                        <a:rPr lang="en-GB" sz="1400" dirty="0" smtClean="0"/>
                        <a:t>100%</a:t>
                      </a:r>
                      <a:endParaRPr lang="en-IN" sz="1400" dirty="0"/>
                    </a:p>
                  </a:txBody>
                  <a:tcPr/>
                </a:tc>
                <a:tc>
                  <a:txBody>
                    <a:bodyPr/>
                    <a:lstStyle/>
                    <a:p>
                      <a:r>
                        <a:rPr lang="en-IN" sz="1400" dirty="0" smtClean="0">
                          <a:solidFill>
                            <a:srgbClr val="00B050"/>
                          </a:solidFill>
                        </a:rPr>
                        <a:t>✅ Ready</a:t>
                      </a:r>
                      <a:endParaRPr lang="en-IN" sz="1400" dirty="0">
                        <a:solidFill>
                          <a:srgbClr val="00B050"/>
                        </a:solidFill>
                      </a:endParaRPr>
                    </a:p>
                  </a:txBody>
                  <a:tcPr/>
                </a:tc>
                <a:tc>
                  <a:txBody>
                    <a:bodyPr/>
                    <a:lstStyle/>
                    <a:p>
                      <a:r>
                        <a:rPr lang="en-GB" sz="1800" b="1" i="1" dirty="0" smtClean="0"/>
                        <a:t>-</a:t>
                      </a:r>
                      <a:r>
                        <a:rPr lang="en-GB" sz="1800" b="1" i="1" baseline="0" dirty="0" smtClean="0"/>
                        <a:t> </a:t>
                      </a:r>
                      <a:endParaRPr lang="en-IN" sz="1800" b="1" i="1" dirty="0"/>
                    </a:p>
                  </a:txBody>
                  <a:tcPr/>
                </a:tc>
                <a:tc>
                  <a:txBody>
                    <a:bodyPr/>
                    <a:lstStyle/>
                    <a:p>
                      <a:r>
                        <a:rPr lang="en-GB" sz="1400" dirty="0" smtClean="0"/>
                        <a:t>Start Cutting </a:t>
                      </a:r>
                      <a:endParaRPr lang="en-IN" sz="1400" dirty="0"/>
                    </a:p>
                  </a:txBody>
                  <a:tcPr/>
                </a:tc>
              </a:tr>
              <a:tr h="370840">
                <a:tc>
                  <a:txBody>
                    <a:bodyPr/>
                    <a:lstStyle/>
                    <a:p>
                      <a:endParaRPr lang="en-IN" sz="1100" dirty="0"/>
                    </a:p>
                  </a:txBody>
                  <a:tcPr/>
                </a:tc>
                <a:tc>
                  <a:txBody>
                    <a:bodyPr/>
                    <a:lstStyle/>
                    <a:p>
                      <a:r>
                        <a:rPr lang="en-IN" sz="1400" kern="1200" dirty="0" smtClean="0">
                          <a:solidFill>
                            <a:schemeClr val="dk1"/>
                          </a:solidFill>
                          <a:effectLst/>
                          <a:latin typeface="+mn-lt"/>
                          <a:ea typeface="+mn-ea"/>
                          <a:cs typeface="+mn-cs"/>
                        </a:rPr>
                        <a:t>1000042525</a:t>
                      </a:r>
                      <a:endParaRPr lang="en-IN" sz="1100" dirty="0"/>
                    </a:p>
                  </a:txBody>
                  <a:tcPr/>
                </a:tc>
                <a:tc>
                  <a:txBody>
                    <a:bodyPr/>
                    <a:lstStyle/>
                    <a:p>
                      <a:r>
                        <a:rPr lang="en-GB" sz="1400" dirty="0" smtClean="0"/>
                        <a:t>STANSMITH</a:t>
                      </a:r>
                      <a:endParaRPr lang="en-IN" sz="1400" dirty="0"/>
                    </a:p>
                  </a:txBody>
                  <a:tcPr/>
                </a:tc>
                <a:tc>
                  <a:txBody>
                    <a:bodyPr/>
                    <a:lstStyle/>
                    <a:p>
                      <a:r>
                        <a:rPr lang="en-GB" sz="1400" dirty="0" smtClean="0"/>
                        <a:t>AP10</a:t>
                      </a:r>
                      <a:endParaRPr lang="en-IN" sz="1400" dirty="0"/>
                    </a:p>
                  </a:txBody>
                  <a:tcPr/>
                </a:tc>
                <a:tc>
                  <a:txBody>
                    <a:bodyPr/>
                    <a:lstStyle/>
                    <a:p>
                      <a:r>
                        <a:rPr lang="en-GB" sz="1400" dirty="0" smtClean="0"/>
                        <a:t>AP10C04</a:t>
                      </a:r>
                      <a:endParaRPr lang="en-IN" sz="1400" dirty="0"/>
                    </a:p>
                  </a:txBody>
                  <a:tcPr/>
                </a:tc>
                <a:tc>
                  <a:txBody>
                    <a:bodyPr/>
                    <a:lstStyle/>
                    <a:p>
                      <a:r>
                        <a:rPr lang="en-GB" sz="1400" dirty="0" smtClean="0"/>
                        <a:t>75%</a:t>
                      </a:r>
                      <a:endParaRPr lang="en-IN" sz="1400" dirty="0"/>
                    </a:p>
                  </a:txBody>
                  <a:tcPr/>
                </a:tc>
                <a:tc>
                  <a:txBody>
                    <a:bodyPr/>
                    <a:lstStyle/>
                    <a:p>
                      <a:r>
                        <a:rPr lang="en-IN" sz="1400" dirty="0" smtClean="0">
                          <a:solidFill>
                            <a:srgbClr val="FF0000"/>
                          </a:solidFill>
                        </a:rPr>
                        <a:t>❌ Short</a:t>
                      </a:r>
                      <a:endParaRPr lang="en-IN" sz="1400" dirty="0">
                        <a:solidFill>
                          <a:srgbClr val="FF0000"/>
                        </a:solidFill>
                      </a:endParaRPr>
                    </a:p>
                  </a:txBody>
                  <a:tcPr/>
                </a:tc>
                <a:tc>
                  <a:txBody>
                    <a:bodyPr/>
                    <a:lstStyle/>
                    <a:p>
                      <a:r>
                        <a:rPr lang="en-GB" sz="1400" dirty="0" smtClean="0"/>
                        <a:t>1 DAY</a:t>
                      </a:r>
                      <a:endParaRPr lang="en-IN" sz="1400" dirty="0"/>
                    </a:p>
                  </a:txBody>
                  <a:tcPr/>
                </a:tc>
                <a:tc>
                  <a:txBody>
                    <a:bodyPr/>
                    <a:lstStyle/>
                    <a:p>
                      <a:r>
                        <a:rPr lang="en-GB" sz="1400" dirty="0" smtClean="0"/>
                        <a:t>Escalate</a:t>
                      </a:r>
                      <a:endParaRPr lang="en-IN" sz="1400" dirty="0"/>
                    </a:p>
                  </a:txBody>
                  <a:tcPr/>
                </a:tc>
              </a:tr>
              <a:tr h="370840">
                <a:tc>
                  <a:txBody>
                    <a:bodyPr/>
                    <a:lstStyle/>
                    <a:p>
                      <a:endParaRPr lang="en-IN" sz="1100" dirty="0"/>
                    </a:p>
                  </a:txBody>
                  <a:tcPr/>
                </a:tc>
                <a:tc>
                  <a:txBody>
                    <a:bodyPr/>
                    <a:lstStyle/>
                    <a:p>
                      <a:r>
                        <a:rPr lang="en-GB" sz="1400" dirty="0" smtClean="0"/>
                        <a:t>1000215486</a:t>
                      </a:r>
                      <a:endParaRPr lang="en-IN" sz="1400" dirty="0"/>
                    </a:p>
                  </a:txBody>
                  <a:tcPr/>
                </a:tc>
                <a:tc>
                  <a:txBody>
                    <a:bodyPr/>
                    <a:lstStyle/>
                    <a:p>
                      <a:r>
                        <a:rPr lang="en-GB" sz="1400" dirty="0" smtClean="0"/>
                        <a:t>ULTIMATE</a:t>
                      </a:r>
                      <a:endParaRPr lang="en-IN" sz="1400" dirty="0"/>
                    </a:p>
                  </a:txBody>
                  <a:tcPr/>
                </a:tc>
                <a:tc>
                  <a:txBody>
                    <a:bodyPr/>
                    <a:lstStyle/>
                    <a:p>
                      <a:r>
                        <a:rPr lang="en-GB" sz="1400" dirty="0" smtClean="0"/>
                        <a:t>AP09</a:t>
                      </a:r>
                      <a:endParaRPr lang="en-IN" sz="1400" dirty="0"/>
                    </a:p>
                  </a:txBody>
                  <a:tcPr/>
                </a:tc>
                <a:tc>
                  <a:txBody>
                    <a:bodyPr/>
                    <a:lstStyle/>
                    <a:p>
                      <a:r>
                        <a:rPr lang="en-GB" sz="1400" dirty="0" smtClean="0"/>
                        <a:t>AP09CO3</a:t>
                      </a:r>
                      <a:endParaRPr lang="en-IN" sz="1400" dirty="0"/>
                    </a:p>
                  </a:txBody>
                  <a:tcPr/>
                </a:tc>
                <a:tc>
                  <a:txBody>
                    <a:bodyPr/>
                    <a:lstStyle/>
                    <a:p>
                      <a:r>
                        <a:rPr lang="en-GB" sz="1400" dirty="0" smtClean="0"/>
                        <a:t>90%</a:t>
                      </a:r>
                      <a:endParaRPr lang="en-IN" sz="1400" dirty="0"/>
                    </a:p>
                  </a:txBody>
                  <a:tcPr/>
                </a:tc>
                <a:tc>
                  <a:txBody>
                    <a:bodyPr/>
                    <a:lstStyle/>
                    <a:p>
                      <a:r>
                        <a:rPr lang="en-IN" sz="1400" dirty="0" smtClean="0">
                          <a:solidFill>
                            <a:srgbClr val="FF0000"/>
                          </a:solidFill>
                        </a:rPr>
                        <a:t>❌ Short</a:t>
                      </a:r>
                      <a:endParaRPr lang="en-IN" sz="1400" dirty="0">
                        <a:solidFill>
                          <a:srgbClr val="FF0000"/>
                        </a:solidFill>
                      </a:endParaRPr>
                    </a:p>
                  </a:txBody>
                  <a:tcPr/>
                </a:tc>
                <a:tc>
                  <a:txBody>
                    <a:bodyPr/>
                    <a:lstStyle/>
                    <a:p>
                      <a:endParaRPr lang="en-IN" sz="1400" dirty="0"/>
                    </a:p>
                  </a:txBody>
                  <a:tcPr/>
                </a:tc>
                <a:tc>
                  <a:txBody>
                    <a:bodyPr/>
                    <a:lstStyle/>
                    <a:p>
                      <a:endParaRPr lang="en-IN"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dirty="0" smtClean="0"/>
                        <a:t>2025/07/03</a:t>
                      </a:r>
                      <a:endParaRPr lang="en-IN" sz="1400" dirty="0" smtClean="0"/>
                    </a:p>
                  </a:txBody>
                  <a:tcPr/>
                </a:tc>
                <a:tc>
                  <a:txBody>
                    <a:bodyPr/>
                    <a:lstStyle/>
                    <a:p>
                      <a:r>
                        <a:rPr lang="en-IN" sz="1400" dirty="0" smtClean="0"/>
                        <a:t>1000042578</a:t>
                      </a:r>
                      <a:endParaRPr lang="en-IN" sz="1400" dirty="0"/>
                    </a:p>
                  </a:txBody>
                  <a:tcPr/>
                </a:tc>
                <a:tc>
                  <a:txBody>
                    <a:bodyPr/>
                    <a:lstStyle/>
                    <a:p>
                      <a:r>
                        <a:rPr lang="en-GB" sz="1400" dirty="0" smtClean="0"/>
                        <a:t>SAMBA</a:t>
                      </a:r>
                      <a:endParaRPr lang="en-IN" sz="1400" dirty="0"/>
                    </a:p>
                  </a:txBody>
                  <a:tcPr/>
                </a:tc>
                <a:tc>
                  <a:txBody>
                    <a:bodyPr/>
                    <a:lstStyle/>
                    <a:p>
                      <a:r>
                        <a:rPr lang="en-GB" sz="1400" dirty="0" smtClean="0"/>
                        <a:t>AP11</a:t>
                      </a:r>
                      <a:endParaRPr lang="en-IN" sz="1400" dirty="0"/>
                    </a:p>
                  </a:txBody>
                  <a:tcPr/>
                </a:tc>
                <a:tc>
                  <a:txBody>
                    <a:bodyPr/>
                    <a:lstStyle/>
                    <a:p>
                      <a:r>
                        <a:rPr lang="en-GB" sz="1400" dirty="0" smtClean="0"/>
                        <a:t>AP11C02</a:t>
                      </a:r>
                      <a:endParaRPr lang="en-IN" sz="1400" dirty="0"/>
                    </a:p>
                  </a:txBody>
                  <a:tcPr/>
                </a:tc>
                <a:tc>
                  <a:txBody>
                    <a:bodyPr/>
                    <a:lstStyle/>
                    <a:p>
                      <a:r>
                        <a:rPr lang="en-GB" sz="1400" dirty="0" smtClean="0"/>
                        <a:t>100%</a:t>
                      </a:r>
                      <a:endParaRPr lang="en-IN" sz="1400" dirty="0"/>
                    </a:p>
                  </a:txBody>
                  <a:tcPr/>
                </a:tc>
                <a:tc>
                  <a:txBody>
                    <a:bodyPr/>
                    <a:lstStyle/>
                    <a:p>
                      <a:r>
                        <a:rPr lang="en-IN" sz="1400" dirty="0" smtClean="0">
                          <a:solidFill>
                            <a:srgbClr val="00B050"/>
                          </a:solidFill>
                        </a:rPr>
                        <a:t>✅ Ready</a:t>
                      </a:r>
                      <a:endParaRPr lang="en-IN" sz="1400" dirty="0">
                        <a:solidFill>
                          <a:srgbClr val="00B050"/>
                        </a:solidFill>
                      </a:endParaRPr>
                    </a:p>
                  </a:txBody>
                  <a:tcPr/>
                </a:tc>
                <a:tc>
                  <a:txBody>
                    <a:bodyPr/>
                    <a:lstStyle/>
                    <a:p>
                      <a:r>
                        <a:rPr lang="en-GB" sz="1800" b="1" i="1" dirty="0" smtClean="0"/>
                        <a:t>-</a:t>
                      </a:r>
                      <a:r>
                        <a:rPr lang="en-GB" sz="1800" b="1" i="1" baseline="0" dirty="0" smtClean="0"/>
                        <a:t> </a:t>
                      </a:r>
                      <a:endParaRPr lang="en-IN" sz="1800" b="1" i="1" dirty="0"/>
                    </a:p>
                  </a:txBody>
                  <a:tcPr/>
                </a:tc>
                <a:tc>
                  <a:txBody>
                    <a:bodyPr/>
                    <a:lstStyle/>
                    <a:p>
                      <a:r>
                        <a:rPr lang="en-GB" sz="1400" dirty="0" smtClean="0"/>
                        <a:t>Start Cutting </a:t>
                      </a:r>
                      <a:endParaRPr lang="en-IN" sz="1400" dirty="0"/>
                    </a:p>
                  </a:txBody>
                  <a:tcPr/>
                </a:tc>
              </a:tr>
              <a:tr h="370840">
                <a:tc>
                  <a:txBody>
                    <a:bodyPr/>
                    <a:lstStyle/>
                    <a:p>
                      <a:endParaRPr lang="en-IN" sz="1100" dirty="0"/>
                    </a:p>
                  </a:txBody>
                  <a:tcPr/>
                </a:tc>
                <a:tc>
                  <a:txBody>
                    <a:bodyPr/>
                    <a:lstStyle/>
                    <a:p>
                      <a:r>
                        <a:rPr lang="en-IN" sz="1400" kern="1200" dirty="0" smtClean="0">
                          <a:solidFill>
                            <a:schemeClr val="dk1"/>
                          </a:solidFill>
                          <a:effectLst/>
                          <a:latin typeface="+mn-lt"/>
                          <a:ea typeface="+mn-ea"/>
                          <a:cs typeface="+mn-cs"/>
                        </a:rPr>
                        <a:t>1000042524</a:t>
                      </a:r>
                      <a:endParaRPr lang="en-IN" sz="1100" dirty="0"/>
                    </a:p>
                  </a:txBody>
                  <a:tcPr/>
                </a:tc>
                <a:tc>
                  <a:txBody>
                    <a:bodyPr/>
                    <a:lstStyle/>
                    <a:p>
                      <a:r>
                        <a:rPr lang="en-GB" sz="1400" dirty="0" smtClean="0"/>
                        <a:t>STANSMITH</a:t>
                      </a:r>
                      <a:endParaRPr lang="en-IN" sz="1400" dirty="0"/>
                    </a:p>
                  </a:txBody>
                  <a:tcPr/>
                </a:tc>
                <a:tc>
                  <a:txBody>
                    <a:bodyPr/>
                    <a:lstStyle/>
                    <a:p>
                      <a:r>
                        <a:rPr lang="en-GB" sz="1400" dirty="0" smtClean="0"/>
                        <a:t>AP10</a:t>
                      </a:r>
                      <a:endParaRPr lang="en-IN" sz="1400" dirty="0"/>
                    </a:p>
                  </a:txBody>
                  <a:tcPr/>
                </a:tc>
                <a:tc>
                  <a:txBody>
                    <a:bodyPr/>
                    <a:lstStyle/>
                    <a:p>
                      <a:r>
                        <a:rPr lang="en-GB" sz="1400" dirty="0" smtClean="0"/>
                        <a:t>AP10C04</a:t>
                      </a:r>
                      <a:endParaRPr lang="en-IN" sz="1400" dirty="0"/>
                    </a:p>
                  </a:txBody>
                  <a:tcPr/>
                </a:tc>
                <a:tc>
                  <a:txBody>
                    <a:bodyPr/>
                    <a:lstStyle/>
                    <a:p>
                      <a:r>
                        <a:rPr lang="en-GB" sz="1400" dirty="0" smtClean="0"/>
                        <a:t>100%</a:t>
                      </a:r>
                      <a:endParaRPr lang="en-IN" sz="1400" dirty="0"/>
                    </a:p>
                  </a:txBody>
                  <a:tcPr/>
                </a:tc>
                <a:tc>
                  <a:txBody>
                    <a:bodyPr/>
                    <a:lstStyle/>
                    <a:p>
                      <a:r>
                        <a:rPr lang="en-IN" sz="1400" dirty="0" smtClean="0">
                          <a:solidFill>
                            <a:srgbClr val="00B050"/>
                          </a:solidFill>
                        </a:rPr>
                        <a:t>✅ Ready</a:t>
                      </a:r>
                      <a:endParaRPr lang="en-IN" sz="1400" dirty="0">
                        <a:solidFill>
                          <a:srgbClr val="00B050"/>
                        </a:solidFill>
                      </a:endParaRPr>
                    </a:p>
                  </a:txBody>
                  <a:tcPr/>
                </a:tc>
                <a:tc>
                  <a:txBody>
                    <a:bodyPr/>
                    <a:lstStyle/>
                    <a:p>
                      <a:r>
                        <a:rPr lang="en-GB" sz="1400" dirty="0" smtClean="0"/>
                        <a:t>1 DAY</a:t>
                      </a:r>
                      <a:endParaRPr lang="en-IN" sz="1400" dirty="0"/>
                    </a:p>
                  </a:txBody>
                  <a:tcPr/>
                </a:tc>
                <a:tc>
                  <a:txBody>
                    <a:bodyPr/>
                    <a:lstStyle/>
                    <a:p>
                      <a:r>
                        <a:rPr lang="en-GB" sz="1400" dirty="0" smtClean="0"/>
                        <a:t>Escalate</a:t>
                      </a:r>
                      <a:endParaRPr lang="en-IN" sz="1400" dirty="0"/>
                    </a:p>
                  </a:txBody>
                  <a:tcPr/>
                </a:tc>
              </a:tr>
              <a:tr h="370840">
                <a:tc>
                  <a:txBody>
                    <a:bodyPr/>
                    <a:lstStyle/>
                    <a:p>
                      <a:endParaRPr lang="en-IN" sz="1100" dirty="0"/>
                    </a:p>
                  </a:txBody>
                  <a:tcPr/>
                </a:tc>
                <a:tc>
                  <a:txBody>
                    <a:bodyPr/>
                    <a:lstStyle/>
                    <a:p>
                      <a:r>
                        <a:rPr lang="en-GB" sz="1400" dirty="0" smtClean="0"/>
                        <a:t>1000215485</a:t>
                      </a:r>
                      <a:endParaRPr lang="en-IN" sz="1400" dirty="0"/>
                    </a:p>
                  </a:txBody>
                  <a:tcPr/>
                </a:tc>
                <a:tc>
                  <a:txBody>
                    <a:bodyPr/>
                    <a:lstStyle/>
                    <a:p>
                      <a:r>
                        <a:rPr lang="en-GB" sz="1400" dirty="0" smtClean="0"/>
                        <a:t>ULTIMATE</a:t>
                      </a:r>
                      <a:endParaRPr lang="en-IN" sz="1400" dirty="0"/>
                    </a:p>
                  </a:txBody>
                  <a:tcPr/>
                </a:tc>
                <a:tc>
                  <a:txBody>
                    <a:bodyPr/>
                    <a:lstStyle/>
                    <a:p>
                      <a:r>
                        <a:rPr lang="en-GB" sz="1400" dirty="0" smtClean="0"/>
                        <a:t>AP09</a:t>
                      </a:r>
                      <a:endParaRPr lang="en-IN" sz="1400" dirty="0"/>
                    </a:p>
                  </a:txBody>
                  <a:tcPr/>
                </a:tc>
                <a:tc>
                  <a:txBody>
                    <a:bodyPr/>
                    <a:lstStyle/>
                    <a:p>
                      <a:r>
                        <a:rPr lang="en-GB" sz="1400" dirty="0" smtClean="0"/>
                        <a:t>AP09CO3</a:t>
                      </a:r>
                      <a:endParaRPr lang="en-IN" sz="1400" dirty="0"/>
                    </a:p>
                  </a:txBody>
                  <a:tcPr/>
                </a:tc>
                <a:tc>
                  <a:txBody>
                    <a:bodyPr/>
                    <a:lstStyle/>
                    <a:p>
                      <a:r>
                        <a:rPr lang="en-GB" sz="1400" dirty="0" smtClean="0"/>
                        <a:t>90%</a:t>
                      </a:r>
                      <a:endParaRPr lang="en-IN" sz="1400" dirty="0"/>
                    </a:p>
                  </a:txBody>
                  <a:tcPr/>
                </a:tc>
                <a:tc>
                  <a:txBody>
                    <a:bodyPr/>
                    <a:lstStyle/>
                    <a:p>
                      <a:r>
                        <a:rPr lang="en-IN" sz="1400" dirty="0" smtClean="0">
                          <a:solidFill>
                            <a:srgbClr val="FF0000"/>
                          </a:solidFill>
                        </a:rPr>
                        <a:t>❌ Short</a:t>
                      </a:r>
                      <a:endParaRPr lang="en-IN" sz="1400" dirty="0">
                        <a:solidFill>
                          <a:srgbClr val="FF0000"/>
                        </a:solidFill>
                      </a:endParaRPr>
                    </a:p>
                  </a:txBody>
                  <a:tcPr/>
                </a:tc>
                <a:tc>
                  <a:txBody>
                    <a:bodyPr/>
                    <a:lstStyle/>
                    <a:p>
                      <a:endParaRPr lang="en-IN" sz="1400" dirty="0"/>
                    </a:p>
                  </a:txBody>
                  <a:tcPr/>
                </a:tc>
                <a:tc>
                  <a:txBody>
                    <a:bodyPr/>
                    <a:lstStyle/>
                    <a:p>
                      <a:endParaRPr lang="en-IN" sz="1400" dirty="0"/>
                    </a:p>
                  </a:txBody>
                  <a:tcPr/>
                </a:tc>
              </a:tr>
            </a:tbl>
          </a:graphicData>
        </a:graphic>
      </p:graphicFrame>
      <p:graphicFrame>
        <p:nvGraphicFramePr>
          <p:cNvPr id="12" name="Table 11"/>
          <p:cNvGraphicFramePr>
            <a:graphicFrameLocks noGrp="1"/>
          </p:cNvGraphicFramePr>
          <p:nvPr>
            <p:extLst/>
          </p:nvPr>
        </p:nvGraphicFramePr>
        <p:xfrm>
          <a:off x="4278593" y="5620745"/>
          <a:ext cx="6502400" cy="615274"/>
        </p:xfrm>
        <a:graphic>
          <a:graphicData uri="http://schemas.openxmlformats.org/drawingml/2006/table">
            <a:tbl>
              <a:tblPr firstRow="1" bandRow="1">
                <a:tableStyleId>{21E4AEA4-8DFA-4A89-87EB-49C32662AFE0}</a:tableStyleId>
              </a:tblPr>
              <a:tblGrid>
                <a:gridCol w="1625600"/>
                <a:gridCol w="1625600"/>
                <a:gridCol w="1625600"/>
                <a:gridCol w="1625600"/>
              </a:tblGrid>
              <a:tr h="310474">
                <a:tc>
                  <a:txBody>
                    <a:bodyPr/>
                    <a:lstStyle/>
                    <a:p>
                      <a:r>
                        <a:rPr lang="en-GB" sz="1400" dirty="0" smtClean="0"/>
                        <a:t>Material Name</a:t>
                      </a:r>
                      <a:endParaRPr lang="en-IN" sz="1400" dirty="0"/>
                    </a:p>
                  </a:txBody>
                  <a:tcPr/>
                </a:tc>
                <a:tc>
                  <a:txBody>
                    <a:bodyPr/>
                    <a:lstStyle/>
                    <a:p>
                      <a:r>
                        <a:rPr lang="en-GB" sz="1400" dirty="0" smtClean="0"/>
                        <a:t>Required Qty</a:t>
                      </a:r>
                      <a:endParaRPr lang="en-IN" sz="1400" dirty="0"/>
                    </a:p>
                  </a:txBody>
                  <a:tcPr/>
                </a:tc>
                <a:tc>
                  <a:txBody>
                    <a:bodyPr/>
                    <a:lstStyle/>
                    <a:p>
                      <a:r>
                        <a:rPr lang="en-GB" sz="1400" dirty="0" smtClean="0"/>
                        <a:t>Available Qty</a:t>
                      </a:r>
                      <a:endParaRPr lang="en-IN" sz="1400" dirty="0"/>
                    </a:p>
                  </a:txBody>
                  <a:tcPr/>
                </a:tc>
                <a:tc>
                  <a:txBody>
                    <a:bodyPr/>
                    <a:lstStyle/>
                    <a:p>
                      <a:r>
                        <a:rPr lang="en-GB" sz="1400" dirty="0" smtClean="0"/>
                        <a:t>Short Qty</a:t>
                      </a:r>
                      <a:endParaRPr lang="en-IN" sz="1400" dirty="0"/>
                    </a:p>
                  </a:txBody>
                  <a:tcPr/>
                </a:tc>
              </a:tr>
              <a:tr h="290699">
                <a:tc>
                  <a:txBody>
                    <a:bodyPr/>
                    <a:lstStyle/>
                    <a:p>
                      <a:r>
                        <a:rPr lang="en-GB" sz="1400" dirty="0" smtClean="0"/>
                        <a:t>Fabric A</a:t>
                      </a:r>
                      <a:endParaRPr lang="en-IN" sz="1400" dirty="0"/>
                    </a:p>
                  </a:txBody>
                  <a:tcPr/>
                </a:tc>
                <a:tc>
                  <a:txBody>
                    <a:bodyPr/>
                    <a:lstStyle/>
                    <a:p>
                      <a:r>
                        <a:rPr lang="en-GB" sz="1400" dirty="0" smtClean="0"/>
                        <a:t>200m</a:t>
                      </a:r>
                      <a:endParaRPr lang="en-IN" sz="1400" dirty="0"/>
                    </a:p>
                  </a:txBody>
                  <a:tcPr/>
                </a:tc>
                <a:tc>
                  <a:txBody>
                    <a:bodyPr/>
                    <a:lstStyle/>
                    <a:p>
                      <a:r>
                        <a:rPr lang="en-GB" sz="1400" dirty="0" smtClean="0"/>
                        <a:t>160m</a:t>
                      </a:r>
                      <a:endParaRPr lang="en-IN" sz="1400" dirty="0"/>
                    </a:p>
                  </a:txBody>
                  <a:tcPr/>
                </a:tc>
                <a:tc>
                  <a:txBody>
                    <a:bodyPr/>
                    <a:lstStyle/>
                    <a:p>
                      <a:r>
                        <a:rPr lang="en-GB" sz="1400" dirty="0" smtClean="0"/>
                        <a:t>40m </a:t>
                      </a:r>
                      <a:endParaRPr lang="en-IN" sz="1400" dirty="0"/>
                    </a:p>
                  </a:txBody>
                  <a:tcPr/>
                </a:tc>
              </a:tr>
            </a:tbl>
          </a:graphicData>
        </a:graphic>
      </p:graphicFrame>
      <p:sp>
        <p:nvSpPr>
          <p:cNvPr id="13" name="Rounded Rectangle 12"/>
          <p:cNvSpPr/>
          <p:nvPr/>
        </p:nvSpPr>
        <p:spPr>
          <a:xfrm>
            <a:off x="8769927" y="3203373"/>
            <a:ext cx="729674" cy="24938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smtClean="0"/>
              <a:t>Check</a:t>
            </a:r>
            <a:endParaRPr lang="en-IN" dirty="0"/>
          </a:p>
        </p:txBody>
      </p:sp>
      <p:sp>
        <p:nvSpPr>
          <p:cNvPr id="22" name="Rounded Rectangle 21"/>
          <p:cNvSpPr/>
          <p:nvPr/>
        </p:nvSpPr>
        <p:spPr>
          <a:xfrm>
            <a:off x="3168072" y="2003524"/>
            <a:ext cx="5089237" cy="2863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b="1" i="1" dirty="0">
                <a:solidFill>
                  <a:schemeClr val="tx1"/>
                </a:solidFill>
              </a:rPr>
              <a:t>PO-Wise Material Readiness Status</a:t>
            </a:r>
            <a:endParaRPr lang="en-IN" dirty="0">
              <a:solidFill>
                <a:schemeClr val="tx1"/>
              </a:solidFill>
            </a:endParaRPr>
          </a:p>
        </p:txBody>
      </p:sp>
      <p:sp>
        <p:nvSpPr>
          <p:cNvPr id="28" name="Rectangle 27"/>
          <p:cNvSpPr/>
          <p:nvPr/>
        </p:nvSpPr>
        <p:spPr>
          <a:xfrm>
            <a:off x="3317903" y="593459"/>
            <a:ext cx="1981197"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29" name="Rectangle 28"/>
          <p:cNvSpPr/>
          <p:nvPr/>
        </p:nvSpPr>
        <p:spPr>
          <a:xfrm>
            <a:off x="3317903" y="593459"/>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Plant</a:t>
            </a:r>
            <a:endParaRPr lang="en-IN" sz="1400" dirty="0"/>
          </a:p>
        </p:txBody>
      </p:sp>
      <p:sp>
        <p:nvSpPr>
          <p:cNvPr id="30" name="Rectangle 29"/>
          <p:cNvSpPr/>
          <p:nvPr/>
        </p:nvSpPr>
        <p:spPr>
          <a:xfrm>
            <a:off x="5465360" y="601048"/>
            <a:ext cx="1597890"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31" name="Rectangle 30"/>
          <p:cNvSpPr/>
          <p:nvPr/>
        </p:nvSpPr>
        <p:spPr>
          <a:xfrm>
            <a:off x="5465359" y="591813"/>
            <a:ext cx="722720"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Line</a:t>
            </a:r>
            <a:endParaRPr lang="en-IN" sz="1400" dirty="0"/>
          </a:p>
        </p:txBody>
      </p:sp>
      <p:sp>
        <p:nvSpPr>
          <p:cNvPr id="32" name="Rectangle 31"/>
          <p:cNvSpPr/>
          <p:nvPr/>
        </p:nvSpPr>
        <p:spPr>
          <a:xfrm>
            <a:off x="7213320" y="601048"/>
            <a:ext cx="1831123"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33" name="Rectangle 32"/>
          <p:cNvSpPr/>
          <p:nvPr/>
        </p:nvSpPr>
        <p:spPr>
          <a:xfrm>
            <a:off x="7213319" y="591813"/>
            <a:ext cx="94518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PO NO</a:t>
            </a:r>
            <a:endParaRPr lang="en-IN" sz="1400" dirty="0"/>
          </a:p>
        </p:txBody>
      </p:sp>
      <p:sp>
        <p:nvSpPr>
          <p:cNvPr id="34" name="Rectangle 33"/>
          <p:cNvSpPr/>
          <p:nvPr/>
        </p:nvSpPr>
        <p:spPr>
          <a:xfrm>
            <a:off x="9156033" y="618663"/>
            <a:ext cx="1831123"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35" name="Rectangle 34"/>
          <p:cNvSpPr/>
          <p:nvPr/>
        </p:nvSpPr>
        <p:spPr>
          <a:xfrm>
            <a:off x="9156032" y="609428"/>
            <a:ext cx="94518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Status</a:t>
            </a:r>
            <a:endParaRPr lang="en-IN" sz="1400" dirty="0"/>
          </a:p>
        </p:txBody>
      </p:sp>
      <p:sp>
        <p:nvSpPr>
          <p:cNvPr id="39" name="Rectangle 38"/>
          <p:cNvSpPr/>
          <p:nvPr/>
        </p:nvSpPr>
        <p:spPr>
          <a:xfrm>
            <a:off x="30643" y="-10948"/>
            <a:ext cx="12160038" cy="495859"/>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Cutting </a:t>
            </a:r>
            <a:r>
              <a:rPr lang="en-GB" sz="2000" b="1"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Material </a:t>
            </a:r>
            <a:r>
              <a:rPr lang="en-GB"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Availability – Plant In-charge Dashboard </a:t>
            </a:r>
            <a:endParaRPr lang="en-GB" sz="2000"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40" name="Picture 39"/>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711709" y="1"/>
            <a:ext cx="465680" cy="458486"/>
          </a:xfrm>
          <a:prstGeom prst="rect">
            <a:avLst/>
          </a:prstGeom>
        </p:spPr>
      </p:pic>
      <p:sp>
        <p:nvSpPr>
          <p:cNvPr id="38" name="Rectangle 37"/>
          <p:cNvSpPr/>
          <p:nvPr/>
        </p:nvSpPr>
        <p:spPr>
          <a:xfrm>
            <a:off x="0" y="580644"/>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41" name="Rectangle 40"/>
          <p:cNvSpPr/>
          <p:nvPr/>
        </p:nvSpPr>
        <p:spPr>
          <a:xfrm>
            <a:off x="198578" y="573117"/>
            <a:ext cx="510782" cy="276999"/>
          </a:xfrm>
          <a:prstGeom prst="rect">
            <a:avLst/>
          </a:prstGeom>
        </p:spPr>
        <p:txBody>
          <a:bodyPr wrap="none">
            <a:spAutoFit/>
          </a:bodyPr>
          <a:lstStyle/>
          <a:p>
            <a:pPr algn="ctr"/>
            <a:r>
              <a:rPr lang="en-GB" sz="1200" dirty="0" smtClean="0"/>
              <a:t>From</a:t>
            </a:r>
            <a:endParaRPr lang="en-IN" sz="1200" dirty="0"/>
          </a:p>
        </p:txBody>
      </p:sp>
      <p:sp>
        <p:nvSpPr>
          <p:cNvPr id="42" name="Rectangle 41"/>
          <p:cNvSpPr/>
          <p:nvPr/>
        </p:nvSpPr>
        <p:spPr>
          <a:xfrm>
            <a:off x="1534230" y="590553"/>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43" name="Rectangle 42"/>
          <p:cNvSpPr/>
          <p:nvPr/>
        </p:nvSpPr>
        <p:spPr>
          <a:xfrm>
            <a:off x="1729958" y="584479"/>
            <a:ext cx="358240" cy="276999"/>
          </a:xfrm>
          <a:prstGeom prst="rect">
            <a:avLst/>
          </a:prstGeom>
        </p:spPr>
        <p:txBody>
          <a:bodyPr wrap="none">
            <a:spAutoFit/>
          </a:bodyPr>
          <a:lstStyle/>
          <a:p>
            <a:pPr algn="ctr"/>
            <a:r>
              <a:rPr lang="en-GB" sz="1200" dirty="0" smtClean="0"/>
              <a:t>TO</a:t>
            </a:r>
            <a:endParaRPr lang="en-IN" sz="1200" dirty="0"/>
          </a:p>
        </p:txBody>
      </p:sp>
      <p:sp>
        <p:nvSpPr>
          <p:cNvPr id="44" name="Rectangle 43"/>
          <p:cNvSpPr/>
          <p:nvPr/>
        </p:nvSpPr>
        <p:spPr>
          <a:xfrm>
            <a:off x="650789" y="582000"/>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Merge 44"/>
          <p:cNvSpPr/>
          <p:nvPr/>
        </p:nvSpPr>
        <p:spPr>
          <a:xfrm>
            <a:off x="1348167" y="661117"/>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74757" y="565463"/>
            <a:ext cx="870751" cy="261610"/>
          </a:xfrm>
          <a:prstGeom prst="rect">
            <a:avLst/>
          </a:prstGeom>
        </p:spPr>
        <p:txBody>
          <a:bodyPr wrap="none">
            <a:spAutoFit/>
          </a:bodyPr>
          <a:lstStyle/>
          <a:p>
            <a:pPr algn="ctr"/>
            <a:r>
              <a:rPr lang="en-GB" sz="1050" dirty="0" smtClean="0"/>
              <a:t>2025/07/01</a:t>
            </a:r>
            <a:endParaRPr lang="en-IN" sz="1050" dirty="0"/>
          </a:p>
        </p:txBody>
      </p:sp>
      <p:sp>
        <p:nvSpPr>
          <p:cNvPr id="47" name="Rectangle 46"/>
          <p:cNvSpPr/>
          <p:nvPr/>
        </p:nvSpPr>
        <p:spPr>
          <a:xfrm>
            <a:off x="2040025" y="599163"/>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Merge 47"/>
          <p:cNvSpPr/>
          <p:nvPr/>
        </p:nvSpPr>
        <p:spPr>
          <a:xfrm>
            <a:off x="2737403" y="678280"/>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1963993" y="582626"/>
            <a:ext cx="870751" cy="261610"/>
          </a:xfrm>
          <a:prstGeom prst="rect">
            <a:avLst/>
          </a:prstGeom>
        </p:spPr>
        <p:txBody>
          <a:bodyPr wrap="none">
            <a:spAutoFit/>
          </a:bodyPr>
          <a:lstStyle/>
          <a:p>
            <a:pPr algn="ctr"/>
            <a:r>
              <a:rPr lang="en-GB" sz="1050" dirty="0" smtClean="0"/>
              <a:t>2025/07/05</a:t>
            </a:r>
            <a:endParaRPr lang="en-IN" sz="1050" dirty="0"/>
          </a:p>
        </p:txBody>
      </p:sp>
      <p:sp>
        <p:nvSpPr>
          <p:cNvPr id="50" name="Rectangle 49"/>
          <p:cNvSpPr/>
          <p:nvPr/>
        </p:nvSpPr>
        <p:spPr>
          <a:xfrm>
            <a:off x="30643" y="519282"/>
            <a:ext cx="2948082" cy="384849"/>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492324" y="3122141"/>
            <a:ext cx="6490141" cy="3954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1493563" y="4275463"/>
            <a:ext cx="6490141" cy="36794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13" idx="2"/>
          </p:cNvCxnSpPr>
          <p:nvPr/>
        </p:nvCxnSpPr>
        <p:spPr>
          <a:xfrm>
            <a:off x="9134764" y="3452755"/>
            <a:ext cx="21268" cy="214073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651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ounded Rectangle 3"/>
          <p:cNvSpPr/>
          <p:nvPr/>
        </p:nvSpPr>
        <p:spPr>
          <a:xfrm>
            <a:off x="228599" y="804320"/>
            <a:ext cx="2313711" cy="46529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1400" dirty="0"/>
              <a:t>📦 Material Readiness </a:t>
            </a:r>
            <a:r>
              <a:rPr lang="en-IN" sz="1400" dirty="0" smtClean="0"/>
              <a:t>%</a:t>
            </a:r>
          </a:p>
          <a:p>
            <a:pPr algn="ctr"/>
            <a:r>
              <a:rPr lang="en-IN" sz="1400" dirty="0"/>
              <a:t>82% Ready</a:t>
            </a:r>
          </a:p>
        </p:txBody>
      </p:sp>
      <p:sp>
        <p:nvSpPr>
          <p:cNvPr id="5" name="Rounded Rectangle 4"/>
          <p:cNvSpPr/>
          <p:nvPr/>
        </p:nvSpPr>
        <p:spPr>
          <a:xfrm>
            <a:off x="2581913" y="822790"/>
            <a:ext cx="3915244" cy="44091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00" dirty="0"/>
              <a:t>🚨 Open </a:t>
            </a:r>
            <a:r>
              <a:rPr lang="en-IN" sz="1400" dirty="0" smtClean="0"/>
              <a:t>Escalations (issues not yet resolved)</a:t>
            </a:r>
          </a:p>
          <a:p>
            <a:pPr algn="ctr"/>
            <a:r>
              <a:rPr lang="en-GB" sz="1400" dirty="0"/>
              <a:t>5</a:t>
            </a:r>
            <a:endParaRPr lang="en-IN" sz="1400" dirty="0"/>
          </a:p>
        </p:txBody>
      </p:sp>
      <p:sp>
        <p:nvSpPr>
          <p:cNvPr id="6" name="Rounded Rectangle 5"/>
          <p:cNvSpPr/>
          <p:nvPr/>
        </p:nvSpPr>
        <p:spPr>
          <a:xfrm>
            <a:off x="6801332" y="822060"/>
            <a:ext cx="1971964" cy="44164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400" dirty="0"/>
              <a:t>📋 Total POs </a:t>
            </a:r>
            <a:r>
              <a:rPr lang="en-IN" sz="1400" dirty="0" smtClean="0"/>
              <a:t>Today</a:t>
            </a:r>
          </a:p>
          <a:p>
            <a:pPr algn="ctr"/>
            <a:r>
              <a:rPr lang="en-GB" sz="1400" dirty="0" smtClean="0"/>
              <a:t>36</a:t>
            </a:r>
            <a:endParaRPr lang="en-IN" sz="1400" dirty="0"/>
          </a:p>
        </p:txBody>
      </p:sp>
      <p:sp>
        <p:nvSpPr>
          <p:cNvPr id="7" name="Rounded Rectangle 6"/>
          <p:cNvSpPr/>
          <p:nvPr/>
        </p:nvSpPr>
        <p:spPr>
          <a:xfrm>
            <a:off x="9032401" y="822060"/>
            <a:ext cx="1846299" cy="44164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600" dirty="0"/>
              <a:t>📈 Avg </a:t>
            </a:r>
            <a:r>
              <a:rPr lang="en-IN" sz="1600" dirty="0" smtClean="0"/>
              <a:t>Delay</a:t>
            </a:r>
          </a:p>
          <a:p>
            <a:pPr algn="ctr"/>
            <a:r>
              <a:rPr lang="en-GB" sz="1600" dirty="0" smtClean="0"/>
              <a:t>2.1 days</a:t>
            </a:r>
            <a:endParaRPr lang="en-IN" sz="1600" dirty="0"/>
          </a:p>
        </p:txBody>
      </p:sp>
      <p:graphicFrame>
        <p:nvGraphicFramePr>
          <p:cNvPr id="11" name="Chart 10"/>
          <p:cNvGraphicFramePr/>
          <p:nvPr>
            <p:extLst/>
          </p:nvPr>
        </p:nvGraphicFramePr>
        <p:xfrm>
          <a:off x="244762" y="1319126"/>
          <a:ext cx="6156037" cy="18052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Table 18"/>
          <p:cNvGraphicFramePr>
            <a:graphicFrameLocks noGrp="1"/>
          </p:cNvGraphicFramePr>
          <p:nvPr>
            <p:extLst/>
          </p:nvPr>
        </p:nvGraphicFramePr>
        <p:xfrm>
          <a:off x="228599" y="3431022"/>
          <a:ext cx="6496809" cy="1621134"/>
        </p:xfrm>
        <a:graphic>
          <a:graphicData uri="http://schemas.openxmlformats.org/drawingml/2006/table">
            <a:tbl>
              <a:tblPr firstRow="1" bandRow="1">
                <a:tableStyleId>{5C22544A-7EE6-4342-B048-85BDC9FD1C3A}</a:tableStyleId>
              </a:tblPr>
              <a:tblGrid>
                <a:gridCol w="2165603"/>
                <a:gridCol w="2165603"/>
                <a:gridCol w="2165603"/>
              </a:tblGrid>
              <a:tr h="312121">
                <a:tc>
                  <a:txBody>
                    <a:bodyPr/>
                    <a:lstStyle/>
                    <a:p>
                      <a:pPr algn="ctr"/>
                      <a:r>
                        <a:rPr lang="en-GB" sz="1100" dirty="0" smtClean="0"/>
                        <a:t>Material</a:t>
                      </a:r>
                      <a:endParaRPr lang="en-IN" sz="1100" dirty="0"/>
                    </a:p>
                  </a:txBody>
                  <a:tcPr/>
                </a:tc>
                <a:tc>
                  <a:txBody>
                    <a:bodyPr/>
                    <a:lstStyle/>
                    <a:p>
                      <a:pPr algn="ctr"/>
                      <a:r>
                        <a:rPr lang="en-GB" sz="1100" dirty="0" smtClean="0"/>
                        <a:t>Short Quantity</a:t>
                      </a:r>
                      <a:endParaRPr lang="en-IN" sz="1100" dirty="0"/>
                    </a:p>
                  </a:txBody>
                  <a:tcPr/>
                </a:tc>
                <a:tc>
                  <a:txBody>
                    <a:bodyPr/>
                    <a:lstStyle/>
                    <a:p>
                      <a:pPr algn="ctr"/>
                      <a:r>
                        <a:rPr lang="en-GB" sz="1100" dirty="0" smtClean="0"/>
                        <a:t>Affected</a:t>
                      </a:r>
                      <a:r>
                        <a:rPr lang="en-GB" sz="1100" baseline="0" dirty="0" smtClean="0"/>
                        <a:t> Pos </a:t>
                      </a:r>
                      <a:endParaRPr lang="en-IN" sz="1100" dirty="0"/>
                    </a:p>
                  </a:txBody>
                  <a:tcPr/>
                </a:tc>
              </a:tr>
              <a:tr h="27269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100" dirty="0" smtClean="0"/>
                        <a:t>FTWR WHITE 01F7 54</a:t>
                      </a:r>
                    </a:p>
                  </a:txBody>
                  <a:tcPr/>
                </a:tc>
                <a:tc>
                  <a:txBody>
                    <a:bodyPr/>
                    <a:lstStyle/>
                    <a:p>
                      <a:pPr algn="ctr"/>
                      <a:r>
                        <a:rPr lang="en-GB" sz="1100" dirty="0" smtClean="0"/>
                        <a:t>340m</a:t>
                      </a:r>
                      <a:endParaRPr lang="en-IN" sz="1100" dirty="0"/>
                    </a:p>
                  </a:txBody>
                  <a:tcPr/>
                </a:tc>
                <a:tc>
                  <a:txBody>
                    <a:bodyPr/>
                    <a:lstStyle/>
                    <a:p>
                      <a:pPr algn="ctr"/>
                      <a:r>
                        <a:rPr lang="en-GB" sz="1100" dirty="0" smtClean="0"/>
                        <a:t>3</a:t>
                      </a:r>
                      <a:endParaRPr lang="en-IN" sz="1100" dirty="0"/>
                    </a:p>
                  </a:txBody>
                  <a:tcPr/>
                </a:tc>
              </a:tr>
              <a:tr h="252344">
                <a:tc>
                  <a:txBody>
                    <a:bodyPr/>
                    <a:lstStyle/>
                    <a:p>
                      <a:pPr algn="ctr"/>
                      <a:r>
                        <a:rPr lang="en-IN" sz="1100" dirty="0" smtClean="0"/>
                        <a:t>1.4MM ECO SOFT MATTE</a:t>
                      </a:r>
                      <a:endParaRPr lang="en-IN" sz="1100" dirty="0"/>
                    </a:p>
                  </a:txBody>
                  <a:tcPr/>
                </a:tc>
                <a:tc>
                  <a:txBody>
                    <a:bodyPr/>
                    <a:lstStyle/>
                    <a:p>
                      <a:pPr algn="ctr"/>
                      <a:r>
                        <a:rPr lang="en-GB" sz="1100" dirty="0" smtClean="0"/>
                        <a:t>220m</a:t>
                      </a:r>
                      <a:endParaRPr lang="en-IN" sz="1100" dirty="0"/>
                    </a:p>
                  </a:txBody>
                  <a:tcPr/>
                </a:tc>
                <a:tc>
                  <a:txBody>
                    <a:bodyPr/>
                    <a:lstStyle/>
                    <a:p>
                      <a:pPr algn="ctr"/>
                      <a:r>
                        <a:rPr lang="en-GB" sz="1100" dirty="0" smtClean="0"/>
                        <a:t>8</a:t>
                      </a:r>
                      <a:endParaRPr lang="en-IN" sz="1100" dirty="0"/>
                    </a:p>
                  </a:txBody>
                  <a:tcPr/>
                </a:tc>
              </a:tr>
              <a:tr h="252344">
                <a:tc>
                  <a:txBody>
                    <a:bodyPr/>
                    <a:lstStyle/>
                    <a:p>
                      <a:pPr algn="ctr"/>
                      <a:r>
                        <a:rPr lang="en-IN" sz="1100" dirty="0" smtClean="0"/>
                        <a:t>CEMENT TWICE</a:t>
                      </a:r>
                      <a:endParaRPr lang="en-IN" sz="1100" dirty="0"/>
                    </a:p>
                  </a:txBody>
                  <a:tcPr/>
                </a:tc>
                <a:tc>
                  <a:txBody>
                    <a:bodyPr/>
                    <a:lstStyle/>
                    <a:p>
                      <a:pPr algn="ctr"/>
                      <a:r>
                        <a:rPr lang="en-GB" sz="1100" dirty="0" smtClean="0"/>
                        <a:t>165m</a:t>
                      </a:r>
                      <a:endParaRPr lang="en-IN" sz="1100" dirty="0"/>
                    </a:p>
                  </a:txBody>
                  <a:tcPr/>
                </a:tc>
                <a:tc>
                  <a:txBody>
                    <a:bodyPr/>
                    <a:lstStyle/>
                    <a:p>
                      <a:pPr algn="ctr"/>
                      <a:r>
                        <a:rPr lang="en-GB" sz="1100" dirty="0" smtClean="0"/>
                        <a:t>21</a:t>
                      </a:r>
                      <a:endParaRPr lang="en-IN" sz="1100" dirty="0"/>
                    </a:p>
                  </a:txBody>
                  <a:tcPr/>
                </a:tc>
              </a:tr>
              <a:tr h="252344">
                <a:tc>
                  <a:txBody>
                    <a:bodyPr/>
                    <a:lstStyle/>
                    <a:p>
                      <a:pPr algn="ctr"/>
                      <a:r>
                        <a:rPr lang="en-IN" sz="1100" dirty="0" smtClean="0"/>
                        <a:t>WHITE LATEX</a:t>
                      </a:r>
                      <a:endParaRPr lang="en-IN" sz="1100" dirty="0"/>
                    </a:p>
                  </a:txBody>
                  <a:tcPr/>
                </a:tc>
                <a:tc>
                  <a:txBody>
                    <a:bodyPr/>
                    <a:lstStyle/>
                    <a:p>
                      <a:pPr algn="ctr"/>
                      <a:r>
                        <a:rPr lang="en-GB" sz="1100" dirty="0" smtClean="0"/>
                        <a:t>100m</a:t>
                      </a:r>
                      <a:endParaRPr lang="en-IN" sz="1100" dirty="0"/>
                    </a:p>
                  </a:txBody>
                  <a:tcPr/>
                </a:tc>
                <a:tc>
                  <a:txBody>
                    <a:bodyPr/>
                    <a:lstStyle/>
                    <a:p>
                      <a:pPr algn="ctr"/>
                      <a:r>
                        <a:rPr lang="en-GB" sz="1100" dirty="0" smtClean="0"/>
                        <a:t>4</a:t>
                      </a:r>
                      <a:endParaRPr lang="en-IN" sz="1100" dirty="0"/>
                    </a:p>
                  </a:txBody>
                  <a:tcPr/>
                </a:tc>
              </a:tr>
              <a:tr h="252344">
                <a:tc>
                  <a:txBody>
                    <a:bodyPr/>
                    <a:lstStyle/>
                    <a:p>
                      <a:pPr algn="ctr"/>
                      <a:r>
                        <a:rPr lang="en-IN" sz="1100" dirty="0" smtClean="0"/>
                        <a:t>ST-A990-06E EPM5 MESH</a:t>
                      </a:r>
                      <a:endParaRPr lang="en-IN" sz="1100" dirty="0"/>
                    </a:p>
                  </a:txBody>
                  <a:tcPr/>
                </a:tc>
                <a:tc>
                  <a:txBody>
                    <a:bodyPr/>
                    <a:lstStyle/>
                    <a:p>
                      <a:pPr algn="ctr"/>
                      <a:r>
                        <a:rPr lang="en-GB" sz="1100" dirty="0" smtClean="0"/>
                        <a:t>92m</a:t>
                      </a:r>
                      <a:endParaRPr lang="en-IN" sz="1100" dirty="0"/>
                    </a:p>
                  </a:txBody>
                  <a:tcPr/>
                </a:tc>
                <a:tc>
                  <a:txBody>
                    <a:bodyPr/>
                    <a:lstStyle/>
                    <a:p>
                      <a:pPr algn="ctr"/>
                      <a:r>
                        <a:rPr lang="en-GB" sz="1100" dirty="0" smtClean="0"/>
                        <a:t>1</a:t>
                      </a:r>
                      <a:endParaRPr lang="en-IN" sz="1100" dirty="0"/>
                    </a:p>
                  </a:txBody>
                  <a:tcPr/>
                </a:tc>
              </a:tr>
            </a:tbl>
          </a:graphicData>
        </a:graphic>
      </p:graphicFrame>
      <p:sp>
        <p:nvSpPr>
          <p:cNvPr id="22" name="Rounded Rectangle 21"/>
          <p:cNvSpPr/>
          <p:nvPr/>
        </p:nvSpPr>
        <p:spPr>
          <a:xfrm>
            <a:off x="228599" y="3155943"/>
            <a:ext cx="1921477" cy="24938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IN" sz="1400" b="1" i="1" dirty="0">
                <a:solidFill>
                  <a:schemeClr val="tx1"/>
                </a:solidFill>
              </a:rPr>
              <a:t>Top 5 Short Materials : </a:t>
            </a:r>
          </a:p>
        </p:txBody>
      </p:sp>
      <p:sp>
        <p:nvSpPr>
          <p:cNvPr id="26" name="Rectangle 25"/>
          <p:cNvSpPr/>
          <p:nvPr/>
        </p:nvSpPr>
        <p:spPr>
          <a:xfrm>
            <a:off x="3883266" y="440896"/>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27" name="Rectangle 26"/>
          <p:cNvSpPr/>
          <p:nvPr/>
        </p:nvSpPr>
        <p:spPr>
          <a:xfrm>
            <a:off x="3883266" y="431661"/>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Plant</a:t>
            </a:r>
            <a:endParaRPr lang="en-IN" sz="1400" dirty="0"/>
          </a:p>
        </p:txBody>
      </p:sp>
      <p:sp>
        <p:nvSpPr>
          <p:cNvPr id="28" name="Rectangle 27"/>
          <p:cNvSpPr/>
          <p:nvPr/>
        </p:nvSpPr>
        <p:spPr>
          <a:xfrm>
            <a:off x="6750532" y="449134"/>
            <a:ext cx="2613891" cy="295564"/>
          </a:xfrm>
          <a:prstGeom prst="rect">
            <a:avLst/>
          </a:prstGeom>
          <a:solidFill>
            <a:schemeClr val="bg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smtClean="0"/>
              <a:t>                    </a:t>
            </a:r>
            <a:r>
              <a:rPr lang="en-GB" sz="1400" dirty="0" smtClean="0"/>
              <a:t>All</a:t>
            </a:r>
            <a:endParaRPr lang="en-IN" dirty="0"/>
          </a:p>
        </p:txBody>
      </p:sp>
      <p:sp>
        <p:nvSpPr>
          <p:cNvPr id="29" name="Rectangle 28"/>
          <p:cNvSpPr/>
          <p:nvPr/>
        </p:nvSpPr>
        <p:spPr>
          <a:xfrm>
            <a:off x="6750532" y="439899"/>
            <a:ext cx="1182254" cy="30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dirty="0" smtClean="0"/>
              <a:t>Line</a:t>
            </a:r>
            <a:endParaRPr lang="en-IN" sz="1400" dirty="0"/>
          </a:p>
        </p:txBody>
      </p:sp>
      <p:sp>
        <p:nvSpPr>
          <p:cNvPr id="30" name="Rounded Rectangle 29"/>
          <p:cNvSpPr/>
          <p:nvPr/>
        </p:nvSpPr>
        <p:spPr>
          <a:xfrm>
            <a:off x="9617798" y="439899"/>
            <a:ext cx="1182255" cy="28632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400" dirty="0" smtClean="0"/>
              <a:t>Submit</a:t>
            </a:r>
            <a:endParaRPr lang="en-IN" dirty="0"/>
          </a:p>
        </p:txBody>
      </p:sp>
      <p:sp>
        <p:nvSpPr>
          <p:cNvPr id="20" name="Rectangle 19"/>
          <p:cNvSpPr/>
          <p:nvPr/>
        </p:nvSpPr>
        <p:spPr>
          <a:xfrm>
            <a:off x="6497157" y="1317232"/>
            <a:ext cx="5604227" cy="1800138"/>
          </a:xfrm>
          <a:prstGeom prst="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6497159" y="1431246"/>
            <a:ext cx="4820783" cy="523220"/>
          </a:xfrm>
          <a:prstGeom prst="rect">
            <a:avLst/>
          </a:prstGeom>
        </p:spPr>
        <p:txBody>
          <a:bodyPr wrap="square">
            <a:spAutoFit/>
          </a:bodyPr>
          <a:lstStyle/>
          <a:p>
            <a:r>
              <a:rPr lang="en-GB" sz="1400" b="1" dirty="0" smtClean="0"/>
              <a:t>Purpose</a:t>
            </a:r>
            <a:r>
              <a:rPr lang="en-GB" sz="1400" dirty="0"/>
              <a:t>: Compare different plants to see which ones are better prepared for cutting.</a:t>
            </a:r>
            <a:endParaRPr lang="en-IN" sz="1400" dirty="0"/>
          </a:p>
        </p:txBody>
      </p:sp>
      <p:sp>
        <p:nvSpPr>
          <p:cNvPr id="32" name="Rectangle 31"/>
          <p:cNvSpPr/>
          <p:nvPr/>
        </p:nvSpPr>
        <p:spPr>
          <a:xfrm>
            <a:off x="6528861" y="2019541"/>
            <a:ext cx="4820783" cy="523220"/>
          </a:xfrm>
          <a:prstGeom prst="rect">
            <a:avLst/>
          </a:prstGeom>
        </p:spPr>
        <p:txBody>
          <a:bodyPr wrap="square">
            <a:spAutoFit/>
          </a:bodyPr>
          <a:lstStyle/>
          <a:p>
            <a:r>
              <a:rPr lang="en-GB" sz="1400" b="1" dirty="0" smtClean="0"/>
              <a:t>Description</a:t>
            </a:r>
            <a:r>
              <a:rPr lang="en-GB" sz="1400" dirty="0" smtClean="0"/>
              <a:t> : Shows </a:t>
            </a:r>
            <a:r>
              <a:rPr lang="en-GB" sz="1400" dirty="0"/>
              <a:t>% of material availability across all assigned POs</a:t>
            </a:r>
            <a:endParaRPr lang="en-IN" sz="1400" dirty="0"/>
          </a:p>
        </p:txBody>
      </p:sp>
      <p:sp>
        <p:nvSpPr>
          <p:cNvPr id="33" name="Rectangle 32"/>
          <p:cNvSpPr/>
          <p:nvPr/>
        </p:nvSpPr>
        <p:spPr>
          <a:xfrm>
            <a:off x="6497159" y="2589365"/>
            <a:ext cx="4820783" cy="523220"/>
          </a:xfrm>
          <a:prstGeom prst="rect">
            <a:avLst/>
          </a:prstGeom>
        </p:spPr>
        <p:txBody>
          <a:bodyPr wrap="square">
            <a:spAutoFit/>
          </a:bodyPr>
          <a:lstStyle/>
          <a:p>
            <a:r>
              <a:rPr lang="en-GB" sz="1400" b="1" dirty="0" smtClean="0"/>
              <a:t>Benefits</a:t>
            </a:r>
            <a:r>
              <a:rPr lang="en-GB" sz="1400" dirty="0" smtClean="0"/>
              <a:t> </a:t>
            </a:r>
            <a:r>
              <a:rPr lang="en-GB" sz="1400" dirty="0"/>
              <a:t>: Identify which plant is performing well and where attention or escalation is needed</a:t>
            </a:r>
            <a:r>
              <a:rPr lang="en-GB" sz="1400" dirty="0" smtClean="0"/>
              <a:t>. </a:t>
            </a:r>
            <a:endParaRPr lang="en-IN" sz="1400" dirty="0"/>
          </a:p>
        </p:txBody>
      </p:sp>
      <p:sp>
        <p:nvSpPr>
          <p:cNvPr id="34" name="Rectangle 33"/>
          <p:cNvSpPr/>
          <p:nvPr/>
        </p:nvSpPr>
        <p:spPr>
          <a:xfrm>
            <a:off x="6819319" y="3438277"/>
            <a:ext cx="5282065" cy="1614014"/>
          </a:xfrm>
          <a:prstGeom prst="rect">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6909204" y="3690698"/>
            <a:ext cx="5140960" cy="523220"/>
          </a:xfrm>
          <a:prstGeom prst="rect">
            <a:avLst/>
          </a:prstGeom>
        </p:spPr>
        <p:txBody>
          <a:bodyPr wrap="square">
            <a:spAutoFit/>
          </a:bodyPr>
          <a:lstStyle/>
          <a:p>
            <a:r>
              <a:rPr lang="en-GB" sz="1400" b="1" dirty="0" smtClean="0"/>
              <a:t>Purpose</a:t>
            </a:r>
            <a:r>
              <a:rPr lang="en-GB" sz="1400" dirty="0"/>
              <a:t>: Highlight the most frequently short or unavailable materials, across all </a:t>
            </a:r>
            <a:r>
              <a:rPr lang="en-GB" sz="1400" dirty="0" err="1"/>
              <a:t>POs.</a:t>
            </a:r>
            <a:endParaRPr lang="en-IN" sz="1400" dirty="0"/>
          </a:p>
        </p:txBody>
      </p:sp>
      <p:sp>
        <p:nvSpPr>
          <p:cNvPr id="36" name="Rectangle 35"/>
          <p:cNvSpPr/>
          <p:nvPr/>
        </p:nvSpPr>
        <p:spPr>
          <a:xfrm>
            <a:off x="6909204" y="4404674"/>
            <a:ext cx="5192180" cy="523220"/>
          </a:xfrm>
          <a:prstGeom prst="rect">
            <a:avLst/>
          </a:prstGeom>
        </p:spPr>
        <p:txBody>
          <a:bodyPr wrap="square">
            <a:spAutoFit/>
          </a:bodyPr>
          <a:lstStyle/>
          <a:p>
            <a:r>
              <a:rPr lang="en-GB" sz="1400" b="1" dirty="0" smtClean="0"/>
              <a:t>Benefits</a:t>
            </a:r>
            <a:r>
              <a:rPr lang="en-GB" sz="1400" dirty="0" smtClean="0"/>
              <a:t> </a:t>
            </a:r>
            <a:r>
              <a:rPr lang="en-GB" sz="1400" dirty="0"/>
              <a:t>: Quickly identify which raw materials are causing the biggest disruptions—helps guide procurement priorities</a:t>
            </a:r>
            <a:endParaRPr lang="en-IN" sz="1400" dirty="0"/>
          </a:p>
        </p:txBody>
      </p:sp>
      <p:sp>
        <p:nvSpPr>
          <p:cNvPr id="41" name="Rectangle 40"/>
          <p:cNvSpPr/>
          <p:nvPr/>
        </p:nvSpPr>
        <p:spPr>
          <a:xfrm>
            <a:off x="0" y="-17105"/>
            <a:ext cx="12160038" cy="392926"/>
          </a:xfrm>
          <a:prstGeom prst="rect">
            <a:avLst/>
          </a:prstGeom>
          <a:gradFill>
            <a:gsLst>
              <a:gs pos="100000">
                <a:schemeClr val="accent6">
                  <a:lumMod val="50000"/>
                </a:schemeClr>
              </a:gs>
              <a:gs pos="13000">
                <a:schemeClr val="accent6">
                  <a:lumMod val="105000"/>
                  <a:satMod val="103000"/>
                  <a:tint val="73000"/>
                </a:schemeClr>
              </a:gs>
              <a:gs pos="75000">
                <a:srgbClr val="92D050"/>
              </a:gs>
            </a:gsLst>
            <a:lin ang="10800000" scaled="0"/>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b="1" dirty="0" smtClean="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rPr>
              <a:t>Cutting Material Availability Dashboard – Top Management</a:t>
            </a:r>
            <a:endParaRPr lang="en-GB" sz="2000" dirty="0">
              <a:solidFill>
                <a:srgbClr val="002060"/>
              </a:solidFill>
              <a:effectLst>
                <a:outerShdw blurRad="50800" dist="50800" dir="5400000" algn="ctr" rotWithShape="0">
                  <a:schemeClr val="bg1"/>
                </a:outerShdw>
              </a:effectLst>
              <a:latin typeface="72 Black" panose="020B0A04030603020204" pitchFamily="34" charset="0"/>
              <a:cs typeface="72 Black" panose="020B0A04030603020204" pitchFamily="34" charset="0"/>
            </a:endParaRPr>
          </a:p>
        </p:txBody>
      </p:sp>
      <p:pic>
        <p:nvPicPr>
          <p:cNvPr id="42" name="Picture 41"/>
          <p:cNvPicPr>
            <a:picLocks noChangeAspect="1"/>
          </p:cNvPicPr>
          <p:nvPr/>
        </p:nvPicPr>
        <p:blipFill>
          <a:blip r:embed="rId3" cstate="print">
            <a:extLst>
              <a:ext uri="{BEBA8EAE-BF5A-486C-A8C5-ECC9F3942E4B}">
                <a14:imgProps xmlns:a14="http://schemas.microsoft.com/office/drawing/2010/main">
                  <a14:imgLayer r:embed="rId4">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681066" y="-6157"/>
            <a:ext cx="465680" cy="363311"/>
          </a:xfrm>
          <a:prstGeom prst="rect">
            <a:avLst/>
          </a:prstGeom>
        </p:spPr>
      </p:pic>
      <p:sp>
        <p:nvSpPr>
          <p:cNvPr id="40" name="Rectangle 39"/>
          <p:cNvSpPr/>
          <p:nvPr/>
        </p:nvSpPr>
        <p:spPr>
          <a:xfrm>
            <a:off x="436606" y="463261"/>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43" name="Rectangle 42"/>
          <p:cNvSpPr/>
          <p:nvPr/>
        </p:nvSpPr>
        <p:spPr>
          <a:xfrm>
            <a:off x="635184" y="455734"/>
            <a:ext cx="510782" cy="276999"/>
          </a:xfrm>
          <a:prstGeom prst="rect">
            <a:avLst/>
          </a:prstGeom>
        </p:spPr>
        <p:txBody>
          <a:bodyPr wrap="none">
            <a:spAutoFit/>
          </a:bodyPr>
          <a:lstStyle/>
          <a:p>
            <a:pPr algn="ctr"/>
            <a:r>
              <a:rPr lang="en-GB" sz="1200" dirty="0" smtClean="0"/>
              <a:t>From</a:t>
            </a:r>
            <a:endParaRPr lang="en-IN" sz="1200" dirty="0"/>
          </a:p>
        </p:txBody>
      </p:sp>
      <p:sp>
        <p:nvSpPr>
          <p:cNvPr id="44" name="Rectangle 43"/>
          <p:cNvSpPr/>
          <p:nvPr/>
        </p:nvSpPr>
        <p:spPr>
          <a:xfrm>
            <a:off x="1970836" y="473170"/>
            <a:ext cx="280086" cy="276999"/>
          </a:xfrm>
          <a:prstGeom prst="rect">
            <a:avLst/>
          </a:prstGeom>
        </p:spPr>
        <p:txBody>
          <a:bodyPr wrap="square">
            <a:spAutoFit/>
          </a:bodyPr>
          <a:lstStyle/>
          <a:p>
            <a:r>
              <a:rPr lang="en-GB" sz="1200" dirty="0">
                <a:solidFill>
                  <a:schemeClr val="accent5"/>
                </a:solidFill>
              </a:rPr>
              <a:t>📆</a:t>
            </a:r>
            <a:endParaRPr lang="en-US" sz="1200" dirty="0"/>
          </a:p>
        </p:txBody>
      </p:sp>
      <p:sp>
        <p:nvSpPr>
          <p:cNvPr id="45" name="Rectangle 44"/>
          <p:cNvSpPr/>
          <p:nvPr/>
        </p:nvSpPr>
        <p:spPr>
          <a:xfrm>
            <a:off x="2166564" y="467096"/>
            <a:ext cx="358240" cy="276999"/>
          </a:xfrm>
          <a:prstGeom prst="rect">
            <a:avLst/>
          </a:prstGeom>
        </p:spPr>
        <p:txBody>
          <a:bodyPr wrap="none">
            <a:spAutoFit/>
          </a:bodyPr>
          <a:lstStyle/>
          <a:p>
            <a:pPr algn="ctr"/>
            <a:r>
              <a:rPr lang="en-GB" sz="1200" dirty="0" smtClean="0"/>
              <a:t>TO</a:t>
            </a:r>
            <a:endParaRPr lang="en-IN" sz="1200" dirty="0"/>
          </a:p>
        </p:txBody>
      </p:sp>
      <p:sp>
        <p:nvSpPr>
          <p:cNvPr id="46" name="Rectangle 45"/>
          <p:cNvSpPr/>
          <p:nvPr/>
        </p:nvSpPr>
        <p:spPr>
          <a:xfrm>
            <a:off x="1087395" y="464617"/>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Merge 46"/>
          <p:cNvSpPr/>
          <p:nvPr/>
        </p:nvSpPr>
        <p:spPr>
          <a:xfrm>
            <a:off x="1784773" y="543734"/>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1011363" y="448080"/>
            <a:ext cx="870751" cy="261610"/>
          </a:xfrm>
          <a:prstGeom prst="rect">
            <a:avLst/>
          </a:prstGeom>
        </p:spPr>
        <p:txBody>
          <a:bodyPr wrap="none">
            <a:spAutoFit/>
          </a:bodyPr>
          <a:lstStyle/>
          <a:p>
            <a:pPr algn="ctr"/>
            <a:r>
              <a:rPr lang="en-GB" sz="1050" dirty="0" smtClean="0"/>
              <a:t>2025/07/01</a:t>
            </a:r>
            <a:endParaRPr lang="en-IN" sz="1050" dirty="0"/>
          </a:p>
        </p:txBody>
      </p:sp>
      <p:sp>
        <p:nvSpPr>
          <p:cNvPr id="49" name="Rectangle 48"/>
          <p:cNvSpPr/>
          <p:nvPr/>
        </p:nvSpPr>
        <p:spPr>
          <a:xfrm>
            <a:off x="2476631" y="481780"/>
            <a:ext cx="882445" cy="2355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Merge 49"/>
          <p:cNvSpPr/>
          <p:nvPr/>
        </p:nvSpPr>
        <p:spPr>
          <a:xfrm>
            <a:off x="3174009" y="560897"/>
            <a:ext cx="144157" cy="105328"/>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2416629" y="465243"/>
            <a:ext cx="838692" cy="253916"/>
          </a:xfrm>
          <a:prstGeom prst="rect">
            <a:avLst/>
          </a:prstGeom>
        </p:spPr>
        <p:txBody>
          <a:bodyPr wrap="none">
            <a:spAutoFit/>
          </a:bodyPr>
          <a:lstStyle/>
          <a:p>
            <a:pPr algn="ctr"/>
            <a:r>
              <a:rPr lang="en-GB" sz="1050" dirty="0" smtClean="0"/>
              <a:t>2025/07/03</a:t>
            </a:r>
            <a:endParaRPr lang="en-IN" sz="1050" dirty="0"/>
          </a:p>
        </p:txBody>
      </p:sp>
      <p:sp>
        <p:nvSpPr>
          <p:cNvPr id="52" name="Rectangle 51"/>
          <p:cNvSpPr/>
          <p:nvPr/>
        </p:nvSpPr>
        <p:spPr>
          <a:xfrm>
            <a:off x="467249" y="401899"/>
            <a:ext cx="2948082" cy="384849"/>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3" name="Table 52"/>
          <p:cNvGraphicFramePr>
            <a:graphicFrameLocks noGrp="1"/>
          </p:cNvGraphicFramePr>
          <p:nvPr>
            <p:extLst/>
          </p:nvPr>
        </p:nvGraphicFramePr>
        <p:xfrm>
          <a:off x="228598" y="5186582"/>
          <a:ext cx="11872785" cy="1117720"/>
        </p:xfrm>
        <a:graphic>
          <a:graphicData uri="http://schemas.openxmlformats.org/drawingml/2006/table">
            <a:tbl>
              <a:tblPr firstRow="1" bandRow="1">
                <a:tableStyleId>{5C22544A-7EE6-4342-B048-85BDC9FD1C3A}</a:tableStyleId>
              </a:tblPr>
              <a:tblGrid>
                <a:gridCol w="1637023"/>
                <a:gridCol w="1617305"/>
                <a:gridCol w="1662738"/>
                <a:gridCol w="2180208"/>
                <a:gridCol w="2566510"/>
                <a:gridCol w="2209001"/>
              </a:tblGrid>
              <a:tr h="273027">
                <a:tc>
                  <a:txBody>
                    <a:bodyPr/>
                    <a:lstStyle/>
                    <a:p>
                      <a:r>
                        <a:rPr lang="en-GB" sz="1050" dirty="0" smtClean="0"/>
                        <a:t>Date </a:t>
                      </a:r>
                      <a:endParaRPr lang="en-IN" sz="1050" dirty="0"/>
                    </a:p>
                  </a:txBody>
                  <a:tcPr/>
                </a:tc>
                <a:tc>
                  <a:txBody>
                    <a:bodyPr/>
                    <a:lstStyle/>
                    <a:p>
                      <a:r>
                        <a:rPr lang="en-GB" sz="1050" dirty="0" smtClean="0"/>
                        <a:t>No</a:t>
                      </a:r>
                      <a:r>
                        <a:rPr lang="en-GB" sz="1050" baseline="0" dirty="0" smtClean="0"/>
                        <a:t> Of Pos </a:t>
                      </a:r>
                      <a:endParaRPr lang="en-IN" sz="1050" dirty="0"/>
                    </a:p>
                  </a:txBody>
                  <a:tcPr/>
                </a:tc>
                <a:tc>
                  <a:txBody>
                    <a:bodyPr/>
                    <a:lstStyle/>
                    <a:p>
                      <a:r>
                        <a:rPr lang="en-GB" sz="1050" dirty="0" smtClean="0"/>
                        <a:t>Material</a:t>
                      </a:r>
                      <a:r>
                        <a:rPr lang="en-GB" sz="1050" baseline="0" dirty="0" smtClean="0"/>
                        <a:t> OK Pos </a:t>
                      </a:r>
                      <a:endParaRPr lang="en-IN" sz="1050" dirty="0"/>
                    </a:p>
                  </a:txBody>
                  <a:tcPr/>
                </a:tc>
                <a:tc>
                  <a:txBody>
                    <a:bodyPr/>
                    <a:lstStyle/>
                    <a:p>
                      <a:r>
                        <a:rPr lang="en-GB" sz="1050" dirty="0" smtClean="0"/>
                        <a:t>Material</a:t>
                      </a:r>
                      <a:r>
                        <a:rPr lang="en-GB" sz="1050" baseline="0" dirty="0" smtClean="0"/>
                        <a:t> Not OK Pos </a:t>
                      </a:r>
                      <a:endParaRPr lang="en-IN" sz="1050" dirty="0"/>
                    </a:p>
                  </a:txBody>
                  <a:tcPr/>
                </a:tc>
                <a:tc>
                  <a:txBody>
                    <a:bodyPr/>
                    <a:lstStyle/>
                    <a:p>
                      <a:r>
                        <a:rPr lang="en-GB" sz="1050" dirty="0" smtClean="0"/>
                        <a:t>Material Readiness %</a:t>
                      </a:r>
                      <a:endParaRPr lang="en-IN" sz="1050" dirty="0"/>
                    </a:p>
                  </a:txBody>
                  <a:tcPr/>
                </a:tc>
                <a:tc>
                  <a:txBody>
                    <a:bodyPr/>
                    <a:lstStyle/>
                    <a:p>
                      <a:r>
                        <a:rPr lang="en-GB" sz="1050" dirty="0" smtClean="0"/>
                        <a:t>Status</a:t>
                      </a:r>
                      <a:r>
                        <a:rPr lang="en-GB" sz="1050" baseline="0" dirty="0" smtClean="0"/>
                        <a:t> </a:t>
                      </a:r>
                      <a:endParaRPr lang="en-IN" sz="1050" dirty="0"/>
                    </a:p>
                  </a:txBody>
                  <a:tcPr/>
                </a:tc>
              </a:tr>
              <a:tr h="2986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50" dirty="0" smtClean="0"/>
                        <a:t>2025/07/01</a:t>
                      </a:r>
                      <a:endParaRPr lang="en-IN" sz="1050" dirty="0" smtClean="0"/>
                    </a:p>
                  </a:txBody>
                  <a:tcPr/>
                </a:tc>
                <a:tc>
                  <a:txBody>
                    <a:bodyPr/>
                    <a:lstStyle/>
                    <a:p>
                      <a:r>
                        <a:rPr lang="en-IN" sz="1050" dirty="0" smtClean="0"/>
                        <a:t>120</a:t>
                      </a:r>
                      <a:endParaRPr lang="en-IN" sz="1050" dirty="0"/>
                    </a:p>
                  </a:txBody>
                  <a:tcPr/>
                </a:tc>
                <a:tc>
                  <a:txBody>
                    <a:bodyPr/>
                    <a:lstStyle/>
                    <a:p>
                      <a:r>
                        <a:rPr lang="en-GB" sz="1050" dirty="0" smtClean="0"/>
                        <a:t>120</a:t>
                      </a:r>
                      <a:endParaRPr lang="en-IN" sz="1050" dirty="0"/>
                    </a:p>
                  </a:txBody>
                  <a:tcPr/>
                </a:tc>
                <a:tc>
                  <a:txBody>
                    <a:bodyPr/>
                    <a:lstStyle/>
                    <a:p>
                      <a:r>
                        <a:rPr lang="en-GB" sz="1050" dirty="0" smtClean="0"/>
                        <a:t>0</a:t>
                      </a:r>
                      <a:endParaRPr lang="en-IN" sz="1050" dirty="0"/>
                    </a:p>
                  </a:txBody>
                  <a:tcPr/>
                </a:tc>
                <a:tc>
                  <a:txBody>
                    <a:bodyPr/>
                    <a:lstStyle/>
                    <a:p>
                      <a:r>
                        <a:rPr lang="en-GB" sz="1050" dirty="0" smtClean="0"/>
                        <a:t>100%</a:t>
                      </a:r>
                      <a:endParaRPr lang="en-IN" sz="1050" dirty="0"/>
                    </a:p>
                  </a:txBody>
                  <a:tcPr/>
                </a:tc>
                <a:tc>
                  <a:txBody>
                    <a:bodyPr/>
                    <a:lstStyle/>
                    <a:p>
                      <a:r>
                        <a:rPr lang="en-IN" sz="1050" dirty="0" smtClean="0">
                          <a:solidFill>
                            <a:srgbClr val="00B050"/>
                          </a:solidFill>
                        </a:rPr>
                        <a:t>✅ Ready</a:t>
                      </a:r>
                      <a:endParaRPr lang="en-IN" sz="1050" dirty="0">
                        <a:solidFill>
                          <a:srgbClr val="00B050"/>
                        </a:solidFill>
                      </a:endParaRPr>
                    </a:p>
                  </a:txBody>
                  <a:tcPr/>
                </a:tc>
              </a:tr>
              <a:tr h="2730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dirty="0" smtClean="0"/>
                        <a:t>2025/07/0</a:t>
                      </a:r>
                      <a:r>
                        <a:rPr lang="en-IN" sz="1000" dirty="0" smtClean="0"/>
                        <a:t>2</a:t>
                      </a:r>
                    </a:p>
                  </a:txBody>
                  <a:tcPr/>
                </a:tc>
                <a:tc>
                  <a:txBody>
                    <a:bodyPr/>
                    <a:lstStyle/>
                    <a:p>
                      <a:r>
                        <a:rPr lang="en-IN" sz="1050" kern="1200" dirty="0" smtClean="0">
                          <a:solidFill>
                            <a:schemeClr val="dk1"/>
                          </a:solidFill>
                          <a:effectLst/>
                          <a:latin typeface="+mn-lt"/>
                          <a:ea typeface="+mn-ea"/>
                          <a:cs typeface="+mn-cs"/>
                        </a:rPr>
                        <a:t>154</a:t>
                      </a:r>
                      <a:endParaRPr lang="en-IN" sz="900" dirty="0"/>
                    </a:p>
                  </a:txBody>
                  <a:tcPr/>
                </a:tc>
                <a:tc>
                  <a:txBody>
                    <a:bodyPr/>
                    <a:lstStyle/>
                    <a:p>
                      <a:r>
                        <a:rPr lang="en-GB" sz="1050" dirty="0" smtClean="0"/>
                        <a:t>150</a:t>
                      </a:r>
                      <a:endParaRPr lang="en-IN" sz="1050" dirty="0"/>
                    </a:p>
                  </a:txBody>
                  <a:tcPr/>
                </a:tc>
                <a:tc>
                  <a:txBody>
                    <a:bodyPr/>
                    <a:lstStyle/>
                    <a:p>
                      <a:r>
                        <a:rPr lang="en-GB" sz="1050" dirty="0" smtClean="0"/>
                        <a:t>4</a:t>
                      </a:r>
                      <a:endParaRPr lang="en-IN" sz="1050" dirty="0"/>
                    </a:p>
                  </a:txBody>
                  <a:tcPr/>
                </a:tc>
                <a:tc>
                  <a:txBody>
                    <a:bodyPr/>
                    <a:lstStyle/>
                    <a:p>
                      <a:r>
                        <a:rPr lang="en-GB" sz="1050" dirty="0" smtClean="0"/>
                        <a:t>97%</a:t>
                      </a:r>
                      <a:endParaRPr lang="en-IN" sz="1050" dirty="0"/>
                    </a:p>
                  </a:txBody>
                  <a:tcPr/>
                </a:tc>
                <a:tc>
                  <a:txBody>
                    <a:bodyPr/>
                    <a:lstStyle/>
                    <a:p>
                      <a:r>
                        <a:rPr lang="en-IN" sz="1050" dirty="0" smtClean="0">
                          <a:solidFill>
                            <a:srgbClr val="FF0000"/>
                          </a:solidFill>
                        </a:rPr>
                        <a:t>❌ Short</a:t>
                      </a:r>
                      <a:endParaRPr lang="en-IN" sz="1050" dirty="0">
                        <a:solidFill>
                          <a:srgbClr val="FF0000"/>
                        </a:solidFill>
                      </a:endParaRPr>
                    </a:p>
                  </a:txBody>
                  <a:tcPr/>
                </a:tc>
              </a:tr>
              <a:tr h="2730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dirty="0" smtClean="0"/>
                        <a:t>2025/07/0</a:t>
                      </a:r>
                      <a:r>
                        <a:rPr lang="en-IN" sz="1000" dirty="0" smtClean="0"/>
                        <a:t>2</a:t>
                      </a:r>
                    </a:p>
                  </a:txBody>
                  <a:tcPr/>
                </a:tc>
                <a:tc>
                  <a:txBody>
                    <a:bodyPr/>
                    <a:lstStyle/>
                    <a:p>
                      <a:r>
                        <a:rPr lang="en-GB" sz="900" dirty="0" smtClean="0"/>
                        <a:t>182</a:t>
                      </a:r>
                      <a:endParaRPr lang="en-IN" sz="900" dirty="0"/>
                    </a:p>
                  </a:txBody>
                  <a:tcPr/>
                </a:tc>
                <a:tc>
                  <a:txBody>
                    <a:bodyPr/>
                    <a:lstStyle/>
                    <a:p>
                      <a:r>
                        <a:rPr lang="en-GB" sz="1050" dirty="0" smtClean="0"/>
                        <a:t>140</a:t>
                      </a:r>
                      <a:endParaRPr lang="en-IN" sz="1050" dirty="0"/>
                    </a:p>
                  </a:txBody>
                  <a:tcPr/>
                </a:tc>
                <a:tc>
                  <a:txBody>
                    <a:bodyPr/>
                    <a:lstStyle/>
                    <a:p>
                      <a:r>
                        <a:rPr lang="en-GB" sz="1050" dirty="0" smtClean="0"/>
                        <a:t>42</a:t>
                      </a:r>
                      <a:endParaRPr lang="en-IN" sz="1050" dirty="0"/>
                    </a:p>
                  </a:txBody>
                  <a:tcPr/>
                </a:tc>
                <a:tc>
                  <a:txBody>
                    <a:bodyPr/>
                    <a:lstStyle/>
                    <a:p>
                      <a:r>
                        <a:rPr lang="en-GB" sz="1050" dirty="0" smtClean="0"/>
                        <a:t>75%</a:t>
                      </a:r>
                      <a:endParaRPr lang="en-IN" sz="105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50" dirty="0" smtClean="0">
                          <a:solidFill>
                            <a:srgbClr val="FF0000"/>
                          </a:solidFill>
                        </a:rPr>
                        <a:t>❌ Short</a:t>
                      </a:r>
                    </a:p>
                  </a:txBody>
                  <a:tcPr/>
                </a:tc>
              </a:tr>
            </a:tbl>
          </a:graphicData>
        </a:graphic>
      </p:graphicFrame>
    </p:spTree>
    <p:extLst>
      <p:ext uri="{BB962C8B-B14F-4D97-AF65-F5344CB8AC3E}">
        <p14:creationId xmlns:p14="http://schemas.microsoft.com/office/powerpoint/2010/main" val="31707382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utoShape 6" descr="PowerPoint And Google Slides Templa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PowerPoint And Google Slides Template"/>
          <p:cNvSpPr>
            <a:spLocks noChangeAspect="1" noChangeArrowheads="1"/>
          </p:cNvSpPr>
          <p:nvPr/>
        </p:nvSpPr>
        <p:spPr bwMode="auto">
          <a:xfrm>
            <a:off x="307975" y="7937"/>
            <a:ext cx="3252488" cy="325249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PowerPoint And Google Slides Template"/>
          <p:cNvSpPr>
            <a:spLocks noChangeAspect="1" noChangeArrowheads="1"/>
          </p:cNvSpPr>
          <p:nvPr/>
        </p:nvSpPr>
        <p:spPr bwMode="auto">
          <a:xfrm>
            <a:off x="307975" y="7937"/>
            <a:ext cx="2567030" cy="25670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3382"/>
          </a:xfrm>
          <a:prstGeom prst="rect">
            <a:avLst/>
          </a:prstGeom>
        </p:spPr>
      </p:pic>
      <p:sp>
        <p:nvSpPr>
          <p:cNvPr id="8" name="AutoShape 4" descr="Free Thanks PowerPoint, Canva, and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a:picLocks noChangeAspect="1"/>
          </p:cNvPicPr>
          <p:nvPr/>
        </p:nvPicPr>
        <p:blipFill>
          <a:blip r:embed="rId3">
            <a:grayscl/>
            <a:extLst>
              <a:ext uri="{BEBA8EAE-BF5A-486C-A8C5-ECC9F3942E4B}">
                <a14:imgProps xmlns:a14="http://schemas.microsoft.com/office/drawing/2010/main">
                  <a14:imgLayer r:embed="rId4">
                    <a14:imgEffect>
                      <a14:artisticFilmGrain/>
                    </a14:imgEffect>
                  </a14:imgLayer>
                </a14:imgProps>
              </a:ext>
            </a:extLst>
          </a:blip>
          <a:stretch>
            <a:fillRect/>
          </a:stretch>
        </p:blipFill>
        <p:spPr>
          <a:xfrm>
            <a:off x="0" y="-4618"/>
            <a:ext cx="12192000" cy="6862618"/>
          </a:xfrm>
          <a:prstGeom prst="rect">
            <a:avLst/>
          </a:prstGeom>
        </p:spPr>
      </p:pic>
      <p:pic>
        <p:nvPicPr>
          <p:cNvPr id="11" name="Picture 10"/>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colorTemperature colorTemp="7200"/>
                    </a14:imgEffect>
                  </a14:imgLayer>
                </a14:imgProps>
              </a:ext>
              <a:ext uri="{28A0092B-C50C-407E-A947-70E740481C1C}">
                <a14:useLocalDpi xmlns:a14="http://schemas.microsoft.com/office/drawing/2010/main" val="0"/>
              </a:ext>
            </a:extLst>
          </a:blip>
          <a:stretch>
            <a:fillRect/>
          </a:stretch>
        </p:blipFill>
        <p:spPr>
          <a:xfrm>
            <a:off x="2061049" y="1171842"/>
            <a:ext cx="7667840" cy="4308596"/>
          </a:xfrm>
          <a:prstGeom prst="rect">
            <a:avLst/>
          </a:prstGeom>
          <a:ln>
            <a:noFill/>
          </a:ln>
          <a:effectLst>
            <a:softEdge rad="112500"/>
          </a:effectLst>
        </p:spPr>
      </p:pic>
    </p:spTree>
    <p:extLst>
      <p:ext uri="{BB962C8B-B14F-4D97-AF65-F5344CB8AC3E}">
        <p14:creationId xmlns:p14="http://schemas.microsoft.com/office/powerpoint/2010/main" val="1972174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TotalTime>
  <Words>1110</Words>
  <Application>Microsoft Office PowerPoint</Application>
  <PresentationFormat>Widescreen</PresentationFormat>
  <Paragraphs>432</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Microsoft YaHei</vt:lpstr>
      <vt:lpstr>Microsoft YaHei</vt:lpstr>
      <vt:lpstr>宋体</vt:lpstr>
      <vt:lpstr>72 Black</vt:lpstr>
      <vt:lpstr>Arial</vt:lpstr>
      <vt:lpstr>Calibri</vt:lpstr>
      <vt:lpstr>Calibri Light</vt:lpstr>
      <vt:lpstr>新細明體</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manohar-g</dc:creator>
  <cp:lastModifiedBy>manohar-g</cp:lastModifiedBy>
  <cp:revision>29</cp:revision>
  <dcterms:created xsi:type="dcterms:W3CDTF">2025-09-22T05:14:51Z</dcterms:created>
  <dcterms:modified xsi:type="dcterms:W3CDTF">2025-09-24T08:44:44Z</dcterms:modified>
</cp:coreProperties>
</file>