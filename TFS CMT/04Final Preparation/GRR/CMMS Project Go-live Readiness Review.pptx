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10782" r:id="rId2"/>
    <p:sldId id="10795" r:id="rId3"/>
    <p:sldId id="10813" r:id="rId4"/>
    <p:sldId id="10814" r:id="rId5"/>
    <p:sldId id="10807" r:id="rId6"/>
    <p:sldId id="10812" r:id="rId7"/>
    <p:sldId id="10805" r:id="rId8"/>
    <p:sldId id="10815" r:id="rId9"/>
    <p:sldId id="10808" r:id="rId10"/>
    <p:sldId id="10806" r:id="rId11"/>
    <p:sldId id="10810" r:id="rId12"/>
    <p:sldId id="10802" r:id="rId13"/>
    <p:sldId id="10794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656C7AB-63F8-42B9-AC75-D31A51D574FA}">
          <p14:sldIdLst>
            <p14:sldId id="10782"/>
            <p14:sldId id="10795"/>
            <p14:sldId id="10813"/>
            <p14:sldId id="10814"/>
            <p14:sldId id="10807"/>
            <p14:sldId id="10812"/>
            <p14:sldId id="10805"/>
            <p14:sldId id="10815"/>
            <p14:sldId id="10808"/>
            <p14:sldId id="10806"/>
            <p14:sldId id="10810"/>
            <p14:sldId id="10802"/>
            <p14:sldId id="107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09DCE7"/>
    <a:srgbClr val="1641F6"/>
    <a:srgbClr val="E3F3D1"/>
    <a:srgbClr val="000458"/>
    <a:srgbClr val="280688"/>
    <a:srgbClr val="1E008A"/>
    <a:srgbClr val="FF9328"/>
    <a:srgbClr val="DB6A03"/>
    <a:srgbClr val="199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91" autoAdjust="0"/>
    <p:restoredTop sz="93864" autoAdjust="0"/>
  </p:normalViewPr>
  <p:slideViewPr>
    <p:cSldViewPr snapToGrid="0">
      <p:cViewPr varScale="1">
        <p:scale>
          <a:sx n="109" d="100"/>
          <a:sy n="109" d="100"/>
        </p:scale>
        <p:origin x="45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60" y="64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804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711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76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gradFill>
          <a:gsLst>
            <a:gs pos="0">
              <a:schemeClr val="bg2"/>
            </a:gs>
            <a:gs pos="29000">
              <a:schemeClr val="bg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xmlns="" id="{527F1AD8-24B0-428F-B9D3-C9730E641373}"/>
              </a:ext>
            </a:extLst>
          </p:cNvPr>
          <p:cNvSpPr/>
          <p:nvPr userDrawn="1"/>
        </p:nvSpPr>
        <p:spPr>
          <a:xfrm>
            <a:off x="6489959" y="407020"/>
            <a:ext cx="5030529" cy="6043960"/>
          </a:xfrm>
          <a:custGeom>
            <a:avLst/>
            <a:gdLst>
              <a:gd name="connsiteX0" fmla="*/ 0 w 5030529"/>
              <a:gd name="connsiteY0" fmla="*/ 896394 h 6858000"/>
              <a:gd name="connsiteX1" fmla="*/ 963967 w 5030529"/>
              <a:gd name="connsiteY1" fmla="*/ 896394 h 6858000"/>
              <a:gd name="connsiteX2" fmla="*/ 963967 w 5030529"/>
              <a:gd name="connsiteY2" fmla="*/ 5961607 h 6858000"/>
              <a:gd name="connsiteX3" fmla="*/ 0 w 5030529"/>
              <a:gd name="connsiteY3" fmla="*/ 5961607 h 6858000"/>
              <a:gd name="connsiteX4" fmla="*/ 1221723 w 5030529"/>
              <a:gd name="connsiteY4" fmla="*/ 662486 h 6858000"/>
              <a:gd name="connsiteX5" fmla="*/ 2185690 w 5030529"/>
              <a:gd name="connsiteY5" fmla="*/ 662486 h 6858000"/>
              <a:gd name="connsiteX6" fmla="*/ 2185690 w 5030529"/>
              <a:gd name="connsiteY6" fmla="*/ 6195514 h 6858000"/>
              <a:gd name="connsiteX7" fmla="*/ 1221723 w 5030529"/>
              <a:gd name="connsiteY7" fmla="*/ 6195514 h 6858000"/>
              <a:gd name="connsiteX8" fmla="*/ 2443446 w 5030529"/>
              <a:gd name="connsiteY8" fmla="*/ 360363 h 6858000"/>
              <a:gd name="connsiteX9" fmla="*/ 3512685 w 5030529"/>
              <a:gd name="connsiteY9" fmla="*/ 360363 h 6858000"/>
              <a:gd name="connsiteX10" fmla="*/ 3512685 w 5030529"/>
              <a:gd name="connsiteY10" fmla="*/ 6497638 h 6858000"/>
              <a:gd name="connsiteX11" fmla="*/ 2443446 w 5030529"/>
              <a:gd name="connsiteY11" fmla="*/ 6497638 h 6858000"/>
              <a:gd name="connsiteX12" fmla="*/ 3770441 w 5030529"/>
              <a:gd name="connsiteY12" fmla="*/ 0 h 6858000"/>
              <a:gd name="connsiteX13" fmla="*/ 5030529 w 5030529"/>
              <a:gd name="connsiteY13" fmla="*/ 0 h 6858000"/>
              <a:gd name="connsiteX14" fmla="*/ 5030529 w 5030529"/>
              <a:gd name="connsiteY14" fmla="*/ 6858000 h 6858000"/>
              <a:gd name="connsiteX15" fmla="*/ 3770441 w 5030529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30529" h="6858000">
                <a:moveTo>
                  <a:pt x="0" y="896394"/>
                </a:moveTo>
                <a:lnTo>
                  <a:pt x="963967" y="896394"/>
                </a:lnTo>
                <a:lnTo>
                  <a:pt x="963967" y="5961607"/>
                </a:lnTo>
                <a:lnTo>
                  <a:pt x="0" y="5961607"/>
                </a:lnTo>
                <a:close/>
                <a:moveTo>
                  <a:pt x="1221723" y="662486"/>
                </a:moveTo>
                <a:lnTo>
                  <a:pt x="2185690" y="662486"/>
                </a:lnTo>
                <a:lnTo>
                  <a:pt x="2185690" y="6195514"/>
                </a:lnTo>
                <a:lnTo>
                  <a:pt x="1221723" y="6195514"/>
                </a:lnTo>
                <a:close/>
                <a:moveTo>
                  <a:pt x="2443446" y="360363"/>
                </a:moveTo>
                <a:lnTo>
                  <a:pt x="3512685" y="360363"/>
                </a:lnTo>
                <a:lnTo>
                  <a:pt x="3512685" y="6497638"/>
                </a:lnTo>
                <a:lnTo>
                  <a:pt x="2443446" y="6497638"/>
                </a:lnTo>
                <a:close/>
                <a:moveTo>
                  <a:pt x="3770441" y="0"/>
                </a:moveTo>
                <a:lnTo>
                  <a:pt x="5030529" y="0"/>
                </a:lnTo>
                <a:lnTo>
                  <a:pt x="5030529" y="6858000"/>
                </a:lnTo>
                <a:lnTo>
                  <a:pt x="3770441" y="685800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50233" y="3786116"/>
            <a:ext cx="10668664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850232" y="1829474"/>
            <a:ext cx="10668665" cy="1956643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50233" y="4371816"/>
            <a:ext cx="1066866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50233" y="4668087"/>
            <a:ext cx="1066866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xmlns="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101303" y="3263775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102419" y="4159125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xmlns="" id="{21F3CE9D-9077-43E8-B763-90002C65C59D}"/>
              </a:ext>
            </a:extLst>
          </p:cNvPr>
          <p:cNvSpPr/>
          <p:nvPr userDrawn="1"/>
        </p:nvSpPr>
        <p:spPr>
          <a:xfrm flipH="1">
            <a:off x="670396" y="902095"/>
            <a:ext cx="4206404" cy="5053810"/>
          </a:xfrm>
          <a:custGeom>
            <a:avLst/>
            <a:gdLst>
              <a:gd name="connsiteX0" fmla="*/ 0 w 5030529"/>
              <a:gd name="connsiteY0" fmla="*/ 896394 h 6858000"/>
              <a:gd name="connsiteX1" fmla="*/ 963967 w 5030529"/>
              <a:gd name="connsiteY1" fmla="*/ 896394 h 6858000"/>
              <a:gd name="connsiteX2" fmla="*/ 963967 w 5030529"/>
              <a:gd name="connsiteY2" fmla="*/ 5961607 h 6858000"/>
              <a:gd name="connsiteX3" fmla="*/ 0 w 5030529"/>
              <a:gd name="connsiteY3" fmla="*/ 5961607 h 6858000"/>
              <a:gd name="connsiteX4" fmla="*/ 1221723 w 5030529"/>
              <a:gd name="connsiteY4" fmla="*/ 662486 h 6858000"/>
              <a:gd name="connsiteX5" fmla="*/ 2185690 w 5030529"/>
              <a:gd name="connsiteY5" fmla="*/ 662486 h 6858000"/>
              <a:gd name="connsiteX6" fmla="*/ 2185690 w 5030529"/>
              <a:gd name="connsiteY6" fmla="*/ 6195514 h 6858000"/>
              <a:gd name="connsiteX7" fmla="*/ 1221723 w 5030529"/>
              <a:gd name="connsiteY7" fmla="*/ 6195514 h 6858000"/>
              <a:gd name="connsiteX8" fmla="*/ 2443446 w 5030529"/>
              <a:gd name="connsiteY8" fmla="*/ 360363 h 6858000"/>
              <a:gd name="connsiteX9" fmla="*/ 3512685 w 5030529"/>
              <a:gd name="connsiteY9" fmla="*/ 360363 h 6858000"/>
              <a:gd name="connsiteX10" fmla="*/ 3512685 w 5030529"/>
              <a:gd name="connsiteY10" fmla="*/ 6497638 h 6858000"/>
              <a:gd name="connsiteX11" fmla="*/ 2443446 w 5030529"/>
              <a:gd name="connsiteY11" fmla="*/ 6497638 h 6858000"/>
              <a:gd name="connsiteX12" fmla="*/ 3770441 w 5030529"/>
              <a:gd name="connsiteY12" fmla="*/ 0 h 6858000"/>
              <a:gd name="connsiteX13" fmla="*/ 5030529 w 5030529"/>
              <a:gd name="connsiteY13" fmla="*/ 0 h 6858000"/>
              <a:gd name="connsiteX14" fmla="*/ 5030529 w 5030529"/>
              <a:gd name="connsiteY14" fmla="*/ 6858000 h 6858000"/>
              <a:gd name="connsiteX15" fmla="*/ 3770441 w 5030529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30529" h="6858000">
                <a:moveTo>
                  <a:pt x="0" y="896394"/>
                </a:moveTo>
                <a:lnTo>
                  <a:pt x="963967" y="896394"/>
                </a:lnTo>
                <a:lnTo>
                  <a:pt x="963967" y="5961607"/>
                </a:lnTo>
                <a:lnTo>
                  <a:pt x="0" y="5961607"/>
                </a:lnTo>
                <a:close/>
                <a:moveTo>
                  <a:pt x="1221723" y="662486"/>
                </a:moveTo>
                <a:lnTo>
                  <a:pt x="2185690" y="662486"/>
                </a:lnTo>
                <a:lnTo>
                  <a:pt x="2185690" y="6195514"/>
                </a:lnTo>
                <a:lnTo>
                  <a:pt x="1221723" y="6195514"/>
                </a:lnTo>
                <a:close/>
                <a:moveTo>
                  <a:pt x="2443446" y="360363"/>
                </a:moveTo>
                <a:lnTo>
                  <a:pt x="3512685" y="360363"/>
                </a:lnTo>
                <a:lnTo>
                  <a:pt x="3512685" y="6497638"/>
                </a:lnTo>
                <a:lnTo>
                  <a:pt x="2443446" y="6497638"/>
                </a:lnTo>
                <a:close/>
                <a:moveTo>
                  <a:pt x="3770441" y="0"/>
                </a:moveTo>
                <a:lnTo>
                  <a:pt x="5030529" y="0"/>
                </a:lnTo>
                <a:lnTo>
                  <a:pt x="5030529" y="6858000"/>
                </a:lnTo>
                <a:lnTo>
                  <a:pt x="3770441" y="685800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8ECB82F-2036-47F8-967F-811316D65A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7E58D20-F6D3-402F-8CAE-45C93DE21A0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199" y="1130300"/>
            <a:ext cx="5348287" cy="5006975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8" name="内容占位符 3">
            <a:extLst>
              <a:ext uri="{FF2B5EF4-FFF2-40B4-BE49-F238E27FC236}">
                <a16:creationId xmlns:a16="http://schemas.microsoft.com/office/drawing/2014/main" xmlns="" id="{10CDFBA3-1B3A-4680-B040-97746005F91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69924" y="1130300"/>
            <a:ext cx="5348287" cy="5006975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240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3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4" y="1685956"/>
            <a:ext cx="5326061" cy="4503707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6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199" y="1685956"/>
            <a:ext cx="5348287" cy="4503707"/>
          </a:xfrm>
        </p:spPr>
        <p:txBody>
          <a:bodyPr>
            <a:normAutofit/>
          </a:bodyPr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7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5">
            <a:extLst>
              <a:ext uri="{FF2B5EF4-FFF2-40B4-BE49-F238E27FC236}">
                <a16:creationId xmlns:a16="http://schemas.microsoft.com/office/drawing/2014/main" xmlns="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496" y="-14144"/>
            <a:ext cx="6774874" cy="67402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  <p:pic>
        <p:nvPicPr>
          <p:cNvPr id="7" name="Picture 3" descr="E:\2018\4\55e00c0cb998f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5496" y="555532"/>
            <a:ext cx="12066193" cy="75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72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82A0A934-5CD6-45C4-85B8-F0193DB3210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1130299"/>
            <a:ext cx="6337300" cy="50069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/>
              <a:t>Picture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193FB480-9825-4C58-BCE4-FA8E8034DF6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69924" y="1138237"/>
            <a:ext cx="4282322" cy="49990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xmlns="" id="{F4537028-F61E-47F3-9D71-30474CF14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5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0713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F6A26850-400B-4B40-A941-1801CDFB6B6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610599" y="1130300"/>
            <a:ext cx="2909888" cy="5006974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C4CE9257-C5F8-43EE-8C8C-4FD143283D4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9925" y="1130300"/>
            <a:ext cx="7795065" cy="50069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0074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lang="en-US" altLang="zh-CN" dirty="0"/>
            </a:lvl1pPr>
            <a:lvl2pPr>
              <a:defRPr lang="en-US" altLang="zh-CN" dirty="0"/>
            </a:lvl2pPr>
            <a:lvl3pPr>
              <a:defRPr lang="en-US" altLang="zh-CN" dirty="0"/>
            </a:lvl3pPr>
            <a:lvl4pPr>
              <a:defRPr lang="en-US" altLang="zh-CN" dirty="0"/>
            </a:lvl4pPr>
            <a:lvl5pPr>
              <a:defRPr lang="en-US" altLang="zh-CN" dirty="0"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7783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xmlns="" id="{E692F8FD-396E-466B-89C5-C3673A49DCA1}"/>
              </a:ext>
            </a:extLst>
          </p:cNvPr>
          <p:cNvSpPr>
            <a:spLocks/>
          </p:cNvSpPr>
          <p:nvPr userDrawn="1"/>
        </p:nvSpPr>
        <p:spPr bwMode="auto">
          <a:xfrm>
            <a:off x="669925" y="1006858"/>
            <a:ext cx="4911143" cy="5233605"/>
          </a:xfrm>
          <a:custGeom>
            <a:avLst/>
            <a:gdLst>
              <a:gd name="T0" fmla="*/ 0 w 4237"/>
              <a:gd name="T1" fmla="*/ 0 h 4090"/>
              <a:gd name="T2" fmla="*/ 4237 w 4237"/>
              <a:gd name="T3" fmla="*/ 722 h 4090"/>
              <a:gd name="T4" fmla="*/ 4237 w 4237"/>
              <a:gd name="T5" fmla="*/ 3368 h 4090"/>
              <a:gd name="T6" fmla="*/ 0 w 4237"/>
              <a:gd name="T7" fmla="*/ 4090 h 4090"/>
              <a:gd name="T8" fmla="*/ 0 w 4237"/>
              <a:gd name="T9" fmla="*/ 0 h 4090"/>
              <a:gd name="T10" fmla="*/ 0 w 4237"/>
              <a:gd name="T11" fmla="*/ 0 h 40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37" h="4090">
                <a:moveTo>
                  <a:pt x="0" y="0"/>
                </a:moveTo>
                <a:lnTo>
                  <a:pt x="4237" y="722"/>
                </a:lnTo>
                <a:lnTo>
                  <a:pt x="4237" y="3368"/>
                </a:lnTo>
                <a:lnTo>
                  <a:pt x="0" y="4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-39724" r="-20126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40379" y="1929147"/>
            <a:ext cx="5280109" cy="1953042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40379" y="4827784"/>
            <a:ext cx="5280109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2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xmlns="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381" y="4531513"/>
            <a:ext cx="5280109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2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" name="梯形 4">
            <a:extLst>
              <a:ext uri="{FF2B5EF4-FFF2-40B4-BE49-F238E27FC236}">
                <a16:creationId xmlns:a16="http://schemas.microsoft.com/office/drawing/2014/main" xmlns="" id="{610AAC8D-E8AF-4E03-A79B-2806EB93B21D}"/>
              </a:ext>
            </a:extLst>
          </p:cNvPr>
          <p:cNvSpPr/>
          <p:nvPr userDrawn="1"/>
        </p:nvSpPr>
        <p:spPr>
          <a:xfrm rot="16200000" flipH="1">
            <a:off x="9239444" y="3287903"/>
            <a:ext cx="5233607" cy="671517"/>
          </a:xfrm>
          <a:prstGeom prst="trapezoid">
            <a:avLst>
              <a:gd name="adj" fmla="val 11826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hape 2400"/>
          <p:cNvSpPr/>
          <p:nvPr userDrawn="1"/>
        </p:nvSpPr>
        <p:spPr>
          <a:xfrm>
            <a:off x="10131930" y="6470505"/>
            <a:ext cx="1857303" cy="27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039" tIns="60039" rIns="60039" bIns="6003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756275" hangingPunct="0">
              <a:defRPr/>
            </a:pPr>
            <a:r>
              <a:rPr lang="en-US" sz="1000" kern="0" dirty="0">
                <a:sym typeface="Helvetica Light"/>
              </a:rPr>
              <a:t>To be the most reliable partner</a:t>
            </a:r>
            <a:endParaRPr sz="1000" kern="0" dirty="0">
              <a:sym typeface="Helvetica Light"/>
            </a:endParaRPr>
          </a:p>
        </p:txBody>
      </p:sp>
      <p:pic>
        <p:nvPicPr>
          <p:cNvPr id="4" name="Orange New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2967" y="207589"/>
            <a:ext cx="396266" cy="39834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5389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3319-3C50-4736-A187-43CDD796BC10}" type="datetimeFigureOut">
              <a:rPr lang="zh-CN" altLang="en-US" smtClean="0"/>
              <a:t>2026/1/7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AA8FD-5DD8-4B23-AED2-5EB2A04A0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5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9" r:id="rId2"/>
    <p:sldLayoutId id="2147483651" r:id="rId3"/>
    <p:sldLayoutId id="2147483664" r:id="rId4"/>
    <p:sldLayoutId id="2147483665" r:id="rId5"/>
    <p:sldLayoutId id="2147483670" r:id="rId6"/>
    <p:sldLayoutId id="2147483655" r:id="rId7"/>
    <p:sldLayoutId id="2147483666" r:id="rId8"/>
    <p:sldLayoutId id="2147483667" r:id="rId9"/>
    <p:sldLayoutId id="2147483668" r:id="rId10"/>
    <p:sldLayoutId id="2147483661" r:id="rId11"/>
    <p:sldLayoutId id="2147483671" r:id="rId12"/>
    <p:sldLayoutId id="2147483672" r:id="rId13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image" Target="../media/image6.emf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2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1208763"/>
            <a:ext cx="6301648" cy="4489376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xmlns="" id="{3C326D0B-7DAB-41B6-8030-2E4A18CC94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94014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" name="think-cell Slide" r:id="rId6" imgW="347" imgH="348" progId="TCLayout.ActiveDocument.1">
                  <p:embed/>
                </p:oleObj>
              </mc:Choice>
              <mc:Fallback>
                <p:oleObj name="think-cell Slide" r:id="rId6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xmlns="" id="{EC933494-1B63-4A32-964F-D05236799B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97783" y="2237098"/>
            <a:ext cx="6003866" cy="1956643"/>
          </a:xfrm>
        </p:spPr>
        <p:txBody>
          <a:bodyPr>
            <a:normAutofit/>
          </a:bodyPr>
          <a:lstStyle/>
          <a:p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Cutting Material </a:t>
            </a:r>
            <a:r>
              <a:rPr lang="en-US" altLang="zh-CN" sz="28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</a:t>
            </a: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Project</a:t>
            </a:r>
            <a:b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800" b="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o-live </a:t>
            </a:r>
            <a:r>
              <a:rPr lang="en-US" altLang="zh-CN" sz="2800" b="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eadiness </a:t>
            </a:r>
            <a:r>
              <a:rPr lang="en-US" altLang="zh-CN" sz="2800" b="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eview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97784" y="4559100"/>
            <a:ext cx="6003866" cy="296271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Project team</a:t>
            </a:r>
            <a:endParaRPr lang="en-US" altLang="zh-C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297784" y="4855371"/>
            <a:ext cx="6003866" cy="296271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2026/01/08</a:t>
            </a:r>
            <a:endParaRPr lang="en-US" altLang="zh-C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梯形 14">
            <a:extLst>
              <a:ext uri="{FF2B5EF4-FFF2-40B4-BE49-F238E27FC236}">
                <a16:creationId xmlns:a16="http://schemas.microsoft.com/office/drawing/2014/main" xmlns="" id="{E131C212-50F7-4AAE-A411-7BEAE36ED737}"/>
              </a:ext>
            </a:extLst>
          </p:cNvPr>
          <p:cNvSpPr/>
          <p:nvPr/>
        </p:nvSpPr>
        <p:spPr>
          <a:xfrm rot="16200000" flipH="1">
            <a:off x="8506328" y="3172325"/>
            <a:ext cx="6858001" cy="513352"/>
          </a:xfrm>
          <a:prstGeom prst="trapezoid">
            <a:avLst>
              <a:gd name="adj" fmla="val 58260"/>
            </a:avLst>
          </a:prstGeom>
          <a:gradFill>
            <a:gsLst>
              <a:gs pos="0">
                <a:srgbClr val="000458"/>
              </a:gs>
              <a:gs pos="100000">
                <a:srgbClr val="09DCE7"/>
              </a:gs>
              <a:gs pos="50000">
                <a:srgbClr val="1641F6"/>
              </a:gs>
            </a:gsLst>
            <a:lin ang="10800000" scaled="0"/>
          </a:gra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405" y="1448899"/>
            <a:ext cx="1861853" cy="1189005"/>
          </a:xfrm>
          <a:prstGeom prst="rect">
            <a:avLst/>
          </a:prstGeom>
        </p:spPr>
      </p:pic>
      <p:sp>
        <p:nvSpPr>
          <p:cNvPr id="10" name="TextBox 7"/>
          <p:cNvSpPr txBox="1"/>
          <p:nvPr/>
        </p:nvSpPr>
        <p:spPr>
          <a:xfrm>
            <a:off x="3489891" y="6332449"/>
            <a:ext cx="5623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e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万行动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e-Apache, one Apache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8411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2995" y="1562936"/>
            <a:ext cx="10061945" cy="76559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82995" y="1611775"/>
            <a:ext cx="959411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Scope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项目效益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Benefit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项目整体状态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Status Overview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变更汇总说明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 Request Summary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（取决于实际情况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上线准备检核表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Readiness Checklist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Support Plan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上线后效益追踪规划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Benefit Tracking Plan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（可选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Optional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与风险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Problems &amp; Risks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 on actual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needs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696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441348" y="115920"/>
            <a:ext cx="10850563" cy="652921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+mj-ea"/>
              </a:rPr>
              <a:t>项目范围 </a:t>
            </a:r>
            <a:r>
              <a:rPr lang="en-US" altLang="zh-CN" sz="2400" dirty="0">
                <a:latin typeface="+mj-ea"/>
              </a:rPr>
              <a:t>Project Scope</a:t>
            </a:r>
            <a:endParaRPr lang="zh-CN" altLang="en-US" sz="2400" dirty="0">
              <a:latin typeface="+mj-ea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163585"/>
              </p:ext>
            </p:extLst>
          </p:nvPr>
        </p:nvGraphicFramePr>
        <p:xfrm>
          <a:off x="223094" y="1246944"/>
          <a:ext cx="11858431" cy="3972926"/>
        </p:xfrm>
        <a:graphic>
          <a:graphicData uri="http://schemas.openxmlformats.org/drawingml/2006/table">
            <a:tbl>
              <a:tblPr/>
              <a:tblGrid>
                <a:gridCol w="6661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683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5284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75190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31921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88658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序号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No.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54" rtl="0" eaLnBrk="1" fontAlgn="ctr" latinLnBrk="0" hangingPunct="1"/>
                      <a:r>
                        <a:rPr lang="zh-CN" altLang="en-US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类别</a:t>
                      </a:r>
                      <a:endParaRPr lang="en-US" altLang="zh-CN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algn="ctr" defTabSz="914354" rtl="0" eaLnBrk="1" fontAlgn="ctr" latinLnBrk="0" hangingPunct="1"/>
                      <a:r>
                        <a:rPr lang="en-US" altLang="zh-CN" sz="14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Category</a:t>
                      </a:r>
                      <a:endParaRPr lang="zh-CN" altLang="en-US" sz="1400" b="1" i="0" u="none" strike="noStrike" kern="1200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范围内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Scope-in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范围外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Scope-out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备注</a:t>
                      </a:r>
                      <a:endParaRPr lang="en-US" altLang="zh-CN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 rtl="0" fontAlgn="ctr"/>
                      <a:r>
                        <a:rPr lang="en-US" altLang="zh-C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ea"/>
                          <a:ea typeface="+mj-ea"/>
                        </a:rPr>
                        <a:t>Remark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577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公司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Company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APACHE 5001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Later Will Implement in T2 Factories.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25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模块</a:t>
                      </a:r>
                      <a:endParaRPr lang="en-US" altLang="zh-CN" sz="14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Modules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Cutting Material Management System</a:t>
                      </a:r>
                      <a:endParaRPr lang="en-US" altLang="zh-CN" sz="1400" b="0" i="0" u="none" strike="noStrike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80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CN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系统系统</a:t>
                      </a:r>
                      <a:r>
                        <a:rPr lang="en-US" altLang="zh-CN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System</a:t>
                      </a: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endParaRPr lang="en-US" altLang="zh-CN" sz="14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Visualize the Planning Schedule data Digitally 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status for a Sales order at what stage 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the Material status for each material 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 automatic alert to each planning and warehouse department 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Digitalize planning schedule data. 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 the no of materials ready for cutting </a:t>
                      </a:r>
                      <a:endParaRPr lang="en-US" altLang="zh-CN" sz="14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It Avoids duplicate data. 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It avoids large time for data tracking.</a:t>
                      </a:r>
                    </a:p>
                    <a:p>
                      <a:pPr marL="285750" indent="-285750" algn="l" rtl="0" fontAlgn="ctr">
                        <a:buFont typeface="Wingdings" panose="05000000000000000000" pitchFamily="2" charset="2"/>
                        <a:buChar char="Ø"/>
                      </a:pPr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zh-CN" sz="14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791" marR="5791" marT="579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31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项目收益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Benefit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25962" y="1694705"/>
            <a:ext cx="1092841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</a:rPr>
              <a:t> Hard Saving : </a:t>
            </a:r>
            <a:r>
              <a:rPr lang="en-GB" dirty="0">
                <a:solidFill>
                  <a:srgbClr val="000000"/>
                </a:solidFill>
              </a:rPr>
              <a:t>Can Saves  0.5 Hours Per Working Day For Each Person in Plant and 1 hour Per Working Day for each person </a:t>
            </a:r>
            <a:r>
              <a:rPr lang="en-GB" dirty="0">
                <a:solidFill>
                  <a:srgbClr val="000000"/>
                </a:solidFill>
              </a:rPr>
              <a:t>in </a:t>
            </a:r>
            <a:r>
              <a:rPr lang="en-GB" dirty="0">
                <a:solidFill>
                  <a:srgbClr val="000000"/>
                </a:solidFill>
              </a:rPr>
              <a:t>Planning team </a:t>
            </a:r>
            <a:endParaRPr lang="en-GB" dirty="0" smtClean="0">
              <a:solidFill>
                <a:srgbClr val="000000"/>
              </a:solidFill>
            </a:endParaRP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GB" b="1" dirty="0">
                <a:solidFill>
                  <a:srgbClr val="000000"/>
                </a:solidFill>
              </a:rPr>
              <a:t> Total </a:t>
            </a:r>
            <a:r>
              <a:rPr lang="en-GB" b="1" dirty="0" err="1">
                <a:solidFill>
                  <a:srgbClr val="000000"/>
                </a:solidFill>
              </a:rPr>
              <a:t>Mds</a:t>
            </a:r>
            <a:r>
              <a:rPr lang="en-GB" b="1" dirty="0">
                <a:solidFill>
                  <a:srgbClr val="000000"/>
                </a:solidFill>
              </a:rPr>
              <a:t> Saved: </a:t>
            </a:r>
          </a:p>
          <a:p>
            <a:r>
              <a:rPr lang="en-GB" dirty="0">
                <a:solidFill>
                  <a:srgbClr val="000000"/>
                </a:solidFill>
              </a:rPr>
              <a:t>                      4095 </a:t>
            </a:r>
            <a:r>
              <a:rPr lang="en-GB" dirty="0" err="1">
                <a:solidFill>
                  <a:srgbClr val="000000"/>
                </a:solidFill>
              </a:rPr>
              <a:t>Mds</a:t>
            </a:r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                       (50 Staff *0.5 </a:t>
            </a:r>
            <a:r>
              <a:rPr lang="en-GB" dirty="0" err="1">
                <a:solidFill>
                  <a:srgbClr val="000000"/>
                </a:solidFill>
              </a:rPr>
              <a:t>HourPer</a:t>
            </a:r>
            <a:r>
              <a:rPr lang="en-GB" dirty="0">
                <a:solidFill>
                  <a:srgbClr val="000000"/>
                </a:solidFill>
              </a:rPr>
              <a:t> Day *26 Working Days Per Month*12 Months*3 Years/8 </a:t>
            </a:r>
            <a:r>
              <a:rPr lang="en-GB" dirty="0" err="1">
                <a:solidFill>
                  <a:srgbClr val="000000"/>
                </a:solidFill>
              </a:rPr>
              <a:t>HoursPerDay</a:t>
            </a:r>
            <a:r>
              <a:rPr lang="en-GB" dirty="0">
                <a:solidFill>
                  <a:srgbClr val="000000"/>
                </a:solidFill>
              </a:rPr>
              <a:t>) + </a:t>
            </a:r>
          </a:p>
          <a:p>
            <a:r>
              <a:rPr lang="en-GB" dirty="0">
                <a:solidFill>
                  <a:srgbClr val="000000"/>
                </a:solidFill>
              </a:rPr>
              <a:t>                       ( 10 staff * 1 </a:t>
            </a:r>
            <a:r>
              <a:rPr lang="en-GB" dirty="0" err="1">
                <a:solidFill>
                  <a:srgbClr val="000000"/>
                </a:solidFill>
              </a:rPr>
              <a:t>hourper</a:t>
            </a:r>
            <a:r>
              <a:rPr lang="en-GB" dirty="0">
                <a:solidFill>
                  <a:srgbClr val="000000"/>
                </a:solidFill>
              </a:rPr>
              <a:t> Day * 26 Working Days Per Month* 12 Months * 3 Years / 8 </a:t>
            </a:r>
            <a:r>
              <a:rPr lang="en-GB" dirty="0" err="1">
                <a:solidFill>
                  <a:srgbClr val="000000"/>
                </a:solidFill>
              </a:rPr>
              <a:t>HoursPerDay</a:t>
            </a:r>
            <a:r>
              <a:rPr lang="en-GB" dirty="0">
                <a:solidFill>
                  <a:srgbClr val="000000"/>
                </a:solidFill>
              </a:rPr>
              <a:t>) </a:t>
            </a:r>
            <a:endParaRPr lang="en-GB" dirty="0" smtClean="0">
              <a:solidFill>
                <a:srgbClr val="000000"/>
              </a:solidFill>
            </a:endParaRP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b="1" dirty="0">
                <a:solidFill>
                  <a:srgbClr val="000000"/>
                </a:solidFill>
              </a:rPr>
              <a:t>Hard </a:t>
            </a:r>
            <a:r>
              <a:rPr lang="en-IN" b="1" dirty="0" smtClean="0">
                <a:solidFill>
                  <a:srgbClr val="000000"/>
                </a:solidFill>
              </a:rPr>
              <a:t>Saving Amount</a:t>
            </a:r>
            <a:r>
              <a:rPr lang="en-IN" b="1" dirty="0">
                <a:solidFill>
                  <a:srgbClr val="000000"/>
                </a:solidFill>
              </a:rPr>
              <a:t>: </a:t>
            </a:r>
            <a:r>
              <a:rPr lang="en-IN" dirty="0">
                <a:solidFill>
                  <a:srgbClr val="000000"/>
                </a:solidFill>
              </a:rPr>
              <a:t>37723.94 USD </a:t>
            </a:r>
            <a:endParaRPr lang="en-I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00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2995" y="2392310"/>
            <a:ext cx="10061945" cy="836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82995" y="1611775"/>
            <a:ext cx="95941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Scope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项目效益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Benefit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项目整体状态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Status Overview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线准备检核表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Go-live Readiness Checklist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Support Plan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上线后效益追踪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Benefit Tracking Plan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Optional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与风险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Problems &amp; Risks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 on actual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needs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435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/>
        </p:nvGrpSpPr>
        <p:grpSpPr>
          <a:xfrm>
            <a:off x="10565394" y="72395"/>
            <a:ext cx="1453034" cy="704850"/>
            <a:chOff x="10067453" y="63342"/>
            <a:chExt cx="1453034" cy="704850"/>
          </a:xfrm>
        </p:grpSpPr>
        <p:sp>
          <p:nvSpPr>
            <p:cNvPr id="54" name="矩形 53"/>
            <p:cNvSpPr/>
            <p:nvPr/>
          </p:nvSpPr>
          <p:spPr>
            <a:xfrm>
              <a:off x="10067453" y="63342"/>
              <a:ext cx="1453034" cy="704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lt"/>
              </a:endParaRPr>
            </a:p>
          </p:txBody>
        </p: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7377" y="187665"/>
              <a:ext cx="456204" cy="456204"/>
            </a:xfrm>
            <a:prstGeom prst="rect">
              <a:avLst/>
            </a:prstGeom>
          </p:spPr>
        </p:pic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7521" y="63342"/>
              <a:ext cx="742950" cy="704850"/>
            </a:xfrm>
            <a:prstGeom prst="rect">
              <a:avLst/>
            </a:prstGeom>
          </p:spPr>
        </p:pic>
      </p:grpSp>
      <p:sp>
        <p:nvSpPr>
          <p:cNvPr id="39" name="Rectangle 33">
            <a:extLst>
              <a:ext uri="{FF2B5EF4-FFF2-40B4-BE49-F238E27FC236}">
                <a16:creationId xmlns:a16="http://schemas.microsoft.com/office/drawing/2014/main" xmlns="" id="{5E94D539-D92D-4D74-90AA-DF9239A0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9" y="859734"/>
            <a:ext cx="12062704" cy="5849410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ctr" defTabSz="514350">
              <a:defRPr/>
            </a:pPr>
            <a:endParaRPr lang="en-US" altLang="zh-CN" sz="1300" kern="0">
              <a:solidFill>
                <a:srgbClr val="FFFFFF"/>
              </a:solidFill>
              <a:latin typeface="+mj-lt"/>
              <a:ea typeface="+mj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96EEC963-3133-45E3-BD05-17C0416035A1}"/>
              </a:ext>
            </a:extLst>
          </p:cNvPr>
          <p:cNvGrpSpPr/>
          <p:nvPr/>
        </p:nvGrpSpPr>
        <p:grpSpPr>
          <a:xfrm>
            <a:off x="10565394" y="-58239"/>
            <a:ext cx="1453034" cy="704850"/>
            <a:chOff x="10067453" y="63342"/>
            <a:chExt cx="1453034" cy="70485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xmlns="" id="{A0ED57D9-25F1-4A49-84C8-A10EDFD0AE4D}"/>
                </a:ext>
              </a:extLst>
            </p:cNvPr>
            <p:cNvSpPr/>
            <p:nvPr/>
          </p:nvSpPr>
          <p:spPr>
            <a:xfrm>
              <a:off x="10067453" y="63342"/>
              <a:ext cx="1453034" cy="704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lt"/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xmlns="" id="{FF8DD501-E1E2-426C-845A-C45874466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7377" y="187665"/>
              <a:ext cx="456204" cy="456204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xmlns="" id="{9B154FB6-1643-41C7-9BBC-E1993C4D0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7521" y="63342"/>
              <a:ext cx="742950" cy="704850"/>
            </a:xfrm>
            <a:prstGeom prst="rect">
              <a:avLst/>
            </a:prstGeom>
          </p:spPr>
        </p:pic>
      </p:grpSp>
      <p:sp>
        <p:nvSpPr>
          <p:cNvPr id="92" name="标题 1"/>
          <p:cNvSpPr>
            <a:spLocks noGrp="1"/>
          </p:cNvSpPr>
          <p:nvPr>
            <p:ph type="title"/>
          </p:nvPr>
        </p:nvSpPr>
        <p:spPr>
          <a:xfrm>
            <a:off x="444828" y="-270767"/>
            <a:ext cx="10850563" cy="652921"/>
          </a:xfrm>
        </p:spPr>
        <p:txBody>
          <a:bodyPr>
            <a:normAutofit/>
          </a:bodyPr>
          <a:lstStyle/>
          <a:p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Project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Status Overview</a:t>
            </a:r>
            <a:endParaRPr lang="zh-CN" altLang="en-US" sz="1600" dirty="0"/>
          </a:p>
        </p:txBody>
      </p:sp>
      <p:sp>
        <p:nvSpPr>
          <p:cNvPr id="48" name="Freeform 155">
            <a:extLst>
              <a:ext uri="{FF2B5EF4-FFF2-40B4-BE49-F238E27FC236}">
                <a16:creationId xmlns:a16="http://schemas.microsoft.com/office/drawing/2014/main" xmlns="" id="{AF47B5F7-DF1D-48FF-8AB1-8B3F55719149}"/>
              </a:ext>
            </a:extLst>
          </p:cNvPr>
          <p:cNvSpPr/>
          <p:nvPr/>
        </p:nvSpPr>
        <p:spPr>
          <a:xfrm>
            <a:off x="6659527" y="35289"/>
            <a:ext cx="886414" cy="43065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Close</a:t>
            </a:r>
          </a:p>
        </p:txBody>
      </p:sp>
      <p:sp>
        <p:nvSpPr>
          <p:cNvPr id="51" name="Freeform 155">
            <a:extLst>
              <a:ext uri="{FF2B5EF4-FFF2-40B4-BE49-F238E27FC236}">
                <a16:creationId xmlns:a16="http://schemas.microsoft.com/office/drawing/2014/main" xmlns="" id="{AF47B5F7-DF1D-48FF-8AB1-8B3F55719149}"/>
              </a:ext>
            </a:extLst>
          </p:cNvPr>
          <p:cNvSpPr/>
          <p:nvPr/>
        </p:nvSpPr>
        <p:spPr>
          <a:xfrm>
            <a:off x="7722777" y="57755"/>
            <a:ext cx="886414" cy="43065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Delay</a:t>
            </a:r>
          </a:p>
        </p:txBody>
      </p:sp>
      <p:sp>
        <p:nvSpPr>
          <p:cNvPr id="52" name="Freeform 155">
            <a:extLst>
              <a:ext uri="{FF2B5EF4-FFF2-40B4-BE49-F238E27FC236}">
                <a16:creationId xmlns:a16="http://schemas.microsoft.com/office/drawing/2014/main" xmlns="" id="{AF47B5F7-DF1D-48FF-8AB1-8B3F55719149}"/>
              </a:ext>
            </a:extLst>
          </p:cNvPr>
          <p:cNvSpPr/>
          <p:nvPr/>
        </p:nvSpPr>
        <p:spPr>
          <a:xfrm>
            <a:off x="8824660" y="45921"/>
            <a:ext cx="886414" cy="43065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E3F3D1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On-going</a:t>
            </a:r>
          </a:p>
        </p:txBody>
      </p:sp>
      <p:sp>
        <p:nvSpPr>
          <p:cNvPr id="58" name="Freeform 155">
            <a:extLst>
              <a:ext uri="{FF2B5EF4-FFF2-40B4-BE49-F238E27FC236}">
                <a16:creationId xmlns:a16="http://schemas.microsoft.com/office/drawing/2014/main" xmlns="" id="{AF47B5F7-DF1D-48FF-8AB1-8B3F55719149}"/>
              </a:ext>
            </a:extLst>
          </p:cNvPr>
          <p:cNvSpPr/>
          <p:nvPr/>
        </p:nvSpPr>
        <p:spPr>
          <a:xfrm>
            <a:off x="9926899" y="35288"/>
            <a:ext cx="886414" cy="43065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>
                <a:latin typeface="+mj-lt"/>
                <a:ea typeface="+mj-ea"/>
                <a:cs typeface="Microsoft YaHei" charset="-122"/>
              </a:rPr>
              <a:t>Not </a:t>
            </a: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start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21750" y="5731207"/>
            <a:ext cx="160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j-lt"/>
              </a:rPr>
              <a:t>We are here</a:t>
            </a:r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83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8979902" y="5259799"/>
            <a:ext cx="1327074" cy="73444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r>
              <a:rPr lang="en-US" altLang="zh-CN" sz="1100" b="1" dirty="0" smtClean="0">
                <a:latin typeface="+mj-lt"/>
              </a:rPr>
              <a:t>    </a:t>
            </a:r>
            <a:r>
              <a:rPr lang="en-US" altLang="zh-CN" sz="1100" b="1" dirty="0" smtClean="0">
                <a:latin typeface="+mj-lt"/>
              </a:rPr>
              <a:t>01/10 </a:t>
            </a:r>
            <a:r>
              <a:rPr lang="en-US" altLang="zh-CN" sz="1100" b="1" dirty="0">
                <a:latin typeface="+mj-lt"/>
              </a:rPr>
              <a:t>Go-live</a:t>
            </a:r>
            <a:endParaRPr lang="zh-CN" altLang="en-US" sz="1100" b="1" dirty="0">
              <a:latin typeface="+mj-lt"/>
            </a:endParaRPr>
          </a:p>
        </p:txBody>
      </p:sp>
      <p:sp>
        <p:nvSpPr>
          <p:cNvPr id="85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1174114" y="567552"/>
            <a:ext cx="7569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09/17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PI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88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55" y="614885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10471721" y="553717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01/10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Go-live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93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927" y="589964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98493" y="1189046"/>
            <a:ext cx="2467154" cy="454624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  <a:ea typeface="+mj-ea"/>
              </a:rPr>
              <a:t>PI</a:t>
            </a:r>
          </a:p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  <a:ea typeface="+mj-ea"/>
              </a:rPr>
              <a:t>09/17 </a:t>
            </a:r>
            <a:r>
              <a:rPr lang="en-US" altLang="zh-CN" sz="1100" b="1" dirty="0" smtClean="0">
                <a:latin typeface="+mj-lt"/>
                <a:ea typeface="+mj-ea"/>
              </a:rPr>
              <a:t>Close</a:t>
            </a:r>
            <a:endParaRPr lang="en-US" altLang="zh-CN" sz="1100" b="1" dirty="0">
              <a:latin typeface="+mj-lt"/>
              <a:cs typeface="Microsoft YaHei" charset="-122"/>
            </a:endParaRPr>
          </a:p>
        </p:txBody>
      </p:sp>
      <p:sp>
        <p:nvSpPr>
          <p:cNvPr id="37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2405849" y="2358864"/>
            <a:ext cx="2024108" cy="622050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zh-CN" altLang="en-US" sz="1100" b="1" dirty="0" smtClean="0">
                <a:latin typeface="+mj-lt"/>
                <a:ea typeface="+mj-ea"/>
              </a:rPr>
              <a:t>蓝图</a:t>
            </a:r>
            <a:r>
              <a:rPr lang="en-US" altLang="zh-CN" sz="1100" b="1" dirty="0" smtClean="0">
                <a:latin typeface="+mj-lt"/>
                <a:ea typeface="+mj-ea"/>
              </a:rPr>
              <a:t>Blueprint </a:t>
            </a:r>
          </a:p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</a:rPr>
              <a:t>09/20 </a:t>
            </a:r>
            <a:r>
              <a:rPr lang="en-US" altLang="zh-CN" sz="1100" b="1" dirty="0" smtClean="0">
                <a:latin typeface="+mj-lt"/>
              </a:rPr>
              <a:t>Completed</a:t>
            </a:r>
            <a:endParaRPr lang="en-US" altLang="zh-CN" sz="1100" b="1" dirty="0">
              <a:latin typeface="+mj-lt"/>
              <a:cs typeface="Microsoft YaHei" charset="-122"/>
            </a:endParaRPr>
          </a:p>
        </p:txBody>
      </p:sp>
      <p:sp>
        <p:nvSpPr>
          <p:cNvPr id="42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4046453" y="1316101"/>
            <a:ext cx="12920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09/18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KO &amp;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09/20</a:t>
            </a:r>
            <a:endParaRPr lang="en-US" altLang="zh-CN" sz="1200" b="1" dirty="0" smtClean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Blueprint Review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44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19" y="1532820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7771930" y="4602972"/>
            <a:ext cx="1172977" cy="734445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300" dirty="0" smtClean="0">
                <a:latin typeface="+mj-lt"/>
                <a:ea typeface="+mj-ea"/>
                <a:cs typeface="Microsoft YaHei" charset="-122"/>
              </a:rPr>
              <a:t>01/09 </a:t>
            </a:r>
            <a:r>
              <a:rPr lang="en-US" altLang="zh-CN" sz="1300" dirty="0">
                <a:latin typeface="+mj-lt"/>
                <a:ea typeface="+mj-ea"/>
                <a:cs typeface="Microsoft YaHei" charset="-122"/>
              </a:rPr>
              <a:t>Project      sign-off</a:t>
            </a:r>
          </a:p>
          <a:p>
            <a:pPr algn="ctr" defTabSz="503635">
              <a:buClr>
                <a:srgbClr val="000000"/>
              </a:buClr>
            </a:pPr>
            <a:endParaRPr lang="zh-CN" altLang="en-US" sz="1300" dirty="0">
              <a:latin typeface="+mj-lt"/>
              <a:ea typeface="+mj-ea"/>
              <a:cs typeface="Microsoft YaHei" charset="-122"/>
            </a:endParaRPr>
          </a:p>
        </p:txBody>
      </p:sp>
      <p:sp>
        <p:nvSpPr>
          <p:cNvPr id="69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8476603" y="503593"/>
            <a:ext cx="19179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01/09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Project sign-off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70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049" y="541146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1610907" y="1772059"/>
            <a:ext cx="1833629" cy="489201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>
                <a:latin typeface="+mj-lt"/>
                <a:ea typeface="+mj-ea"/>
              </a:rPr>
              <a:t>KO Prep</a:t>
            </a:r>
          </a:p>
          <a:p>
            <a:pPr algn="ctr" defTabSz="503635">
              <a:buClr>
                <a:srgbClr val="000000"/>
              </a:buClr>
            </a:pPr>
            <a:r>
              <a:rPr lang="en-US" altLang="zh-CN" sz="1100" b="1" dirty="0" smtClean="0"/>
              <a:t>09/18</a:t>
            </a:r>
            <a:r>
              <a:rPr lang="en-US" altLang="zh-CN" sz="1100" b="1" dirty="0" smtClean="0">
                <a:latin typeface="+mj-lt"/>
                <a:ea typeface="+mj-ea"/>
              </a:rPr>
              <a:t> </a:t>
            </a:r>
            <a:r>
              <a:rPr lang="en-US" altLang="zh-CN" sz="1100" b="1" dirty="0" smtClean="0">
                <a:latin typeface="+mj-lt"/>
                <a:ea typeface="+mj-ea"/>
              </a:rPr>
              <a:t>Completed</a:t>
            </a:r>
            <a:endParaRPr lang="en-US" altLang="zh-CN" sz="1100" b="1" dirty="0">
              <a:latin typeface="+mj-lt"/>
              <a:cs typeface="Microsoft YaHei" charset="-122"/>
            </a:endParaRPr>
          </a:p>
        </p:txBody>
      </p:sp>
      <p:sp>
        <p:nvSpPr>
          <p:cNvPr id="49" name="文本框 107">
            <a:extLst>
              <a:ext uri="{FF2B5EF4-FFF2-40B4-BE49-F238E27FC236}">
                <a16:creationId xmlns:a16="http://schemas.microsoft.com/office/drawing/2014/main" xmlns="" id="{28A6CBCD-8730-4627-A4D0-4FCA6107A8D2}"/>
              </a:ext>
            </a:extLst>
          </p:cNvPr>
          <p:cNvSpPr txBox="1"/>
          <p:nvPr/>
        </p:nvSpPr>
        <p:spPr>
          <a:xfrm>
            <a:off x="2262779" y="497174"/>
            <a:ext cx="1183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09/18 </a:t>
            </a:r>
            <a:r>
              <a:rPr lang="en-US" altLang="zh-CN" sz="12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</a:rPr>
              <a:t>Kick-off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61" name="Picture 83">
            <a:extLst>
              <a:ext uri="{FF2B5EF4-FFF2-40B4-BE49-F238E27FC236}">
                <a16:creationId xmlns:a16="http://schemas.microsoft.com/office/drawing/2014/main" xmlns="" id="{578178E6-A6D3-4E2E-A534-CB0C196B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903" y="517755"/>
            <a:ext cx="282415" cy="18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3" y="901032"/>
            <a:ext cx="11934825" cy="266700"/>
          </a:xfrm>
          <a:prstGeom prst="rect">
            <a:avLst/>
          </a:prstGeom>
        </p:spPr>
      </p:pic>
      <p:cxnSp>
        <p:nvCxnSpPr>
          <p:cNvPr id="66" name="Straight Connector 118">
            <a:extLst>
              <a:ext uri="{FF2B5EF4-FFF2-40B4-BE49-F238E27FC236}">
                <a16:creationId xmlns:a16="http://schemas.microsoft.com/office/drawing/2014/main" xmlns="" id="{ED304844-36D3-4B47-A1BA-28EBE7ED05EC}"/>
              </a:ext>
            </a:extLst>
          </p:cNvPr>
          <p:cNvCxnSpPr/>
          <p:nvPr/>
        </p:nvCxnSpPr>
        <p:spPr>
          <a:xfrm flipH="1">
            <a:off x="8979902" y="800402"/>
            <a:ext cx="26438" cy="5974601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75000"/>
              </a:schemeClr>
            </a:solidFill>
            <a:prstDash val="sysDot"/>
          </a:ln>
          <a:effectLst/>
        </p:spPr>
      </p:cxnSp>
      <p:sp>
        <p:nvSpPr>
          <p:cNvPr id="5" name="Rectangle 4"/>
          <p:cNvSpPr/>
          <p:nvPr/>
        </p:nvSpPr>
        <p:spPr>
          <a:xfrm>
            <a:off x="298367" y="840024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01/20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246109" y="848269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01/24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133353" y="849337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01/25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3058276" y="853569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01/27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972416" y="856822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02/28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7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6777508" y="3807506"/>
            <a:ext cx="994299" cy="634142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endParaRPr lang="en-US" sz="1100" b="1" dirty="0">
              <a:latin typeface="+mj-lt"/>
              <a:ea typeface="微软雅黑" panose="020B0503020204020204" pitchFamily="34" charset="-122"/>
            </a:endParaRPr>
          </a:p>
          <a:p>
            <a:pPr algn="ctr" defTabSz="503635">
              <a:buClr>
                <a:srgbClr val="000000"/>
              </a:buClr>
            </a:pP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>GRR：2026/01/08</a:t>
            </a:r>
            <a:endParaRPr lang="en-US" sz="1100" b="1" dirty="0">
              <a:latin typeface="+mj-lt"/>
              <a:ea typeface="微软雅黑" panose="020B0503020204020204" pitchFamily="34" charset="-122"/>
            </a:endParaRPr>
          </a:p>
          <a:p>
            <a:pPr algn="ctr" defTabSz="503635">
              <a:buClr>
                <a:srgbClr val="000000"/>
              </a:buClr>
            </a:pPr>
            <a:r>
              <a:rPr lang="en-US" altLang="zh-CN" sz="1100" b="1" dirty="0">
                <a:latin typeface="+mj-lt"/>
                <a:ea typeface="微软雅黑" panose="020B0503020204020204" pitchFamily="34" charset="-122"/>
              </a:rPr>
              <a:t>      </a:t>
            </a:r>
          </a:p>
          <a:p>
            <a:pPr algn="ctr" defTabSz="503635">
              <a:buClr>
                <a:srgbClr val="000000"/>
              </a:buClr>
            </a:pPr>
            <a:endParaRPr lang="en-US" altLang="zh-CN" sz="1100" b="1" dirty="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9577298" y="863282"/>
            <a:ext cx="631904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06/30</a:t>
            </a:r>
            <a:endParaRPr lang="en-US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2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10209202" y="6079583"/>
            <a:ext cx="1527078" cy="629562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r>
              <a:rPr lang="en-US" altLang="zh-CN" sz="1100" b="1" dirty="0" smtClean="0">
                <a:latin typeface="+mj-lt"/>
              </a:rPr>
              <a:t> Project </a:t>
            </a: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>Exit：2026/02/17</a:t>
            </a:r>
            <a:endParaRPr lang="en-US" sz="1100" dirty="0">
              <a:latin typeface="+mj-lt"/>
            </a:endParaRPr>
          </a:p>
        </p:txBody>
      </p:sp>
      <p:sp>
        <p:nvSpPr>
          <p:cNvPr id="47" name="Freeform 155">
            <a:extLst>
              <a:ext uri="{FF2B5EF4-FFF2-40B4-BE49-F238E27FC236}">
                <a16:creationId xmlns:a16="http://schemas.microsoft.com/office/drawing/2014/main" xmlns="" id="{1163ECA5-2E92-0E4A-D285-64F90E941E22}"/>
              </a:ext>
            </a:extLst>
          </p:cNvPr>
          <p:cNvSpPr/>
          <p:nvPr/>
        </p:nvSpPr>
        <p:spPr>
          <a:xfrm>
            <a:off x="4296791" y="3156248"/>
            <a:ext cx="2805945" cy="634142"/>
          </a:xfrm>
          <a:custGeom>
            <a:avLst/>
            <a:gdLst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0 h 914400"/>
              <a:gd name="connsiteX0" fmla="*/ 0 w 1828800"/>
              <a:gd name="connsiteY0" fmla="*/ 0 h 914400"/>
              <a:gd name="connsiteX1" fmla="*/ 1664208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64208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85309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85309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55778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73023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73023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165371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  <a:gd name="connsiteX0" fmla="*/ 0 w 1828800"/>
              <a:gd name="connsiteY0" fmla="*/ 0 h 914400"/>
              <a:gd name="connsiteX1" fmla="*/ 1663429 w 1828800"/>
              <a:gd name="connsiteY1" fmla="*/ 0 h 914400"/>
              <a:gd name="connsiteX2" fmla="*/ 1828800 w 1828800"/>
              <a:gd name="connsiteY2" fmla="*/ 457200 h 914400"/>
              <a:gd name="connsiteX3" fmla="*/ 1663429 w 1828800"/>
              <a:gd name="connsiteY3" fmla="*/ 914400 h 914400"/>
              <a:gd name="connsiteX4" fmla="*/ 0 w 1828800"/>
              <a:gd name="connsiteY4" fmla="*/ 914400 h 914400"/>
              <a:gd name="connsiteX5" fmla="*/ 0 w 1828800"/>
              <a:gd name="connsiteY5" fmla="*/ 457201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1663429" y="0"/>
                </a:lnTo>
                <a:lnTo>
                  <a:pt x="1828800" y="457200"/>
                </a:lnTo>
                <a:lnTo>
                  <a:pt x="1663429" y="914400"/>
                </a:lnTo>
                <a:lnTo>
                  <a:pt x="0" y="914400"/>
                </a:lnTo>
                <a:lnTo>
                  <a:pt x="0" y="457201"/>
                </a:lnTo>
                <a:close/>
              </a:path>
            </a:pathLst>
          </a:custGeom>
          <a:solidFill>
            <a:srgbClr val="00B05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>
            <a:noAutofit/>
          </a:bodyPr>
          <a:lstStyle/>
          <a:p>
            <a:pPr algn="ctr" defTabSz="503635">
              <a:buClr>
                <a:srgbClr val="000000"/>
              </a:buClr>
            </a:pP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>Realization ：</a:t>
            </a: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>2025/12/27</a:t>
            </a:r>
            <a:r>
              <a:rPr lang="en-US" sz="1100" b="1" dirty="0" smtClean="0">
                <a:latin typeface="+mj-lt"/>
                <a:ea typeface="微软雅黑" panose="020B0503020204020204" pitchFamily="34" charset="-122"/>
              </a:rPr>
              <a:t/>
            </a:r>
            <a:br>
              <a:rPr lang="en-US" sz="1100" b="1" dirty="0" smtClean="0">
                <a:latin typeface="+mj-lt"/>
                <a:ea typeface="微软雅黑" panose="020B0503020204020204" pitchFamily="34" charset="-122"/>
              </a:rPr>
            </a:br>
            <a:r>
              <a:rPr lang="en-US" altLang="zh-CN" sz="1100" b="1" dirty="0" smtClean="0">
                <a:latin typeface="+mj-lt"/>
              </a:rPr>
              <a:t>     Completed</a:t>
            </a:r>
            <a:endParaRPr lang="en-US" altLang="zh-CN" sz="1100" dirty="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86573" y="823915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04/16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68482" y="817491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05/01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92433" y="817491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05/15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692383" y="856821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06/01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541750" y="882685"/>
            <a:ext cx="631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06/15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3239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上线准备检核表</a:t>
            </a:r>
            <a:r>
              <a:rPr lang="en-US" altLang="zh-CN" dirty="0"/>
              <a:t>Go-live Readiness </a:t>
            </a:r>
            <a:r>
              <a:rPr lang="en-US" altLang="zh-CN" dirty="0" smtClean="0"/>
              <a:t>Checklist-01</a:t>
            </a:r>
            <a:endParaRPr lang="zh-CN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94968"/>
              </p:ext>
            </p:extLst>
          </p:nvPr>
        </p:nvGraphicFramePr>
        <p:xfrm>
          <a:off x="391249" y="1293141"/>
          <a:ext cx="11234693" cy="5029281"/>
        </p:xfrm>
        <a:graphic>
          <a:graphicData uri="http://schemas.openxmlformats.org/drawingml/2006/table">
            <a:tbl>
              <a:tblPr/>
              <a:tblGrid>
                <a:gridCol w="565886"/>
                <a:gridCol w="959546"/>
                <a:gridCol w="3259998"/>
                <a:gridCol w="1097943"/>
                <a:gridCol w="1094868"/>
                <a:gridCol w="1328604"/>
                <a:gridCol w="1082565"/>
                <a:gridCol w="1845283"/>
              </a:tblGrid>
              <a:tr h="488740"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br>
                        <a:rPr lang="ja-JP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Category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检核项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 list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Owner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目标完成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Target date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实际完成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Actual finish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Status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Remark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</a:tr>
              <a:tr h="2728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蓝图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业务解决方案签核确认</a:t>
                      </a: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Business solution sign-off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9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蓝图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解决方案签核确</a:t>
                      </a: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 solution sign-off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5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关键用户都已经参加培训</a:t>
                      </a: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 key users attend 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9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最终用户都已经参加培训</a:t>
                      </a:r>
                      <a:r>
                        <a:rPr lang="en-I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 end users attend 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61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最终用户通过培训检验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All end users pass training test/exam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37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已经制作系统操作手册和相关的管理制度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SOPs and related management files have been output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applicable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9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已经进行</a:t>
                      </a: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7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已经进行了</a:t>
                      </a: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UAT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UAT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08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已进行压力测试，测试结果满足上线需求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Performance test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0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已进行回归测试，测试结果满足上线需求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Regression test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9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已进行用户权限测试，测试结果满足上线需求</a:t>
                      </a:r>
                      <a:b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Rights test pass and fulfill go-live requirements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65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上线准备检核表</a:t>
            </a:r>
            <a:r>
              <a:rPr lang="en-US" altLang="zh-CN" dirty="0"/>
              <a:t>Go-live Readiness </a:t>
            </a:r>
            <a:r>
              <a:rPr lang="en-US" altLang="zh-CN" dirty="0" smtClean="0"/>
              <a:t>Checklist-01</a:t>
            </a:r>
            <a:endParaRPr lang="zh-CN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46954"/>
              </p:ext>
            </p:extLst>
          </p:nvPr>
        </p:nvGraphicFramePr>
        <p:xfrm>
          <a:off x="495753" y="1354101"/>
          <a:ext cx="10850564" cy="4515478"/>
        </p:xfrm>
        <a:graphic>
          <a:graphicData uri="http://schemas.openxmlformats.org/drawingml/2006/table">
            <a:tbl>
              <a:tblPr/>
              <a:tblGrid>
                <a:gridCol w="546538"/>
                <a:gridCol w="926738"/>
                <a:gridCol w="3148534"/>
                <a:gridCol w="1060403"/>
                <a:gridCol w="1057433"/>
                <a:gridCol w="1283177"/>
                <a:gridCol w="1045551"/>
                <a:gridCol w="1782190"/>
              </a:tblGrid>
              <a:tr h="542885"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br>
                        <a:rPr lang="ja-JP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No.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Category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检核项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 list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责任人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Owner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目标完成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Target date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实际完成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Actual finish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b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Status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Remark</a:t>
                      </a:r>
                    </a:p>
                  </a:txBody>
                  <a:tcPr marL="8913" marR="8913" marT="891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</a:tr>
              <a:tr h="360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上线切换策略已经输出并达成共识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MTP strategy output and aligned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applicable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上线切换承诺书签署确认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Move-to-production Commitment file sign-off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applicable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上线切换任务规划输出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Move to production planoutput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applicable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2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网络正常，服务器和客户端的软件已经安装并测试可以正常使用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Network is OK, the server and client software have been installed and tested and can be used normally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2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相关用户的账号权限在正式系统都已经建立完毕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The accounts and rights of relevant users have been established.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2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基础数据准备完毕，并已经录入正式环境，且由用户确认准确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Master data has been prepared and entered into the production database, and confirmed by the user.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2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已经明确上线之后的问题反馈和解决流程（</a:t>
                      </a: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PPS Plan）</a:t>
                      </a:r>
                      <a:b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The problem feedback and fixing process after the go-live has been clarified (PPS Plan)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42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上线前准备</a:t>
                      </a:r>
                      <a:br>
                        <a:rPr lang="ja-JP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Final Prep.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各阶段主要项目输出文档均已记录并上传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The documents of each phase have been recorded and uploaded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Close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92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2995" y="3444978"/>
            <a:ext cx="10061945" cy="5269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82995" y="1611775"/>
            <a:ext cx="95941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Scope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项目效益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Benefit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项目整体状态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Status Overview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变更汇总说明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 Request Summary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（取决于实际情况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上线准备检核表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Go-live Readiness Checklist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Support Plan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buClr>
                <a:srgbClr val="FF9328"/>
              </a:buClr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与风险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Problems &amp; Risks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 on actual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needs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951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3">
            <a:extLst>
              <a:ext uri="{FF2B5EF4-FFF2-40B4-BE49-F238E27FC236}">
                <a16:creationId xmlns:a16="http://schemas.microsoft.com/office/drawing/2014/main" xmlns="" id="{5E94D539-D92D-4D74-90AA-DF9239A0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1231900"/>
            <a:ext cx="10011671" cy="5016500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ctr" defTabSz="514350">
              <a:defRPr/>
            </a:pPr>
            <a:endParaRPr lang="en-US" altLang="zh-CN" sz="1300" kern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Support Plan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41500" y="3041037"/>
            <a:ext cx="8291581" cy="7633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59" tIns="68580" rIns="137159" bIns="68580" numCol="1" spcCol="0" rtlCol="0" fromWordArt="0" anchor="ctr" anchorCtr="0" forceAA="0" compatLnSpc="1">
            <a:noAutofit/>
          </a:bodyPr>
          <a:lstStyle/>
          <a:p>
            <a:r>
              <a:rPr sz="2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First level support: contact key </a:t>
            </a:r>
            <a:r>
              <a:rPr sz="2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users</a:t>
            </a:r>
            <a:r>
              <a:rPr lang="en-US" sz="2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to handle problems</a:t>
            </a:r>
            <a:endParaRPr sz="2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41500" y="4718618"/>
            <a:ext cx="8291830" cy="892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59" tIns="68580" rIns="137159" bIns="68580" numCol="1" spcCol="0" rtlCol="0" fromWordArt="0" anchor="ctr" anchorCtr="0" forceAA="0" compatLnSpc="1">
            <a:noAutofit/>
          </a:bodyPr>
          <a:lstStyle/>
          <a:p>
            <a:r>
              <a:rPr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Second level support: </a:t>
            </a:r>
            <a:r>
              <a:rPr lang="en-GB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Tracking real-time data based on reports and guiding departments to maintain perfect data</a:t>
            </a:r>
            <a:r>
              <a:rPr lang="en-GB" sz="2000" dirty="0"/>
              <a:t>.</a:t>
            </a:r>
            <a:endParaRPr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1841500" y="3804402"/>
            <a:ext cx="1020465" cy="906960"/>
          </a:xfrm>
          <a:prstGeom prst="downArrow">
            <a:avLst/>
          </a:prstGeom>
          <a:solidFill>
            <a:srgbClr val="FF9A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59" tIns="68580" rIns="137159" bIns="6858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41499" y="1639678"/>
            <a:ext cx="8291581" cy="763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59" tIns="68580" rIns="137159" bIns="68580" numCol="1" spcCol="0" rtlCol="0" fromWordArt="0" anchor="ctr" anchorCtr="0" forceAA="0" compatLnSpc="1">
            <a:noAutofit/>
          </a:bodyPr>
          <a:lstStyle/>
          <a:p>
            <a:r>
              <a:rPr lang="en-US" altLang="zh-CN" sz="2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Post-production support plan: </a:t>
            </a:r>
            <a:r>
              <a:rPr lang="en-US" altLang="zh-CN" sz="22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 month after go-live </a:t>
            </a:r>
            <a:endParaRPr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047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82995" y="4869738"/>
            <a:ext cx="10061945" cy="4465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 </a:t>
            </a:r>
            <a:r>
              <a:rPr lang="en-US" altLang="zh-CN" dirty="0"/>
              <a:t>Content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82995" y="1611775"/>
            <a:ext cx="959411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项目范围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Scope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项目效益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Benefit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项目整体状态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 Status Overview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变更汇总说明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 Request Summary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（取决于实际情况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上线准备检核表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Go-live Readiness Checklist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上线后支持规划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Post-production Support Plan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追踪规划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Benefit Tracking Plan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（可选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Optional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与风险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Problems &amp; Risks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（取决于实际需要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Depends on actual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needs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FF9328"/>
              </a:buClr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（必选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Required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75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上线决策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Go-live Decision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2732567" y="1956391"/>
            <a:ext cx="2785729" cy="3030279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>
                <a:latin typeface="+mn-ea"/>
              </a:rPr>
              <a:t>YES</a:t>
            </a:r>
            <a:endParaRPr lang="zh-CN" altLang="en-US" sz="3600" b="1" dirty="0">
              <a:latin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95999" y="1956390"/>
            <a:ext cx="2785729" cy="303027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>
                <a:latin typeface="+mn-ea"/>
              </a:rPr>
              <a:t>NO</a:t>
            </a:r>
            <a:endParaRPr lang="zh-CN" alt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924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xmlns="" id="{A6A819F1-33AF-45D7-8BF6-2B0A9769CAD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0458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"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xmlns="" id="{FF51F16D-1BAD-46EE-A6F4-B8B94C9DF6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240379" y="2336771"/>
            <a:ext cx="5280109" cy="1953042"/>
          </a:xfrm>
        </p:spPr>
        <p:txBody>
          <a:bodyPr>
            <a:normAutofit fontScale="90000"/>
          </a:bodyPr>
          <a:lstStyle/>
          <a:p>
            <a:r>
              <a:rPr lang="en-US" altLang="zh-CN" sz="8000" b="0" dirty="0">
                <a:solidFill>
                  <a:schemeClr val="accent2"/>
                </a:solidFill>
                <a:latin typeface="Impact" panose="020B0806030902050204" pitchFamily="34" charset="0"/>
              </a:rPr>
              <a:t>Thanks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TW" altLang="en-US" sz="2800" dirty="0"/>
              <a:t>態度決定高度</a:t>
            </a:r>
            <a:r>
              <a:rPr lang="en-US" altLang="zh-TW" sz="2800" dirty="0"/>
              <a:t/>
            </a:r>
            <a:br>
              <a:rPr lang="en-US" altLang="zh-TW" sz="2800" dirty="0"/>
            </a:br>
            <a:r>
              <a:rPr lang="en-US" altLang="zh-TW" sz="2800" dirty="0"/>
              <a:t>Attitude is altitude</a:t>
            </a:r>
            <a:endParaRPr lang="zh-CN" altLang="en-US" sz="2800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xmlns="" id="{B1C99C41-FA3C-4143-91D8-921EA092CD73}"/>
              </a:ext>
            </a:extLst>
          </p:cNvPr>
          <p:cNvCxnSpPr/>
          <p:nvPr/>
        </p:nvCxnSpPr>
        <p:spPr>
          <a:xfrm>
            <a:off x="6240379" y="4771589"/>
            <a:ext cx="48768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9" y="4355759"/>
            <a:ext cx="4844384" cy="40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7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225bf695-daa2-4759-97b7-6398e4bba18c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S0wzOvQ8a50SA42PUN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mkff3fSzGMOuItfjj3Fw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D4439"/>
      </a:accent1>
      <a:accent2>
        <a:srgbClr val="3C72CF"/>
      </a:accent2>
      <a:accent3>
        <a:srgbClr val="FF6A26"/>
      </a:accent3>
      <a:accent4>
        <a:srgbClr val="969696"/>
      </a:accent4>
      <a:accent5>
        <a:srgbClr val="B2B2B2"/>
      </a:accent5>
      <a:accent6>
        <a:srgbClr val="C5C5C5"/>
      </a:accent6>
      <a:hlink>
        <a:srgbClr val="4C4C4C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9050" cap="flat" cmpd="sng" algn="ctr">
          <a:solidFill>
            <a:srgbClr val="FFFFFF">
              <a:lumMod val="65000"/>
            </a:srgbClr>
          </a:solidFill>
          <a:prstDash val="sysDot"/>
        </a:ln>
        <a:effectLst/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16273</TotalTime>
  <Words>1361</Words>
  <Application>Microsoft Office PowerPoint</Application>
  <PresentationFormat>Widescreen</PresentationFormat>
  <Paragraphs>321</Paragraphs>
  <Slides>13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Microsoft YaHei</vt:lpstr>
      <vt:lpstr>Microsoft YaHei</vt:lpstr>
      <vt:lpstr>宋体</vt:lpstr>
      <vt:lpstr>Arial</vt:lpstr>
      <vt:lpstr>Calibri</vt:lpstr>
      <vt:lpstr>Helvetica Light</vt:lpstr>
      <vt:lpstr>Impact</vt:lpstr>
      <vt:lpstr>Times New Roman</vt:lpstr>
      <vt:lpstr>Wingdings</vt:lpstr>
      <vt:lpstr>主题5</vt:lpstr>
      <vt:lpstr>think-cell Slide</vt:lpstr>
      <vt:lpstr>Cutting Material Managemen System Project Go-live Readiness Review</vt:lpstr>
      <vt:lpstr>目录 Content</vt:lpstr>
      <vt:lpstr>项目范围 Project Scope</vt:lpstr>
      <vt:lpstr>项目收益 Project Benefit</vt:lpstr>
      <vt:lpstr>目录 Content</vt:lpstr>
      <vt:lpstr>Project Status Overview</vt:lpstr>
      <vt:lpstr>上线准备检核表Go-live Readiness Checklist-01</vt:lpstr>
      <vt:lpstr>上线准备检核表Go-live Readiness Checklist-01</vt:lpstr>
      <vt:lpstr>目录 Content</vt:lpstr>
      <vt:lpstr>上线后支持规划 Post-production Support Plan</vt:lpstr>
      <vt:lpstr>目录 Content</vt:lpstr>
      <vt:lpstr>上线决策 Go-live Decision</vt:lpstr>
      <vt:lpstr>Thanks 態度決定高度 Attitude is altitude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manohar-g</cp:lastModifiedBy>
  <cp:revision>3150</cp:revision>
  <cp:lastPrinted>2017-11-14T16:00:00Z</cp:lastPrinted>
  <dcterms:created xsi:type="dcterms:W3CDTF">2017-11-14T16:00:00Z</dcterms:created>
  <dcterms:modified xsi:type="dcterms:W3CDTF">2026-01-07T09:27:54Z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