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2" r:id="rId6"/>
    <p:sldId id="263" r:id="rId7"/>
    <p:sldId id="271" r:id="rId8"/>
    <p:sldId id="270" r:id="rId9"/>
    <p:sldId id="261" r:id="rId10"/>
    <p:sldId id="264" r:id="rId11"/>
    <p:sldId id="265" r:id="rId12"/>
    <p:sldId id="272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400" dirty="0" smtClean="0"/>
              <a:t>Material Readiness by Plant</a:t>
            </a:r>
            <a:endParaRPr lang="en-IN" sz="14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186971423336154E-2"/>
          <c:y val="6.5731891877519086E-2"/>
          <c:w val="0.94583058562992128"/>
          <c:h val="0.76748654235442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Plant -B</c:v>
                </c:pt>
                <c:pt idx="1">
                  <c:v>Plant -C</c:v>
                </c:pt>
                <c:pt idx="2">
                  <c:v>Plant -D</c:v>
                </c:pt>
                <c:pt idx="3">
                  <c:v>Plant - E</c:v>
                </c:pt>
                <c:pt idx="4">
                  <c:v>Plant - F</c:v>
                </c:pt>
                <c:pt idx="5">
                  <c:v>Plant - G</c:v>
                </c:pt>
                <c:pt idx="6">
                  <c:v>Plant - H</c:v>
                </c:pt>
                <c:pt idx="7">
                  <c:v>Plant - I</c:v>
                </c:pt>
                <c:pt idx="8">
                  <c:v>Plant - J</c:v>
                </c:pt>
                <c:pt idx="9">
                  <c:v>Plant - 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0.7</c:v>
                </c:pt>
                <c:pt idx="1">
                  <c:v>0.6</c:v>
                </c:pt>
                <c:pt idx="2">
                  <c:v>0.45</c:v>
                </c:pt>
                <c:pt idx="3">
                  <c:v>0.8</c:v>
                </c:pt>
                <c:pt idx="4">
                  <c:v>0.56000000000000005</c:v>
                </c:pt>
                <c:pt idx="5">
                  <c:v>0.68</c:v>
                </c:pt>
                <c:pt idx="6">
                  <c:v>0.98</c:v>
                </c:pt>
                <c:pt idx="7">
                  <c:v>0.75</c:v>
                </c:pt>
                <c:pt idx="8">
                  <c:v>0.65</c:v>
                </c:pt>
                <c:pt idx="9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482935920"/>
        <c:axId val="1482936464"/>
      </c:barChart>
      <c:catAx>
        <c:axId val="148293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2936464"/>
        <c:crossesAt val="0"/>
        <c:auto val="1"/>
        <c:lblAlgn val="ctr"/>
        <c:lblOffset val="100"/>
        <c:noMultiLvlLbl val="0"/>
      </c:catAx>
      <c:valAx>
        <c:axId val="1482936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2935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B3F57-11D8-4444-9073-A67D17BB0BF9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B45B0-044B-4188-BFA6-9B3E6A8B7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50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200DB2-B003-4850-9B8F-14A94B56C16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52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065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904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57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56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54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021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78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59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18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49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731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624EE-9F57-4CB4-8BA6-4DF524EEEBBD}" type="datetimeFigureOut">
              <a:rPr lang="en-IN" smtClean="0"/>
              <a:t>2025/07/18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9B989-A080-43CF-BCA9-E5D0ECD25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69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19.png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67984" y="2193403"/>
            <a:ext cx="802279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The Prototype for </a:t>
            </a:r>
          </a:p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Management</a:t>
            </a:r>
            <a:endParaRPr lang="en-US" sz="4000" b="1" dirty="0">
              <a:ln w="0"/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accent6"/>
                  </a:gs>
                  <a:gs pos="100000">
                    <a:schemeClr val="accent2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10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318000" y="417856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9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251" y="492961"/>
            <a:ext cx="1406502" cy="25138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Data Capture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Organizational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Workflow for Cutting 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Monitoring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351" y="5048033"/>
            <a:ext cx="1416654" cy="1355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Top </a:t>
            </a:r>
            <a:endParaRPr lang="en-GB" dirty="0" smtClean="0"/>
          </a:p>
          <a:p>
            <a:pPr algn="ctr"/>
            <a:r>
              <a:rPr lang="en-GB" sz="1600" dirty="0" smtClean="0"/>
              <a:t>Management</a:t>
            </a:r>
            <a:endParaRPr lang="en-IN" sz="1600" dirty="0"/>
          </a:p>
        </p:txBody>
      </p:sp>
      <p:sp>
        <p:nvSpPr>
          <p:cNvPr id="6" name="Rectangle 5"/>
          <p:cNvSpPr/>
          <p:nvPr/>
        </p:nvSpPr>
        <p:spPr>
          <a:xfrm>
            <a:off x="1566751" y="504332"/>
            <a:ext cx="10610638" cy="2509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566751" y="3059504"/>
            <a:ext cx="10610638" cy="19135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-8251" y="3059504"/>
            <a:ext cx="1416654" cy="19336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Production</a:t>
            </a:r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1566752" y="5048033"/>
            <a:ext cx="10610637" cy="137827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5192415" y="1402676"/>
            <a:ext cx="1309881" cy="1172231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Cutting Material Report</a:t>
            </a:r>
            <a:endParaRPr lang="en-IN"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1823466" y="1815169"/>
            <a:ext cx="1556117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Purchase Team</a:t>
            </a:r>
            <a:endParaRPr lang="en-IN"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8315128" y="1853973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Warehouse Team</a:t>
            </a:r>
            <a:endParaRPr lang="en-IN"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4865571" y="557122"/>
            <a:ext cx="2142312" cy="38064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BOM</a:t>
            </a:r>
            <a:endParaRPr lang="en-IN"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1815655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Planning Team</a:t>
            </a:r>
            <a:endParaRPr lang="en-IN"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4881372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 In-charge</a:t>
            </a:r>
            <a:endParaRPr lang="en-IN"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8342783" y="3981820"/>
            <a:ext cx="2142313" cy="387762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 Supervisor</a:t>
            </a:r>
            <a:endParaRPr lang="en-IN" sz="1400" dirty="0"/>
          </a:p>
        </p:txBody>
      </p:sp>
      <p:sp>
        <p:nvSpPr>
          <p:cNvPr id="18" name="Flowchart: Preparation 17"/>
          <p:cNvSpPr/>
          <p:nvPr/>
        </p:nvSpPr>
        <p:spPr>
          <a:xfrm>
            <a:off x="4872131" y="5536794"/>
            <a:ext cx="2142313" cy="511885"/>
          </a:xfrm>
          <a:prstGeom prst="flowChartPreparation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 Top Management </a:t>
            </a:r>
            <a:endParaRPr lang="en-IN" sz="1400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5883625" y="2574907"/>
            <a:ext cx="0" cy="86244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936727" y="4437001"/>
            <a:ext cx="5755" cy="104699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440274" y="1656338"/>
            <a:ext cx="19025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Issue materials, verify stock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270" y="2131264"/>
            <a:ext cx="1634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C00000"/>
                </a:solidFill>
              </a:rPr>
              <a:t> Track </a:t>
            </a:r>
            <a:r>
              <a:rPr lang="en-GB" sz="1200" dirty="0" smtClean="0">
                <a:solidFill>
                  <a:srgbClr val="C00000"/>
                </a:solidFill>
              </a:rPr>
              <a:t>Purchase Status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140364" y="5456810"/>
            <a:ext cx="20720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rgbClr val="C00000"/>
                </a:solidFill>
              </a:rPr>
              <a:t>View overall readiness </a:t>
            </a:r>
            <a:r>
              <a:rPr lang="en-GB" sz="1200" dirty="0" smtClean="0">
                <a:solidFill>
                  <a:srgbClr val="C00000"/>
                </a:solidFill>
              </a:rPr>
              <a:t>%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>
                <a:solidFill>
                  <a:srgbClr val="C00000"/>
                </a:solidFill>
              </a:rPr>
              <a:t>material trends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>
                <a:solidFill>
                  <a:srgbClr val="C00000"/>
                </a:solidFill>
              </a:rPr>
              <a:t>escalations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31293" y="5106961"/>
            <a:ext cx="2613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</a:rPr>
              <a:t>Sees high-level overview</a:t>
            </a:r>
            <a:endParaRPr lang="en-IN" sz="1200" dirty="0">
              <a:solidFill>
                <a:srgbClr val="FF0000"/>
              </a:solidFill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8437507" y="3155919"/>
          <a:ext cx="3061766" cy="863609"/>
        </p:xfrm>
        <a:graphic>
          <a:graphicData uri="http://schemas.openxmlformats.org/drawingml/2006/table">
            <a:tbl>
              <a:tblPr/>
              <a:tblGrid>
                <a:gridCol w="3061766"/>
              </a:tblGrid>
              <a:tr h="863609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 assigned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cutting only if fully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ready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escalate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4855846" y="3349630"/>
            <a:ext cx="2765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Track PO-wise </a:t>
            </a:r>
            <a:r>
              <a:rPr lang="en-GB" sz="1200" dirty="0" smtClean="0"/>
              <a:t>readiness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material issues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escalate </a:t>
            </a:r>
            <a:r>
              <a:rPr lang="en-GB" sz="1200" dirty="0"/>
              <a:t>to teams</a:t>
            </a:r>
            <a:endParaRPr lang="en-IN" sz="1200" dirty="0"/>
          </a:p>
        </p:txBody>
      </p:sp>
      <p:sp>
        <p:nvSpPr>
          <p:cNvPr id="53" name="Rectangle 52"/>
          <p:cNvSpPr/>
          <p:nvPr/>
        </p:nvSpPr>
        <p:spPr>
          <a:xfrm>
            <a:off x="1733818" y="3335489"/>
            <a:ext cx="1886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Ensure BOM is </a:t>
            </a:r>
            <a:r>
              <a:rPr lang="en-GB" sz="1200" dirty="0" smtClean="0"/>
              <a:t>accurate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validate </a:t>
            </a:r>
            <a:r>
              <a:rPr lang="en-GB" sz="1200" dirty="0"/>
              <a:t>material </a:t>
            </a:r>
            <a:r>
              <a:rPr lang="en-GB" sz="1200" dirty="0" smtClean="0"/>
              <a:t>need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resolve </a:t>
            </a:r>
            <a:r>
              <a:rPr lang="en-GB" sz="1200" dirty="0"/>
              <a:t>errors</a:t>
            </a:r>
            <a:endParaRPr lang="en-IN" sz="1200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3620235" y="2349969"/>
            <a:ext cx="1705087" cy="11872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314682" y="2417934"/>
            <a:ext cx="2028101" cy="111712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7077455" y="4173085"/>
            <a:ext cx="1237673" cy="455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985623" y="4214412"/>
            <a:ext cx="878605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943288" y="937766"/>
            <a:ext cx="1736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Provides base material requirements.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5883625" y="937766"/>
            <a:ext cx="0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404462" y="1967191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3526153" y="1683242"/>
            <a:ext cx="14294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Input purchase data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 flipH="1" flipV="1">
            <a:off x="3395989" y="2079551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6506011" y="1987783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 flipV="1">
            <a:off x="6497538" y="2100143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471285" y="2163573"/>
            <a:ext cx="15702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 smtClean="0">
                <a:solidFill>
                  <a:srgbClr val="C00000"/>
                </a:solidFill>
              </a:rPr>
              <a:t>Warehouse stock data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370" y="6404937"/>
            <a:ext cx="12192000" cy="4506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Cutting Material Report auto-syncs </a:t>
            </a:r>
            <a:r>
              <a:rPr lang="en-GB" sz="1400" dirty="0" smtClean="0"/>
              <a:t>BOM,PURCHASE, WAREHOUSE, PLANNING AND PO DATA| </a:t>
            </a:r>
            <a:r>
              <a:rPr lang="en-GB" sz="1400" dirty="0"/>
              <a:t>Triggers alerts and tracks material readiness</a:t>
            </a:r>
            <a:endParaRPr lang="en-IN" sz="1400" dirty="0"/>
          </a:p>
        </p:txBody>
      </p:sp>
      <p:sp>
        <p:nvSpPr>
          <p:cNvPr id="108" name="Rectangle 107"/>
          <p:cNvSpPr/>
          <p:nvPr/>
        </p:nvSpPr>
        <p:spPr>
          <a:xfrm>
            <a:off x="7260915" y="4154816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Assigns</a:t>
            </a:r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102189" y="4235751"/>
            <a:ext cx="6567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shares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3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18276" y="948925"/>
            <a:ext cx="3140364" cy="346364"/>
          </a:xfrm>
          <a:prstGeom prst="roundRect">
            <a:avLst/>
          </a:prstGeom>
          <a:solidFill>
            <a:srgbClr val="BCFAE5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Pull BOM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8276" y="2213910"/>
            <a:ext cx="3140364" cy="3463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Purchase Department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8276" y="3451726"/>
            <a:ext cx="3140364" cy="34636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Warehouse Department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8277" y="4713150"/>
            <a:ext cx="3140364" cy="346364"/>
          </a:xfrm>
          <a:prstGeom prst="roundRect">
            <a:avLst/>
          </a:prstGeom>
          <a:solidFill>
            <a:srgbClr val="C00000">
              <a:alpha val="4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bg1"/>
                </a:solidFill>
              </a:rPr>
              <a:t>Planning Department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8277" y="6057250"/>
            <a:ext cx="3140364" cy="3463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Production 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1897386" y="1295289"/>
            <a:ext cx="183436" cy="87116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>
            <a:off x="1896095" y="2597427"/>
            <a:ext cx="186519" cy="83018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wn Arrow 12"/>
          <p:cNvSpPr/>
          <p:nvPr/>
        </p:nvSpPr>
        <p:spPr>
          <a:xfrm>
            <a:off x="1890996" y="3798090"/>
            <a:ext cx="189826" cy="88647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1893545" y="5030923"/>
            <a:ext cx="187277" cy="1005247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3704007" y="89130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Chevron 17"/>
          <p:cNvSpPr/>
          <p:nvPr/>
        </p:nvSpPr>
        <p:spPr>
          <a:xfrm>
            <a:off x="4031675" y="843248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690153" y="219030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Chevron 19"/>
          <p:cNvSpPr/>
          <p:nvPr/>
        </p:nvSpPr>
        <p:spPr>
          <a:xfrm>
            <a:off x="4008585" y="2142247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3717867" y="341744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Chevron 21"/>
          <p:cNvSpPr/>
          <p:nvPr/>
        </p:nvSpPr>
        <p:spPr>
          <a:xfrm>
            <a:off x="4036299" y="336938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699388" y="469207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Chevron 23"/>
          <p:cNvSpPr/>
          <p:nvPr/>
        </p:nvSpPr>
        <p:spPr>
          <a:xfrm>
            <a:off x="4017820" y="464401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3717857" y="603617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Chevron 32"/>
          <p:cNvSpPr/>
          <p:nvPr/>
        </p:nvSpPr>
        <p:spPr>
          <a:xfrm>
            <a:off x="4036289" y="598811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61571" y="456732"/>
            <a:ext cx="7291884" cy="1226660"/>
          </a:xfrm>
          <a:prstGeom prst="rect">
            <a:avLst/>
          </a:prstGeom>
          <a:solidFill>
            <a:srgbClr val="BCFAE5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smtClean="0">
                <a:solidFill>
                  <a:srgbClr val="FF0000"/>
                </a:solidFill>
              </a:rPr>
              <a:t>BOM Department – Enhancing Accuracy and Efficiency : </a:t>
            </a:r>
          </a:p>
          <a:p>
            <a:endParaRPr lang="en-GB" sz="1400" dirty="0" smtClean="0">
              <a:solidFill>
                <a:srgbClr val="FF0000"/>
              </a:solidFill>
            </a:endParaRPr>
          </a:p>
          <a:p>
            <a:r>
              <a:rPr lang="en-GB" sz="1400" dirty="0" smtClean="0">
                <a:solidFill>
                  <a:schemeClr val="tx1"/>
                </a:solidFill>
              </a:rPr>
              <a:t>1 . Ensure Accuracy in BOM Pulling</a:t>
            </a:r>
          </a:p>
          <a:p>
            <a:r>
              <a:rPr lang="en-GB" sz="1400" dirty="0" smtClean="0">
                <a:solidFill>
                  <a:schemeClr val="tx1"/>
                </a:solidFill>
              </a:rPr>
              <a:t>2 . Create BOM Based on Actual Article Usage</a:t>
            </a:r>
            <a:br>
              <a:rPr lang="en-GB" sz="1400" dirty="0" smtClean="0">
                <a:solidFill>
                  <a:schemeClr val="tx1"/>
                </a:solidFill>
              </a:rPr>
            </a:br>
            <a:r>
              <a:rPr lang="en-GB" sz="1400" dirty="0" smtClean="0">
                <a:solidFill>
                  <a:schemeClr val="tx1"/>
                </a:solidFill>
              </a:rPr>
              <a:t>3 . </a:t>
            </a:r>
            <a:r>
              <a:rPr lang="en-IN" sz="1400" dirty="0" smtClean="0">
                <a:solidFill>
                  <a:schemeClr val="tx1"/>
                </a:solidFill>
              </a:rPr>
              <a:t>Avoid Unnecessary Material Creation</a:t>
            </a:r>
            <a:endParaRPr lang="en-GB" sz="1400" dirty="0" smtClean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61571" y="1715249"/>
            <a:ext cx="7291884" cy="12064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 smtClean="0">
                <a:solidFill>
                  <a:srgbClr val="FF0000"/>
                </a:solidFill>
              </a:rPr>
              <a:t> </a:t>
            </a:r>
            <a:r>
              <a:rPr lang="en-GB" sz="1400" dirty="0" smtClean="0">
                <a:solidFill>
                  <a:srgbClr val="FF0000"/>
                </a:solidFill>
              </a:rPr>
              <a:t>Purchase Department – Ensuring Timely and Aligned Procurement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Procure Based on Finalized BOM Requirements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Monitor Material Lead Times Proactively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Avoid Over-Purchasing or Excess Inventory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761571" y="5555838"/>
            <a:ext cx="7291884" cy="11867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FF0000"/>
                </a:solidFill>
              </a:rPr>
              <a:t>Production Department – Ensuring Smooth Execution and Timely </a:t>
            </a:r>
            <a:r>
              <a:rPr lang="en-GB" sz="1400" dirty="0" smtClean="0">
                <a:solidFill>
                  <a:srgbClr val="FF0000"/>
                </a:solidFill>
              </a:rPr>
              <a:t>Output</a:t>
            </a:r>
          </a:p>
          <a:p>
            <a:endParaRPr lang="en-GB" sz="1400" dirty="0" smtClean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Follow Updated Cutting and Production </a:t>
            </a:r>
            <a:r>
              <a:rPr lang="en-GB" sz="1400" dirty="0" smtClean="0">
                <a:solidFill>
                  <a:schemeClr val="tx1"/>
                </a:solidFill>
              </a:rPr>
              <a:t>Plans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Communicate Line Stoppages </a:t>
            </a:r>
            <a:r>
              <a:rPr lang="en-IN" sz="1400" dirty="0" smtClean="0">
                <a:solidFill>
                  <a:schemeClr val="tx1"/>
                </a:solidFill>
              </a:rPr>
              <a:t>Immediately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Track and Share Real-Time Progress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761571" y="2961616"/>
            <a:ext cx="7291884" cy="1167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smtClean="0">
                <a:solidFill>
                  <a:srgbClr val="FF0000"/>
                </a:solidFill>
              </a:rPr>
              <a:t>Warehouse Department – Maintaining Data Accuracy and Stock Readiness</a:t>
            </a:r>
          </a:p>
          <a:p>
            <a:endParaRPr lang="en-GB" sz="14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 smtClean="0">
                <a:solidFill>
                  <a:schemeClr val="tx1"/>
                </a:solidFill>
              </a:rPr>
              <a:t>Ensure Accurate Stock Data Maintenance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Fetch and Share Stock Data Correctly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Support Cutting Material Availability Checks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61571" y="4168885"/>
            <a:ext cx="7291884" cy="1347033"/>
          </a:xfrm>
          <a:prstGeom prst="rect">
            <a:avLst/>
          </a:prstGeom>
          <a:solidFill>
            <a:srgbClr val="C00000">
              <a:alpha val="42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bg1"/>
                </a:solidFill>
              </a:rPr>
              <a:t>Planning Department – Driving Accurate Schedules and </a:t>
            </a:r>
            <a:r>
              <a:rPr lang="en-GB" sz="1400" dirty="0" smtClean="0">
                <a:solidFill>
                  <a:schemeClr val="bg1"/>
                </a:solidFill>
              </a:rPr>
              <a:t>Coordination</a:t>
            </a:r>
          </a:p>
          <a:p>
            <a:endParaRPr lang="en-GB" sz="1400" dirty="0" smtClean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Maintain Accurate Planning </a:t>
            </a:r>
            <a:r>
              <a:rPr lang="en-IN" sz="1400" dirty="0" smtClean="0">
                <a:solidFill>
                  <a:schemeClr val="tx1"/>
                </a:solidFill>
              </a:rPr>
              <a:t>Data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Update Schedules </a:t>
            </a:r>
            <a:r>
              <a:rPr lang="en-IN" sz="1400" dirty="0" smtClean="0">
                <a:solidFill>
                  <a:schemeClr val="tx1"/>
                </a:solidFill>
              </a:rPr>
              <a:t>Promptly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Coordinate Closely with Other </a:t>
            </a:r>
            <a:r>
              <a:rPr lang="en-GB" sz="1400" dirty="0" smtClean="0">
                <a:solidFill>
                  <a:schemeClr val="tx1"/>
                </a:solidFill>
              </a:rPr>
              <a:t>Departments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Escalate Issues </a:t>
            </a:r>
            <a:r>
              <a:rPr lang="en-IN" sz="1400" dirty="0" smtClean="0">
                <a:solidFill>
                  <a:schemeClr val="tx1"/>
                </a:solidFill>
              </a:rPr>
              <a:t>Proactively</a:t>
            </a:r>
            <a:endParaRPr lang="en-GB" sz="1400" dirty="0" smtClean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0643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Key Responsibilities For 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Management Report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64834" y="902460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Assigned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5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144981" y="897858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Ready to </a:t>
            </a:r>
            <a:r>
              <a:rPr lang="en-IN" sz="1600" dirty="0" smtClean="0"/>
              <a:t>Cutting</a:t>
            </a:r>
          </a:p>
          <a:p>
            <a:pPr algn="ctr"/>
            <a:r>
              <a:rPr lang="en-GB" sz="1600" dirty="0"/>
              <a:t>3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5966691" y="905547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❌ Not </a:t>
            </a:r>
            <a:r>
              <a:rPr lang="en-IN" sz="1600" dirty="0" smtClean="0"/>
              <a:t>Ready</a:t>
            </a:r>
          </a:p>
          <a:p>
            <a:pPr algn="ctr"/>
            <a:r>
              <a:rPr lang="en-GB" sz="1600" dirty="0" smtClean="0"/>
              <a:t>1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913090" y="897730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⚠ </a:t>
            </a:r>
            <a:r>
              <a:rPr lang="en-IN" dirty="0"/>
              <a:t>Escalated </a:t>
            </a:r>
            <a:endParaRPr lang="en-IN" dirty="0" smtClean="0"/>
          </a:p>
          <a:p>
            <a:pPr algn="ctr"/>
            <a:r>
              <a:rPr lang="en-GB" dirty="0"/>
              <a:t>1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64834" y="1922330"/>
          <a:ext cx="84512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255"/>
                <a:gridCol w="1690255"/>
                <a:gridCol w="1690255"/>
                <a:gridCol w="1690255"/>
                <a:gridCol w="1690255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Day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PO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Article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Material Status</a:t>
                      </a:r>
                      <a:r>
                        <a:rPr lang="en-GB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AP11CO5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 smtClean="0"/>
                        <a:t>Samba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✅ OK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415637" y="3942229"/>
          <a:ext cx="11203709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54"/>
                <a:gridCol w="785091"/>
                <a:gridCol w="868218"/>
                <a:gridCol w="1797398"/>
                <a:gridCol w="853438"/>
                <a:gridCol w="1016000"/>
                <a:gridCol w="923637"/>
                <a:gridCol w="905163"/>
                <a:gridCol w="1752139"/>
                <a:gridCol w="112037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Article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Shortage</a:t>
                      </a:r>
                      <a:r>
                        <a:rPr lang="en-GB" sz="1400" baseline="0" dirty="0" smtClean="0"/>
                        <a:t>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Invoice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ETA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1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OK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INV-MAT-20240620-0048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0980" y="359281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350980" y="358358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3163450" y="3480508"/>
            <a:ext cx="745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By default the field takes short material status </a:t>
            </a:r>
            <a:r>
              <a:rPr lang="en-GB" dirty="0" err="1" smtClean="0"/>
              <a:t>po</a:t>
            </a:r>
            <a:r>
              <a:rPr lang="en-GB" dirty="0" smtClean="0"/>
              <a:t> in ascending order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46" idx="1"/>
            <a:endCxn id="14" idx="3"/>
          </p:cNvCxnSpPr>
          <p:nvPr/>
        </p:nvCxnSpPr>
        <p:spPr>
          <a:xfrm flipH="1">
            <a:off x="2964871" y="2811851"/>
            <a:ext cx="4987633" cy="9287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50980" y="572422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350980" y="571498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126510" y="5736459"/>
            <a:ext cx="5343236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Enter Issue</a:t>
            </a:r>
            <a:endParaRPr lang="en-IN" sz="1400" dirty="0"/>
          </a:p>
        </p:txBody>
      </p:sp>
      <p:sp>
        <p:nvSpPr>
          <p:cNvPr id="23" name="Rectangle 22"/>
          <p:cNvSpPr/>
          <p:nvPr/>
        </p:nvSpPr>
        <p:spPr>
          <a:xfrm>
            <a:off x="3126510" y="572722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Issue</a:t>
            </a:r>
            <a:endParaRPr lang="en-IN" sz="1400" dirty="0"/>
          </a:p>
        </p:txBody>
      </p:sp>
      <p:sp>
        <p:nvSpPr>
          <p:cNvPr id="26" name="Rounded Rectangle 25"/>
          <p:cNvSpPr/>
          <p:nvPr/>
        </p:nvSpPr>
        <p:spPr>
          <a:xfrm>
            <a:off x="8811490" y="5727224"/>
            <a:ext cx="1016001" cy="3047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4834" y="644700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350980" y="643777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3228107" y="6419311"/>
            <a:ext cx="1016001" cy="30479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Check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28104" y="1576263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PO Readiness List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228104" y="3179582"/>
            <a:ext cx="5089237" cy="2863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Material Checklist by PO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53509" y="5360256"/>
            <a:ext cx="5089237" cy="2863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Raise Escalations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228104" y="6082503"/>
            <a:ext cx="5089237" cy="28632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Request store verification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4834" y="487780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2025/07/05</a:t>
            </a:r>
            <a:endParaRPr lang="en-IN" dirty="0"/>
          </a:p>
        </p:txBody>
      </p:sp>
      <p:sp>
        <p:nvSpPr>
          <p:cNvPr id="37" name="Rectangle 36"/>
          <p:cNvSpPr/>
          <p:nvPr/>
        </p:nvSpPr>
        <p:spPr>
          <a:xfrm>
            <a:off x="364834" y="47854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Day</a:t>
            </a:r>
            <a:endParaRPr lang="en-IN" sz="1400" dirty="0"/>
          </a:p>
        </p:txBody>
      </p:sp>
      <p:sp>
        <p:nvSpPr>
          <p:cNvPr id="38" name="Rectangle 37"/>
          <p:cNvSpPr/>
          <p:nvPr/>
        </p:nvSpPr>
        <p:spPr>
          <a:xfrm>
            <a:off x="3144981" y="483797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39" name="Rectangle 38"/>
          <p:cNvSpPr/>
          <p:nvPr/>
        </p:nvSpPr>
        <p:spPr>
          <a:xfrm>
            <a:off x="3144981" y="47456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40" name="Rectangle 39"/>
          <p:cNvSpPr/>
          <p:nvPr/>
        </p:nvSpPr>
        <p:spPr>
          <a:xfrm>
            <a:off x="5925128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1" name="Rectangle 40"/>
          <p:cNvSpPr/>
          <p:nvPr/>
        </p:nvSpPr>
        <p:spPr>
          <a:xfrm>
            <a:off x="5925128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42" name="Rectangle 41"/>
          <p:cNvSpPr/>
          <p:nvPr/>
        </p:nvSpPr>
        <p:spPr>
          <a:xfrm>
            <a:off x="8705275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3" name="Rectangle 42"/>
          <p:cNvSpPr/>
          <p:nvPr/>
        </p:nvSpPr>
        <p:spPr>
          <a:xfrm>
            <a:off x="8705275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45" name="Rounded Rectangle 44"/>
          <p:cNvSpPr/>
          <p:nvPr/>
        </p:nvSpPr>
        <p:spPr>
          <a:xfrm>
            <a:off x="7952504" y="2328536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6" name="Rounded Rectangle 45"/>
          <p:cNvSpPr/>
          <p:nvPr/>
        </p:nvSpPr>
        <p:spPr>
          <a:xfrm>
            <a:off x="7952504" y="2687160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>
            <a:off x="30643" y="-10948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Line Supervisor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8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27889" y="1231078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Total POs </a:t>
            </a:r>
            <a:r>
              <a:rPr lang="en-IN" sz="1600" dirty="0" smtClean="0"/>
              <a:t>Today</a:t>
            </a:r>
          </a:p>
          <a:p>
            <a:pPr algn="ctr"/>
            <a:r>
              <a:rPr lang="en-IN" sz="1600" dirty="0" smtClean="0"/>
              <a:t>28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011056" y="1231077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Fully Ready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 smtClean="0"/>
              <a:t>19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5902034" y="1231077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🚫 Shortage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7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793012" y="1231076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🔁 Delayed </a:t>
            </a:r>
            <a:r>
              <a:rPr lang="en-IN" dirty="0" smtClean="0"/>
              <a:t>Pos</a:t>
            </a:r>
          </a:p>
          <a:p>
            <a:pPr algn="ctr"/>
            <a:r>
              <a:rPr lang="en-GB" dirty="0"/>
              <a:t>2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55603" y="2402194"/>
          <a:ext cx="113838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924"/>
                <a:gridCol w="1136073"/>
                <a:gridCol w="1167987"/>
                <a:gridCol w="1531483"/>
                <a:gridCol w="873254"/>
                <a:gridCol w="1802840"/>
                <a:gridCol w="1551709"/>
                <a:gridCol w="840509"/>
                <a:gridCol w="1330034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Date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Model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Line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Readiness 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Delay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Action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2025/07/02</a:t>
                      </a:r>
                      <a:endParaRPr lang="en-I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Ready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1" dirty="0" smtClean="0"/>
                        <a:t>-</a:t>
                      </a:r>
                      <a:r>
                        <a:rPr lang="en-GB" sz="1800" b="1" i="1" baseline="0" dirty="0" smtClean="0"/>
                        <a:t> </a:t>
                      </a:r>
                      <a:endParaRPr lang="en-IN" sz="1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Start Cutting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STANSMITH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AP10C04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75%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❌ Short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 DAY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Escalate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1000215486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ULTIMATE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AP09CO3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⚠ Partial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2175163" y="4446874"/>
          <a:ext cx="6502400" cy="7180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 Qty</a:t>
                      </a:r>
                      <a:endParaRPr lang="en-IN" sz="1400" dirty="0"/>
                    </a:p>
                  </a:txBody>
                  <a:tcPr/>
                </a:tc>
              </a:tr>
              <a:tr h="34722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160m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40m 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769927" y="3203373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22" name="Rounded Rectangle 21"/>
          <p:cNvSpPr/>
          <p:nvPr/>
        </p:nvSpPr>
        <p:spPr>
          <a:xfrm>
            <a:off x="3168072" y="2003524"/>
            <a:ext cx="5089237" cy="2863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solidFill>
                  <a:schemeClr val="tx1"/>
                </a:solidFill>
              </a:rPr>
              <a:t>PO-Wise Material Readiness Status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168072" y="3982507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solidFill>
                  <a:schemeClr val="tx1"/>
                </a:solidFill>
              </a:rPr>
              <a:t>Material Shortage Tracker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12436" y="675705"/>
            <a:ext cx="2309092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2025/07/01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207819" y="6757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Date Range</a:t>
            </a:r>
            <a:endParaRPr lang="en-IN" sz="1400" dirty="0"/>
          </a:p>
        </p:txBody>
      </p:sp>
      <p:sp>
        <p:nvSpPr>
          <p:cNvPr id="28" name="Rectangle 27"/>
          <p:cNvSpPr/>
          <p:nvPr/>
        </p:nvSpPr>
        <p:spPr>
          <a:xfrm>
            <a:off x="2706258" y="675705"/>
            <a:ext cx="1981197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2706258" y="6757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4853715" y="683294"/>
            <a:ext cx="1597890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4853714" y="674059"/>
            <a:ext cx="722720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6601675" y="683294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3" name="Rectangle 32"/>
          <p:cNvSpPr/>
          <p:nvPr/>
        </p:nvSpPr>
        <p:spPr>
          <a:xfrm>
            <a:off x="6601674" y="674059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8544388" y="700909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5" name="Rectangle 34"/>
          <p:cNvSpPr/>
          <p:nvPr/>
        </p:nvSpPr>
        <p:spPr>
          <a:xfrm>
            <a:off x="8544387" y="691674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36" name="Bent Arrow 35"/>
          <p:cNvSpPr/>
          <p:nvPr/>
        </p:nvSpPr>
        <p:spPr>
          <a:xfrm rot="10800000">
            <a:off x="8793012" y="3471227"/>
            <a:ext cx="341752" cy="1399643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6514" y="5288575"/>
            <a:ext cx="11267118" cy="1474821"/>
          </a:xfrm>
          <a:prstGeom prst="rect">
            <a:avLst/>
          </a:prstGeom>
          <a:solidFill>
            <a:schemeClr val="accent5">
              <a:alpha val="1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61625" y="5365087"/>
            <a:ext cx="10763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Core operational view—monitor each PO’s readiness at the line level and Material-wise breakdown of </a:t>
            </a:r>
            <a:r>
              <a:rPr lang="en-GB" sz="1400" dirty="0" smtClean="0"/>
              <a:t>what’s </a:t>
            </a:r>
            <a:r>
              <a:rPr lang="en-GB" sz="1400" dirty="0"/>
              <a:t>short and how many POs are impacted</a:t>
            </a:r>
            <a:r>
              <a:rPr lang="en-GB" sz="1400" dirty="0" smtClean="0"/>
              <a:t>..</a:t>
            </a:r>
            <a:endParaRPr lang="en-IN" sz="1400" dirty="0"/>
          </a:p>
        </p:txBody>
      </p:sp>
      <p:sp>
        <p:nvSpPr>
          <p:cNvPr id="37" name="Rectangle 36"/>
          <p:cNvSpPr/>
          <p:nvPr/>
        </p:nvSpPr>
        <p:spPr>
          <a:xfrm>
            <a:off x="752389" y="6160968"/>
            <a:ext cx="107631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Benefits</a:t>
            </a:r>
            <a:r>
              <a:rPr lang="en-GB" sz="1400" dirty="0"/>
              <a:t> : Take immediate steps for POs with issues and Communicate to purchase team or prioritize allocation from existing stock.  </a:t>
            </a:r>
            <a:endParaRPr lang="en-IN" sz="1400" dirty="0"/>
          </a:p>
        </p:txBody>
      </p:sp>
      <p:sp>
        <p:nvSpPr>
          <p:cNvPr id="39" name="Rectangle 38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Plant In-charge Dashboard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3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14400" y="3858308"/>
            <a:ext cx="10741891" cy="2976228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314040" y="1309390"/>
          <a:ext cx="8179172" cy="22275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73911"/>
                <a:gridCol w="1266318"/>
                <a:gridCol w="1217881"/>
                <a:gridCol w="1280159"/>
                <a:gridCol w="1404714"/>
                <a:gridCol w="1536189"/>
              </a:tblGrid>
              <a:tr h="341874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PO NO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Plant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Shortage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Delay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Escalated To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Status</a:t>
                      </a:r>
                      <a:endParaRPr lang="en-IN" sz="16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B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 Team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⚠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Pending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Purchase Team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1000042587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6d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Warehouse Team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1000042592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</a:t>
                      </a:r>
                      <a:r>
                        <a:rPr lang="en-GB" sz="1400" baseline="0" dirty="0" smtClean="0"/>
                        <a:t> Team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1000042466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F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Purchase Team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⚠</a:t>
                      </a:r>
                      <a:r>
                        <a:rPr lang="en-IN" sz="1400" baseline="0" dirty="0" smtClean="0"/>
                        <a:t>  </a:t>
                      </a:r>
                      <a:r>
                        <a:rPr lang="en-IN" sz="1400" dirty="0" smtClean="0"/>
                        <a:t>Pending 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23273" y="3540754"/>
            <a:ext cx="2318328" cy="2493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Explanation For KPI Cards </a:t>
            </a:r>
            <a:endParaRPr lang="en-IN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715818" y="4130393"/>
          <a:ext cx="10515600" cy="216408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📦 </a:t>
                      </a:r>
                      <a:r>
                        <a:rPr lang="en-IN" sz="1400" b="1" dirty="0"/>
                        <a:t>Material Readiness %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% of POs for which all required materials are 100% available. Shows overall cutting readiness.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🚨 </a:t>
                      </a:r>
                      <a:r>
                        <a:rPr lang="en-IN" sz="1400" b="1" dirty="0"/>
                        <a:t>Open Escalations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Total number of escalated cases (shortage or delay) not yet resolved. Reflects risk and follow-up need.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📋 </a:t>
                      </a:r>
                      <a:r>
                        <a:rPr lang="en-IN" sz="1400" b="1" dirty="0"/>
                        <a:t>Total POs Today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</a:t>
                      </a:r>
                      <a:r>
                        <a:rPr lang="en-GB" sz="1400" dirty="0" smtClean="0"/>
                        <a:t>POs </a:t>
                      </a:r>
                      <a:r>
                        <a:rPr lang="en-GB" sz="1400" dirty="0"/>
                        <a:t>scheduled for cutting today. Shows daily load.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📈 </a:t>
                      </a:r>
                      <a:r>
                        <a:rPr lang="en-IN" sz="1400" b="1" dirty="0"/>
                        <a:t>Average Delay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Average days of delay for POs with shortages. Helps GM assess the severity.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232726" y="521823"/>
            <a:ext cx="4378037" cy="2677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Critical Escalated Pos : </a:t>
            </a:r>
            <a:endParaRPr lang="en-IN" b="1" i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25236" y="3858308"/>
            <a:ext cx="8525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Purpose</a:t>
            </a:r>
            <a:r>
              <a:rPr lang="en-GB" sz="1400" dirty="0"/>
              <a:t>: Give an instant overview of today’s key metrics</a:t>
            </a:r>
            <a:endParaRPr lang="en-IN" sz="1400" dirty="0"/>
          </a:p>
        </p:txBody>
      </p:sp>
      <p:sp>
        <p:nvSpPr>
          <p:cNvPr id="21" name="Rectangle 20"/>
          <p:cNvSpPr/>
          <p:nvPr/>
        </p:nvSpPr>
        <p:spPr>
          <a:xfrm>
            <a:off x="1025236" y="6425376"/>
            <a:ext cx="8525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Benefits </a:t>
            </a:r>
            <a:r>
              <a:rPr lang="en-GB" sz="1400" dirty="0"/>
              <a:t>: Quick health check of plant’s material readiness and performance for the </a:t>
            </a:r>
            <a:r>
              <a:rPr lang="en-GB" sz="1400" dirty="0" smtClean="0"/>
              <a:t>day.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23273" y="90115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323273" y="89191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4" name="Rectangle 23"/>
          <p:cNvSpPr/>
          <p:nvPr/>
        </p:nvSpPr>
        <p:spPr>
          <a:xfrm>
            <a:off x="3232726" y="90115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3232726" y="89191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6" name="Rectangle 25"/>
          <p:cNvSpPr/>
          <p:nvPr/>
        </p:nvSpPr>
        <p:spPr>
          <a:xfrm>
            <a:off x="6142179" y="89678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6142179" y="88755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9097818" y="896789"/>
            <a:ext cx="1182255" cy="2955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08540" y="1331129"/>
            <a:ext cx="3470874" cy="2221898"/>
          </a:xfrm>
          <a:prstGeom prst="rect">
            <a:avLst/>
          </a:prstGeom>
          <a:solidFill>
            <a:schemeClr val="accent1">
              <a:alpha val="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729360" y="1396251"/>
            <a:ext cx="322923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urgent POs that are delayed due to material unavailability and require attention.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8756070" y="2234711"/>
            <a:ext cx="31940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Spot improvement or decline in readiness over time. A dropping trend might signal deeper issues in supply or coordination.</a:t>
            </a:r>
            <a:endParaRPr lang="en-IN" sz="1400" dirty="0"/>
          </a:p>
        </p:txBody>
      </p:sp>
      <p:sp>
        <p:nvSpPr>
          <p:cNvPr id="4" name="Right Arrow 3"/>
          <p:cNvSpPr/>
          <p:nvPr/>
        </p:nvSpPr>
        <p:spPr>
          <a:xfrm>
            <a:off x="8295503" y="2347784"/>
            <a:ext cx="313037" cy="17299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Availability Dashboard – Plant In-charge Dashboard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49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28599" y="804320"/>
            <a:ext cx="2313711" cy="46529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📦 Material Readiness </a:t>
            </a:r>
            <a:r>
              <a:rPr lang="en-IN" sz="1400" dirty="0" smtClean="0"/>
              <a:t>%</a:t>
            </a:r>
          </a:p>
          <a:p>
            <a:pPr algn="ctr"/>
            <a:r>
              <a:rPr lang="en-IN" sz="1400" dirty="0"/>
              <a:t>82%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1913" y="822790"/>
            <a:ext cx="3915244" cy="44091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🚨 Open </a:t>
            </a:r>
            <a:r>
              <a:rPr lang="en-IN" sz="1400" dirty="0" smtClean="0"/>
              <a:t>Escalations (issues not yet resolved)</a:t>
            </a:r>
          </a:p>
          <a:p>
            <a:pPr algn="ctr"/>
            <a:r>
              <a:rPr lang="en-GB" sz="1400" dirty="0"/>
              <a:t>5</a:t>
            </a:r>
            <a:endParaRPr lang="en-IN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6801332" y="822060"/>
            <a:ext cx="1971964" cy="4416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📋 Total POs </a:t>
            </a:r>
            <a:r>
              <a:rPr lang="en-IN" sz="1400" dirty="0" smtClean="0"/>
              <a:t>Today</a:t>
            </a:r>
          </a:p>
          <a:p>
            <a:pPr algn="ctr"/>
            <a:r>
              <a:rPr lang="en-GB" sz="1400" dirty="0" smtClean="0"/>
              <a:t>36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9032401" y="822060"/>
            <a:ext cx="1846299" cy="44164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📈 Avg </a:t>
            </a:r>
            <a:r>
              <a:rPr lang="en-IN" sz="1600" dirty="0" smtClean="0"/>
              <a:t>Delay</a:t>
            </a:r>
          </a:p>
          <a:p>
            <a:pPr algn="ctr"/>
            <a:r>
              <a:rPr lang="en-GB" sz="1600" dirty="0" smtClean="0"/>
              <a:t>2.1 days</a:t>
            </a:r>
            <a:endParaRPr lang="en-IN" sz="1600" dirty="0"/>
          </a:p>
        </p:txBody>
      </p:sp>
      <p:graphicFrame>
        <p:nvGraphicFramePr>
          <p:cNvPr id="11" name="Chart 10"/>
          <p:cNvGraphicFramePr/>
          <p:nvPr>
            <p:extLst/>
          </p:nvPr>
        </p:nvGraphicFramePr>
        <p:xfrm>
          <a:off x="244762" y="1319126"/>
          <a:ext cx="6156037" cy="1805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228599" y="3431022"/>
          <a:ext cx="6496809" cy="1836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5603"/>
                <a:gridCol w="2165603"/>
                <a:gridCol w="2165603"/>
              </a:tblGrid>
              <a:tr h="31212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Short Quantity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Affected</a:t>
                      </a:r>
                      <a:r>
                        <a:rPr lang="en-GB" sz="1400" baseline="0" dirty="0" smtClean="0"/>
                        <a:t> Pos </a:t>
                      </a:r>
                      <a:endParaRPr lang="en-IN" sz="1400" dirty="0"/>
                    </a:p>
                  </a:txBody>
                  <a:tcPr/>
                </a:tc>
              </a:tr>
              <a:tr h="2726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FTWR WHITE 01F7 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340m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3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1.4MM ECO SOFT MATTE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220m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8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CEMENT TWICE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165m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21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WHITE LATEX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100m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4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ST-A990-06E EPM5 MESH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92m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611" y="5446243"/>
            <a:ext cx="2448725" cy="1514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Rounded Rectangle 21"/>
          <p:cNvSpPr/>
          <p:nvPr/>
        </p:nvSpPr>
        <p:spPr>
          <a:xfrm>
            <a:off x="228599" y="3155943"/>
            <a:ext cx="1921477" cy="24938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i="1" dirty="0">
                <a:solidFill>
                  <a:schemeClr val="tx1"/>
                </a:solidFill>
              </a:rPr>
              <a:t>Top 5 Short Materials :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329" y="5446243"/>
            <a:ext cx="2426981" cy="9875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Cutting Availability Trend ( Weekly ) ( Line Wise )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4762" y="439105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2025/07/01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244762" y="42987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Date Range</a:t>
            </a:r>
            <a:endParaRPr lang="en-IN" sz="1400" dirty="0"/>
          </a:p>
        </p:txBody>
      </p:sp>
      <p:sp>
        <p:nvSpPr>
          <p:cNvPr id="26" name="Rectangle 25"/>
          <p:cNvSpPr/>
          <p:nvPr/>
        </p:nvSpPr>
        <p:spPr>
          <a:xfrm>
            <a:off x="3038764" y="44010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3038764" y="430867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8" name="Rectangle 27"/>
          <p:cNvSpPr/>
          <p:nvPr/>
        </p:nvSpPr>
        <p:spPr>
          <a:xfrm>
            <a:off x="5906030" y="448340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5906030" y="4391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8773296" y="439105"/>
            <a:ext cx="1182255" cy="28632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Submit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6497157" y="1317232"/>
            <a:ext cx="5604227" cy="1800138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97159" y="1431246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Compare different plants to see which ones are better prepared for cutting.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6528861" y="2019541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Description</a:t>
            </a:r>
            <a:r>
              <a:rPr lang="en-GB" sz="1400" dirty="0" smtClean="0"/>
              <a:t> : Shows </a:t>
            </a:r>
            <a:r>
              <a:rPr lang="en-GB" sz="1400" dirty="0"/>
              <a:t>% of material availability across all assigned POs</a:t>
            </a:r>
            <a:endParaRPr lang="en-IN" sz="1400" dirty="0"/>
          </a:p>
        </p:txBody>
      </p:sp>
      <p:sp>
        <p:nvSpPr>
          <p:cNvPr id="33" name="Rectangle 32"/>
          <p:cNvSpPr/>
          <p:nvPr/>
        </p:nvSpPr>
        <p:spPr>
          <a:xfrm>
            <a:off x="6497159" y="2589365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Identify which plant is performing well and where attention or escalation is needed</a:t>
            </a:r>
            <a:r>
              <a:rPr lang="en-GB" sz="1400" dirty="0" smtClean="0"/>
              <a:t>. 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6819319" y="3438277"/>
            <a:ext cx="5282065" cy="1800988"/>
          </a:xfrm>
          <a:prstGeom prst="rect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909204" y="3690698"/>
            <a:ext cx="5140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the most frequently short or unavailable materials, across all POs.</a:t>
            </a:r>
            <a:endParaRPr lang="en-IN" sz="1400" dirty="0"/>
          </a:p>
        </p:txBody>
      </p:sp>
      <p:sp>
        <p:nvSpPr>
          <p:cNvPr id="36" name="Rectangle 35"/>
          <p:cNvSpPr/>
          <p:nvPr/>
        </p:nvSpPr>
        <p:spPr>
          <a:xfrm>
            <a:off x="6909204" y="4404674"/>
            <a:ext cx="5192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Quickly identify which raw materials are causing the biggest disruptions—helps guide procurement priorities</a:t>
            </a:r>
            <a:endParaRPr lang="en-IN" sz="1400" dirty="0"/>
          </a:p>
        </p:txBody>
      </p:sp>
      <p:sp>
        <p:nvSpPr>
          <p:cNvPr id="37" name="Rectangle 36"/>
          <p:cNvSpPr/>
          <p:nvPr/>
        </p:nvSpPr>
        <p:spPr>
          <a:xfrm>
            <a:off x="5652654" y="5430021"/>
            <a:ext cx="6397509" cy="1333244"/>
          </a:xfrm>
          <a:prstGeom prst="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785955" y="5602754"/>
            <a:ext cx="45575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Visualize the trend of material readiness over time</a:t>
            </a:r>
            <a:endParaRPr lang="en-IN" sz="1400" dirty="0"/>
          </a:p>
        </p:txBody>
      </p:sp>
      <p:sp>
        <p:nvSpPr>
          <p:cNvPr id="39" name="Rectangle 38"/>
          <p:cNvSpPr/>
          <p:nvPr/>
        </p:nvSpPr>
        <p:spPr>
          <a:xfrm>
            <a:off x="5785955" y="6048444"/>
            <a:ext cx="59746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Spot improvement or decline in readiness over time. A dropping trend might signal deeper issues in supply or coordination.</a:t>
            </a:r>
            <a:endParaRPr lang="en-IN" sz="1400" dirty="0"/>
          </a:p>
        </p:txBody>
      </p:sp>
      <p:sp>
        <p:nvSpPr>
          <p:cNvPr id="41" name="Rectangle 40"/>
          <p:cNvSpPr/>
          <p:nvPr/>
        </p:nvSpPr>
        <p:spPr>
          <a:xfrm>
            <a:off x="0" y="-17105"/>
            <a:ext cx="12160038" cy="392926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Availability Dashboard – Top Management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1066" y="-6157"/>
            <a:ext cx="465680" cy="36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17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128067" y="691704"/>
          <a:ext cx="11942612" cy="324288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85653"/>
                <a:gridCol w="2985653"/>
                <a:gridCol w="2985653"/>
                <a:gridCol w="2985653"/>
              </a:tblGrid>
              <a:tr h="326043">
                <a:tc>
                  <a:txBody>
                    <a:bodyPr/>
                    <a:lstStyle/>
                    <a:p>
                      <a:r>
                        <a:rPr lang="en-IN" sz="1400" dirty="0"/>
                        <a:t>Escalation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Trigger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Target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Medium</a:t>
                      </a:r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Material Shortage Alert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Required material not available in stock &amp; no PO before CRD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Purchase, 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Email, </a:t>
                      </a:r>
                      <a:r>
                        <a:rPr lang="en-IN" sz="1400" dirty="0" err="1"/>
                        <a:t>WhatsApp</a:t>
                      </a:r>
                      <a:endParaRPr lang="en-IN" sz="140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Delayed PO Delivery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PO delivery date exceeds CRD or cutting plan date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Purchase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Email, </a:t>
                      </a:r>
                      <a:r>
                        <a:rPr lang="en-IN" sz="1400" dirty="0" err="1"/>
                        <a:t>WhatsApp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Cutting Plan at Risk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Material not ready 2 days before scheduled cutting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Planning, Production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WhatsApp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Line Stoppage Notification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Production halted due to missing material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Planning, Purchase, Warehouse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Email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Material Fetch Delay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Material request issued but not fetched from warehouse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Warehouse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WhatsApp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326043">
                <a:tc>
                  <a:txBody>
                    <a:bodyPr/>
                    <a:lstStyle/>
                    <a:p>
                      <a:r>
                        <a:rPr lang="en-IN" sz="1400" dirty="0"/>
                        <a:t>Schedule Escalation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Cutting not started on planned date</a:t>
                      </a:r>
                      <a:endParaRPr lang="en-GB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Email</a:t>
                      </a:r>
                      <a:endParaRPr lang="en-IN" sz="1400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Mail Escalations And WhatsApp Escalations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53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3325091" y="1248903"/>
            <a:ext cx="8672944" cy="5475170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2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52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Data Connectivity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for Cutting 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Report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325091" y="641197"/>
            <a:ext cx="8672944" cy="5286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30644" y="641197"/>
            <a:ext cx="3128193" cy="52862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Data Transform From SAP to Oracle</a:t>
            </a:r>
            <a:endParaRPr lang="en-IN"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3686757" y="688454"/>
            <a:ext cx="1688885" cy="43410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SAP System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6442364" y="701965"/>
            <a:ext cx="2022764" cy="43410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FMS – ETL Process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9559637" y="688455"/>
            <a:ext cx="1782618" cy="43410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Oracle Database</a:t>
            </a:r>
            <a:endParaRPr lang="en-IN" sz="1600" dirty="0"/>
          </a:p>
        </p:txBody>
      </p:sp>
      <p:cxnSp>
        <p:nvCxnSpPr>
          <p:cNvPr id="14" name="Straight Arrow Connector 13"/>
          <p:cNvCxnSpPr>
            <a:stCxn id="4" idx="3"/>
          </p:cNvCxnSpPr>
          <p:nvPr/>
        </p:nvCxnSpPr>
        <p:spPr>
          <a:xfrm flipV="1">
            <a:off x="5375642" y="905508"/>
            <a:ext cx="106672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8479021" y="919019"/>
            <a:ext cx="106672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643" y="1236943"/>
            <a:ext cx="3128193" cy="5487130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6600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52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6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ounded Rectangle 17"/>
          <p:cNvSpPr/>
          <p:nvPr/>
        </p:nvSpPr>
        <p:spPr>
          <a:xfrm>
            <a:off x="477139" y="1882504"/>
            <a:ext cx="2068946" cy="39716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SAP to Oracle ( Via FMS )</a:t>
            </a:r>
            <a:endParaRPr lang="en-IN" sz="1400" dirty="0"/>
          </a:p>
        </p:txBody>
      </p:sp>
      <p:sp>
        <p:nvSpPr>
          <p:cNvPr id="19" name="Rounded Rectangle 18"/>
          <p:cNvSpPr/>
          <p:nvPr/>
        </p:nvSpPr>
        <p:spPr>
          <a:xfrm>
            <a:off x="471054" y="3193445"/>
            <a:ext cx="2068947" cy="39716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Oracle to Backend</a:t>
            </a:r>
            <a:endParaRPr lang="en-IN" sz="1400" dirty="0"/>
          </a:p>
        </p:txBody>
      </p:sp>
      <p:sp>
        <p:nvSpPr>
          <p:cNvPr id="20" name="Rounded Rectangle 19"/>
          <p:cNvSpPr/>
          <p:nvPr/>
        </p:nvSpPr>
        <p:spPr>
          <a:xfrm>
            <a:off x="471054" y="4504385"/>
            <a:ext cx="2068947" cy="3971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Backend to Frontend</a:t>
            </a:r>
            <a:endParaRPr lang="en-IN"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471054" y="5836893"/>
            <a:ext cx="2068947" cy="39716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Frontend Vue.js</a:t>
            </a:r>
            <a:endParaRPr lang="en-IN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15321" y="1248903"/>
            <a:ext cx="3158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smtClean="0"/>
              <a:t>Cutting Material Management Report</a:t>
            </a:r>
          </a:p>
          <a:p>
            <a:r>
              <a:rPr lang="en-GB" sz="1400" b="1" dirty="0"/>
              <a:t> </a:t>
            </a:r>
            <a:r>
              <a:rPr lang="en-GB" sz="1400" b="1" dirty="0" smtClean="0"/>
              <a:t>                       Data Flow</a:t>
            </a:r>
            <a:endParaRPr lang="en-IN" sz="1400" b="1" dirty="0"/>
          </a:p>
        </p:txBody>
      </p:sp>
      <p:sp>
        <p:nvSpPr>
          <p:cNvPr id="23" name="Rectangle 22"/>
          <p:cNvSpPr/>
          <p:nvPr/>
        </p:nvSpPr>
        <p:spPr>
          <a:xfrm>
            <a:off x="3400431" y="1600028"/>
            <a:ext cx="8311278" cy="9605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FMS runs automatically at a defined time (e.g., 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Before 11:30 PM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daily).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Extracts relevant data (Done Cutting materials) from SAP using T-Code.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Transforms and pushes the data to Oracle DB tables</a:t>
            </a:r>
            <a:endParaRPr lang="en-IN" sz="1400" dirty="0"/>
          </a:p>
        </p:txBody>
      </p:sp>
      <p:sp>
        <p:nvSpPr>
          <p:cNvPr id="25" name="Rectangle 24"/>
          <p:cNvSpPr/>
          <p:nvPr/>
        </p:nvSpPr>
        <p:spPr>
          <a:xfrm>
            <a:off x="3400431" y="2911735"/>
            <a:ext cx="8311278" cy="9605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Backend (C# API) queries relevant Oracle tables.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Applies any required business logic (e.g., grouping, filtering, validation).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0431" y="4196727"/>
            <a:ext cx="8311278" cy="98655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API exposes endpoints for the Vue.js frontend to 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consume. 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 Unicode MS" panose="020B0604020202020204" pitchFamily="34" charset="-128"/>
              </a:rPr>
              <a:t>/</a:t>
            </a:r>
            <a:r>
              <a:rPr lang="en-US" sz="1400" dirty="0" smtClean="0">
                <a:solidFill>
                  <a:schemeClr val="tx1"/>
                </a:solidFill>
                <a:latin typeface="Arial Unicode MS" panose="020B0604020202020204" pitchFamily="34" charset="-128"/>
              </a:rPr>
              <a:t>api/materials/done-cutting. </a:t>
            </a:r>
            <a:endParaRPr lang="en-US" sz="14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Supports filtering by date, batch, material type, etc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400431" y="5559801"/>
            <a:ext cx="8311278" cy="9513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Dashboards / Reports showing Done Cutting data.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Features: filtering, searching, exporting to Excel/PDF, pagination</a:t>
            </a:r>
            <a:endParaRPr lang="en-IN" sz="1400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1394691" y="2279668"/>
            <a:ext cx="9236" cy="913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1385455" y="3569040"/>
            <a:ext cx="9236" cy="913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1370135" y="4876012"/>
            <a:ext cx="9236" cy="913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6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437123"/>
              </p:ext>
            </p:extLst>
          </p:nvPr>
        </p:nvGraphicFramePr>
        <p:xfrm>
          <a:off x="808136" y="1566418"/>
          <a:ext cx="9316166" cy="523391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{68D230F3-CF80-4859-8CE7-A43EE81993B5}</a:tableStyleId>
              </a:tblPr>
              <a:tblGrid>
                <a:gridCol w="1059646"/>
                <a:gridCol w="748072"/>
                <a:gridCol w="624604"/>
                <a:gridCol w="928571"/>
                <a:gridCol w="1118647"/>
                <a:gridCol w="1152223"/>
                <a:gridCol w="1479159"/>
                <a:gridCol w="1102622"/>
                <a:gridCol w="1102622"/>
              </a:tblGrid>
              <a:tr h="93687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Schedule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Sales Order 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Order Quantity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Material 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BOM Dosage Qty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PURCHASE </a:t>
                      </a:r>
                      <a:r>
                        <a:rPr lang="en-IN" sz="1400" b="1" u="none" strike="noStrike" dirty="0" smtClean="0">
                          <a:effectLst/>
                        </a:rPr>
                        <a:t>Quantity 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>
                          <a:effectLst/>
                        </a:rPr>
                        <a:t>FETCHING </a:t>
                      </a:r>
                      <a:r>
                        <a:rPr lang="en-IN" sz="1400" b="1" u="none" strike="noStrike" smtClean="0">
                          <a:effectLst/>
                        </a:rPr>
                        <a:t>Quantity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 smtClean="0">
                          <a:effectLst/>
                        </a:rPr>
                        <a:t>Fetching </a:t>
                      </a:r>
                      <a:r>
                        <a:rPr lang="en-IN" sz="1400" b="1" u="none" strike="noStrike" dirty="0" err="1" smtClean="0">
                          <a:effectLst/>
                        </a:rPr>
                        <a:t>Isuue</a:t>
                      </a:r>
                      <a:r>
                        <a:rPr lang="en-IN" sz="1400" b="1" u="none" strike="noStrike" dirty="0" smtClean="0">
                          <a:effectLst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GB" sz="14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Qty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Fetching Un-issue</a:t>
                      </a:r>
                      <a:r>
                        <a:rPr lang="en-GB" sz="14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400" b="1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Qty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2699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2025/06/20</a:t>
                      </a:r>
                      <a:r>
                        <a:rPr lang="en-GB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</a:t>
                      </a:r>
                    </a:p>
                    <a:p>
                      <a:pPr algn="ctr" fontAlgn="ctr"/>
                      <a:r>
                        <a:rPr lang="en-GB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2025/06/25</a:t>
                      </a:r>
                      <a:endParaRPr lang="en-IN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 smtClean="0">
                          <a:effectLst/>
                        </a:rPr>
                        <a:t>1000241164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 smtClean="0">
                          <a:effectLst/>
                        </a:rPr>
                        <a:t>234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3100169880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2.099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21.201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2.104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2.104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4010201784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277.43972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1,415.70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139.658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139.658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4010400004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96.13403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510.488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51.704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51.704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4020100305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0.8481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8.648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0.853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0.853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4020109418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2.466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25.131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2.471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2.471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4030800019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4.1808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42.333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4.184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4.184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4040300029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468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Purchase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No Fetching Data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Data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4040402608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Purchase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Fetching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Data</a:t>
                      </a:r>
                      <a:endParaRPr lang="en-IN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4040403276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Purchase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Fetching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Data</a:t>
                      </a:r>
                      <a:endParaRPr lang="en-IN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4040600043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14.1904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142.619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14.201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 smtClean="0">
                          <a:effectLst/>
                        </a:rPr>
                        <a:t>14.201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4040600041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28.7144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399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28.723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dirty="0" smtClean="0">
                          <a:effectLst/>
                        </a:rPr>
                        <a:t>28.723</a:t>
                      </a:r>
                      <a:endParaRPr lang="en-IN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Track Material Process flow in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SAP For One PO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3845" y="580062"/>
            <a:ext cx="11847049" cy="759211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/>
              <a:t>The Material information for SO ( 1000241184 ) from SAP.    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8697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Sales Order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4178" y="616290"/>
            <a:ext cx="4628540" cy="6241710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GB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This slide presents the extraction of key order information directly from SAP for reference and processing</a:t>
            </a:r>
            <a:r>
              <a:rPr lang="en-GB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Displays the complete order overview, including customer </a:t>
            </a:r>
            <a:r>
              <a:rPr lang="en-GB" dirty="0" smtClean="0"/>
              <a:t>information, </a:t>
            </a:r>
            <a:r>
              <a:rPr lang="en-GB" dirty="0"/>
              <a:t>and delivery details</a:t>
            </a:r>
            <a:r>
              <a:rPr lang="en-GB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T-Code : VA03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accent2"/>
                </a:solidFill>
              </a:rPr>
              <a:t>SO Details : 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 smtClean="0"/>
              <a:t>Sales Order : 1000241184 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 smtClean="0"/>
              <a:t>Sales Order Total Quantity : 287 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 smtClean="0"/>
              <a:t>Material </a:t>
            </a:r>
            <a:r>
              <a:rPr lang="en-GB" dirty="0"/>
              <a:t>: </a:t>
            </a:r>
            <a:r>
              <a:rPr lang="en-GB" dirty="0" smtClean="0"/>
              <a:t>3100160891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644" y="569476"/>
            <a:ext cx="6855746" cy="624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Planning Schedule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3605" y="646463"/>
            <a:ext cx="11898147" cy="1585992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This </a:t>
            </a:r>
            <a:r>
              <a:rPr lang="en-GB" dirty="0"/>
              <a:t>slide presents </a:t>
            </a:r>
            <a:r>
              <a:rPr lang="en-GB" dirty="0" smtClean="0"/>
              <a:t>the planning schedule dates for a Sales order.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T-Code : ZPP003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accent2"/>
                </a:solidFill>
              </a:rPr>
              <a:t>SO Details : 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 smtClean="0"/>
              <a:t>Sales Order : 1000241184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 smtClean="0"/>
              <a:t>Sales Order Total Quantity : 287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05" y="2299368"/>
            <a:ext cx="11957177" cy="271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6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BOM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0603" y="617007"/>
            <a:ext cx="8766306" cy="96066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This </a:t>
            </a:r>
            <a:r>
              <a:rPr lang="en-GB" dirty="0"/>
              <a:t>slide </a:t>
            </a:r>
            <a:r>
              <a:rPr lang="en-GB" dirty="0" smtClean="0"/>
              <a:t>provides </a:t>
            </a:r>
            <a:r>
              <a:rPr lang="en-GB" dirty="0"/>
              <a:t>a summary of the total dosage quantity for one specific material</a:t>
            </a:r>
            <a:r>
              <a:rPr lang="en-GB" dirty="0" smtClean="0"/>
              <a:t>.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Displays the complete </a:t>
            </a:r>
            <a:r>
              <a:rPr lang="en-GB" dirty="0" smtClean="0"/>
              <a:t>BOM overview with total dosage quantity for cutting material only using the t-code ( ZMM123 ) 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85895" y="617007"/>
            <a:ext cx="2858654" cy="96066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200" b="1" dirty="0">
                <a:solidFill>
                  <a:schemeClr val="accent2"/>
                </a:solidFill>
              </a:rPr>
              <a:t>SO Details :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: </a:t>
            </a:r>
            <a:r>
              <a:rPr lang="en-GB" sz="1200" dirty="0" smtClean="0"/>
              <a:t>1000241184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Total Quantity : </a:t>
            </a:r>
            <a:r>
              <a:rPr lang="en-GB" sz="1200" dirty="0" smtClean="0"/>
              <a:t>287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Material : 3100160891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3" y="1810910"/>
            <a:ext cx="12053459" cy="354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2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PURCHASE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5480" y="580366"/>
            <a:ext cx="8890047" cy="941155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The Requirement quantity and allocated quantity and purchase quantity of material using t-code ( ZMM017_BB ) 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16476" y="3290700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FETCHING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6420" y="3301000"/>
            <a:ext cx="465680" cy="45848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35479" y="3875160"/>
            <a:ext cx="8890047" cy="943283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The Fetching Details for material using t-code ( ZPP005B ) 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9240672" y="570611"/>
            <a:ext cx="2858654" cy="96066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200" b="1" dirty="0">
                <a:solidFill>
                  <a:schemeClr val="accent2"/>
                </a:solidFill>
              </a:rPr>
              <a:t>SO Details :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: </a:t>
            </a:r>
            <a:r>
              <a:rPr lang="en-GB" sz="1200" dirty="0" smtClean="0"/>
              <a:t>1000241184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Total Quantity : </a:t>
            </a:r>
            <a:r>
              <a:rPr lang="en-GB" sz="1200" dirty="0" smtClean="0"/>
              <a:t>287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Material : 3100160891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01384" y="3857780"/>
            <a:ext cx="2858654" cy="96066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200" b="1" dirty="0">
                <a:solidFill>
                  <a:schemeClr val="accent2"/>
                </a:solidFill>
              </a:rPr>
              <a:t>SO Details :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: </a:t>
            </a:r>
            <a:r>
              <a:rPr lang="en-GB" sz="1200" dirty="0" smtClean="0"/>
              <a:t>1000241184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Total Quantity : </a:t>
            </a:r>
            <a:r>
              <a:rPr lang="en-GB" sz="1200" dirty="0" smtClean="0"/>
              <a:t>287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Material : 3100160891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79" y="1653066"/>
            <a:ext cx="11826957" cy="14278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79" y="4907044"/>
            <a:ext cx="11782307" cy="153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2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WAREHOUSE STOCK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5489" y="552996"/>
            <a:ext cx="11167884" cy="519066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The warehouse stock for upper Material using the t-code ( MB51 )  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34160" y="4041291"/>
            <a:ext cx="11167884" cy="579101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  <a:ln w="28575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The material information using the t-code ( ZMM113 ) 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60" y="4801007"/>
            <a:ext cx="11879893" cy="1660260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0" y="1163943"/>
            <a:ext cx="11050542" cy="276263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012994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49" y="1171842"/>
            <a:ext cx="7667840" cy="4308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5871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1600</Words>
  <Application>Microsoft Office PowerPoint</Application>
  <PresentationFormat>Widescreen</PresentationFormat>
  <Paragraphs>485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 Unicode MS</vt:lpstr>
      <vt:lpstr>72 Black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21</cp:revision>
  <dcterms:created xsi:type="dcterms:W3CDTF">2025-07-10T05:57:00Z</dcterms:created>
  <dcterms:modified xsi:type="dcterms:W3CDTF">2025-07-18T11:40:49Z</dcterms:modified>
</cp:coreProperties>
</file>