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4" r:id="rId2"/>
    <p:sldId id="257" r:id="rId3"/>
    <p:sldId id="271" r:id="rId4"/>
    <p:sldId id="264" r:id="rId5"/>
    <p:sldId id="265" r:id="rId6"/>
    <p:sldId id="266" r:id="rId7"/>
    <p:sldId id="267" r:id="rId8"/>
    <p:sldId id="270" r:id="rId9"/>
    <p:sldId id="272" r:id="rId10"/>
    <p:sldId id="263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400" dirty="0" smtClean="0"/>
              <a:t>Material Readiness by Plant</a:t>
            </a:r>
            <a:endParaRPr lang="en-IN" sz="1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1186971423336154E-2"/>
          <c:y val="6.5731891877519086E-2"/>
          <c:w val="0.94583058562992128"/>
          <c:h val="0.767486542354420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Plant -B</c:v>
                </c:pt>
                <c:pt idx="1">
                  <c:v>Plant -C</c:v>
                </c:pt>
                <c:pt idx="2">
                  <c:v>Plant -D</c:v>
                </c:pt>
                <c:pt idx="3">
                  <c:v>Plant - E</c:v>
                </c:pt>
                <c:pt idx="4">
                  <c:v>Plant - F</c:v>
                </c:pt>
                <c:pt idx="5">
                  <c:v>Plant - G</c:v>
                </c:pt>
                <c:pt idx="6">
                  <c:v>Plant - H</c:v>
                </c:pt>
                <c:pt idx="7">
                  <c:v>Plant - I</c:v>
                </c:pt>
                <c:pt idx="8">
                  <c:v>Plant - J</c:v>
                </c:pt>
                <c:pt idx="9">
                  <c:v>Plant - K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0.7</c:v>
                </c:pt>
                <c:pt idx="1">
                  <c:v>0.6</c:v>
                </c:pt>
                <c:pt idx="2">
                  <c:v>0.45</c:v>
                </c:pt>
                <c:pt idx="3">
                  <c:v>0.8</c:v>
                </c:pt>
                <c:pt idx="4">
                  <c:v>0.56000000000000005</c:v>
                </c:pt>
                <c:pt idx="5">
                  <c:v>0.68</c:v>
                </c:pt>
                <c:pt idx="6">
                  <c:v>0.98</c:v>
                </c:pt>
                <c:pt idx="7">
                  <c:v>0.75</c:v>
                </c:pt>
                <c:pt idx="8">
                  <c:v>0.65</c:v>
                </c:pt>
                <c:pt idx="9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740378432"/>
        <c:axId val="740368096"/>
      </c:barChart>
      <c:catAx>
        <c:axId val="740378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0368096"/>
        <c:crossesAt val="0"/>
        <c:auto val="1"/>
        <c:lblAlgn val="ctr"/>
        <c:lblOffset val="100"/>
        <c:noMultiLvlLbl val="0"/>
      </c:catAx>
      <c:valAx>
        <c:axId val="740368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0378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EA6D46-4539-41B4-9F27-64590C87068E}" type="datetimeFigureOut">
              <a:rPr lang="en-IN" smtClean="0"/>
              <a:t>2025/07/07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00DB2-B003-4850-9B8F-14A94B56C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67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200DB2-B003-4850-9B8F-14A94B56C16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363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27C91-C5A2-48A8-8B8A-FE68C4FC84F4}" type="datetimeFigureOut">
              <a:rPr lang="en-IN" smtClean="0"/>
              <a:t>2025/07/07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C7E9-E0DD-471F-9A7C-AF474B856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134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27C91-C5A2-48A8-8B8A-FE68C4FC84F4}" type="datetimeFigureOut">
              <a:rPr lang="en-IN" smtClean="0"/>
              <a:t>2025/07/07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C7E9-E0DD-471F-9A7C-AF474B856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947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27C91-C5A2-48A8-8B8A-FE68C4FC84F4}" type="datetimeFigureOut">
              <a:rPr lang="en-IN" smtClean="0"/>
              <a:t>2025/07/07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C7E9-E0DD-471F-9A7C-AF474B856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575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27C91-C5A2-48A8-8B8A-FE68C4FC84F4}" type="datetimeFigureOut">
              <a:rPr lang="en-IN" smtClean="0"/>
              <a:t>2025/07/07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C7E9-E0DD-471F-9A7C-AF474B856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81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27C91-C5A2-48A8-8B8A-FE68C4FC84F4}" type="datetimeFigureOut">
              <a:rPr lang="en-IN" smtClean="0"/>
              <a:t>2025/07/07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C7E9-E0DD-471F-9A7C-AF474B856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24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27C91-C5A2-48A8-8B8A-FE68C4FC84F4}" type="datetimeFigureOut">
              <a:rPr lang="en-IN" smtClean="0"/>
              <a:t>2025/07/07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C7E9-E0DD-471F-9A7C-AF474B856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69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27C91-C5A2-48A8-8B8A-FE68C4FC84F4}" type="datetimeFigureOut">
              <a:rPr lang="en-IN" smtClean="0"/>
              <a:t>2025/07/07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C7E9-E0DD-471F-9A7C-AF474B856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886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27C91-C5A2-48A8-8B8A-FE68C4FC84F4}" type="datetimeFigureOut">
              <a:rPr lang="en-IN" smtClean="0"/>
              <a:t>2025/07/07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C7E9-E0DD-471F-9A7C-AF474B856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840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27C91-C5A2-48A8-8B8A-FE68C4FC84F4}" type="datetimeFigureOut">
              <a:rPr lang="en-IN" smtClean="0"/>
              <a:t>2025/07/07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C7E9-E0DD-471F-9A7C-AF474B856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046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27C91-C5A2-48A8-8B8A-FE68C4FC84F4}" type="datetimeFigureOut">
              <a:rPr lang="en-IN" smtClean="0"/>
              <a:t>2025/07/07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C7E9-E0DD-471F-9A7C-AF474B856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8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27C91-C5A2-48A8-8B8A-FE68C4FC84F4}" type="datetimeFigureOut">
              <a:rPr lang="en-IN" smtClean="0"/>
              <a:t>2025/07/07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8C7E9-E0DD-471F-9A7C-AF474B856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77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C27C91-C5A2-48A8-8B8A-FE68C4FC84F4}" type="datetimeFigureOut">
              <a:rPr lang="en-IN" smtClean="0"/>
              <a:t>2025/07/07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8C7E9-E0DD-471F-9A7C-AF474B856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42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1">
                  <a:lumMod val="105000"/>
                  <a:satMod val="103000"/>
                  <a:tint val="73000"/>
                  <a:alpha val="65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Terminator 2"/>
          <p:cNvSpPr/>
          <p:nvPr/>
        </p:nvSpPr>
        <p:spPr>
          <a:xfrm rot="16200000">
            <a:off x="1184128" y="2740008"/>
            <a:ext cx="4419076" cy="1146184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-8238" y="16476"/>
            <a:ext cx="3325091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086831" y="2057276"/>
            <a:ext cx="7080909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The </a:t>
            </a:r>
          </a:p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Prototype for </a:t>
            </a:r>
          </a:p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Cutting Material Management</a:t>
            </a:r>
            <a:endParaRPr lang="en-US" sz="4000" b="1" dirty="0">
              <a:ln w="0"/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accent6"/>
                  </a:gs>
                  <a:gs pos="100000">
                    <a:schemeClr val="accent2"/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25091" y="5597237"/>
            <a:ext cx="8866910" cy="12607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Presented by : Manohar-g ( APC-IT ) </a:t>
            </a:r>
          </a:p>
          <a:p>
            <a:pPr algn="ctr"/>
            <a:r>
              <a:rPr lang="en-GB" b="1" dirty="0" smtClean="0">
                <a:solidFill>
                  <a:srgbClr val="FF0000"/>
                </a:solidFill>
              </a:rPr>
              <a:t>2025 July 01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371" y="6294820"/>
            <a:ext cx="877455" cy="5839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8" y="429914"/>
            <a:ext cx="307986" cy="3079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3418" y="462057"/>
            <a:ext cx="231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Apache Footwear India Private Limited </a:t>
            </a:r>
            <a:endParaRPr lang="en-IN" dirty="0"/>
          </a:p>
        </p:txBody>
      </p:sp>
      <p:sp>
        <p:nvSpPr>
          <p:cNvPr id="33" name="Flowchart: Delay 32"/>
          <p:cNvSpPr/>
          <p:nvPr/>
        </p:nvSpPr>
        <p:spPr>
          <a:xfrm rot="10800000">
            <a:off x="9652000" y="0"/>
            <a:ext cx="2540000" cy="1874982"/>
          </a:xfrm>
          <a:prstGeom prst="flowChartDelay">
            <a:avLst/>
          </a:prstGeom>
          <a:blipFill dpi="0" rotWithShape="0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4318000" y="4178562"/>
            <a:ext cx="217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/>
                </a:solidFill>
              </a:rPr>
              <a:t>Report Presented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231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1127" y="45571"/>
            <a:ext cx="10704946" cy="350982"/>
          </a:xfrm>
          <a:prstGeom prst="rect">
            <a:avLst/>
          </a:prstGeom>
          <a:gradFill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Key Responsibilities for Cutting Material Management</a:t>
            </a:r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418276" y="948925"/>
            <a:ext cx="3140364" cy="346364"/>
          </a:xfrm>
          <a:prstGeom prst="roundRect">
            <a:avLst/>
          </a:prstGeom>
          <a:solidFill>
            <a:srgbClr val="BCFAE5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Pull BOM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8276" y="2213910"/>
            <a:ext cx="3140364" cy="3463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Purchase Department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8276" y="3451726"/>
            <a:ext cx="3140364" cy="34636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Warehouse Department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8277" y="4713150"/>
            <a:ext cx="3140364" cy="346364"/>
          </a:xfrm>
          <a:prstGeom prst="roundRect">
            <a:avLst/>
          </a:prstGeom>
          <a:solidFill>
            <a:srgbClr val="C00000">
              <a:alpha val="4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bg1"/>
                </a:solidFill>
              </a:rPr>
              <a:t>Planning Department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8277" y="6057250"/>
            <a:ext cx="3140364" cy="34636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Production 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1897386" y="1295289"/>
            <a:ext cx="183436" cy="871164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Down Arrow 11"/>
          <p:cNvSpPr/>
          <p:nvPr/>
        </p:nvSpPr>
        <p:spPr>
          <a:xfrm>
            <a:off x="1896095" y="2597427"/>
            <a:ext cx="186519" cy="830183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Down Arrow 12"/>
          <p:cNvSpPr/>
          <p:nvPr/>
        </p:nvSpPr>
        <p:spPr>
          <a:xfrm>
            <a:off x="1890996" y="3798090"/>
            <a:ext cx="189826" cy="88647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>
            <a:off x="1893545" y="5030923"/>
            <a:ext cx="187277" cy="1005247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3704007" y="891303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Chevron 17"/>
          <p:cNvSpPr/>
          <p:nvPr/>
        </p:nvSpPr>
        <p:spPr>
          <a:xfrm>
            <a:off x="4031675" y="843248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690153" y="2190302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Chevron 19"/>
          <p:cNvSpPr/>
          <p:nvPr/>
        </p:nvSpPr>
        <p:spPr>
          <a:xfrm>
            <a:off x="4008585" y="2142247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3717867" y="341744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Chevron 21"/>
          <p:cNvSpPr/>
          <p:nvPr/>
        </p:nvSpPr>
        <p:spPr>
          <a:xfrm>
            <a:off x="4036299" y="336938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3699388" y="469207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Chevron 23"/>
          <p:cNvSpPr/>
          <p:nvPr/>
        </p:nvSpPr>
        <p:spPr>
          <a:xfrm>
            <a:off x="4017820" y="464401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3717857" y="603617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Chevron 32"/>
          <p:cNvSpPr/>
          <p:nvPr/>
        </p:nvSpPr>
        <p:spPr>
          <a:xfrm>
            <a:off x="4036289" y="598811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761571" y="456732"/>
            <a:ext cx="7291884" cy="1226660"/>
          </a:xfrm>
          <a:prstGeom prst="rect">
            <a:avLst/>
          </a:prstGeom>
          <a:solidFill>
            <a:srgbClr val="BCFAE5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smtClean="0">
                <a:solidFill>
                  <a:srgbClr val="FF0000"/>
                </a:solidFill>
              </a:rPr>
              <a:t>BOM Department – Enhancing Accuracy and Efficiency : </a:t>
            </a:r>
          </a:p>
          <a:p>
            <a:endParaRPr lang="en-GB" sz="1400" dirty="0" smtClean="0">
              <a:solidFill>
                <a:srgbClr val="FF0000"/>
              </a:solidFill>
            </a:endParaRPr>
          </a:p>
          <a:p>
            <a:r>
              <a:rPr lang="en-GB" sz="1400" dirty="0" smtClean="0">
                <a:solidFill>
                  <a:schemeClr val="tx1"/>
                </a:solidFill>
              </a:rPr>
              <a:t>1 . Ensure Accuracy in BOM Pulling</a:t>
            </a:r>
          </a:p>
          <a:p>
            <a:r>
              <a:rPr lang="en-GB" sz="1400" dirty="0" smtClean="0">
                <a:solidFill>
                  <a:schemeClr val="tx1"/>
                </a:solidFill>
              </a:rPr>
              <a:t>2 . Create BOM Based on Actual Article Usage</a:t>
            </a:r>
            <a:br>
              <a:rPr lang="en-GB" sz="1400" dirty="0" smtClean="0">
                <a:solidFill>
                  <a:schemeClr val="tx1"/>
                </a:solidFill>
              </a:rPr>
            </a:br>
            <a:r>
              <a:rPr lang="en-GB" sz="1400" dirty="0" smtClean="0">
                <a:solidFill>
                  <a:schemeClr val="tx1"/>
                </a:solidFill>
              </a:rPr>
              <a:t>3 . </a:t>
            </a:r>
            <a:r>
              <a:rPr lang="en-IN" sz="1400" dirty="0" smtClean="0">
                <a:solidFill>
                  <a:schemeClr val="tx1"/>
                </a:solidFill>
              </a:rPr>
              <a:t>Avoid Unnecessary Material Creation</a:t>
            </a:r>
            <a:endParaRPr lang="en-GB" sz="1400" dirty="0" smtClean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761571" y="1715249"/>
            <a:ext cx="7291884" cy="12064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 smtClean="0">
                <a:solidFill>
                  <a:srgbClr val="FF0000"/>
                </a:solidFill>
              </a:rPr>
              <a:t> </a:t>
            </a:r>
            <a:r>
              <a:rPr lang="en-GB" sz="1400" dirty="0" smtClean="0">
                <a:solidFill>
                  <a:srgbClr val="FF0000"/>
                </a:solidFill>
              </a:rPr>
              <a:t>Purchase Department – Ensuring Timely and Aligned Procurement</a:t>
            </a:r>
          </a:p>
          <a:p>
            <a:endParaRPr lang="en-GB" sz="1200" b="1" dirty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200" dirty="0" smtClean="0">
                <a:solidFill>
                  <a:schemeClr val="tx1"/>
                </a:solidFill>
              </a:rPr>
              <a:t>Procure Based on Finalized BOM Requirements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 smtClean="0">
                <a:solidFill>
                  <a:schemeClr val="tx1"/>
                </a:solidFill>
              </a:rPr>
              <a:t>Monitor Material Lead Times Proactively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 smtClean="0">
                <a:solidFill>
                  <a:schemeClr val="tx1"/>
                </a:solidFill>
              </a:rPr>
              <a:t>Avoid Over-Purchasing or Excess Inventory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761571" y="5555838"/>
            <a:ext cx="7291884" cy="11867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rgbClr val="FF0000"/>
                </a:solidFill>
              </a:rPr>
              <a:t>Production Department – Ensuring Smooth Execution and Timely </a:t>
            </a:r>
            <a:r>
              <a:rPr lang="en-GB" sz="1400" dirty="0" smtClean="0">
                <a:solidFill>
                  <a:srgbClr val="FF0000"/>
                </a:solidFill>
              </a:rPr>
              <a:t>Output</a:t>
            </a:r>
          </a:p>
          <a:p>
            <a:endParaRPr lang="en-GB" sz="1400" dirty="0" smtClean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Follow Updated Cutting and Production </a:t>
            </a:r>
            <a:r>
              <a:rPr lang="en-GB" sz="1400" dirty="0" smtClean="0">
                <a:solidFill>
                  <a:schemeClr val="tx1"/>
                </a:solidFill>
              </a:rPr>
              <a:t>Plans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Communicate Line Stoppages </a:t>
            </a:r>
            <a:r>
              <a:rPr lang="en-IN" sz="1400" dirty="0" smtClean="0">
                <a:solidFill>
                  <a:schemeClr val="tx1"/>
                </a:solidFill>
              </a:rPr>
              <a:t>Immediately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Track and Share Real-Time Progress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761571" y="2961616"/>
            <a:ext cx="7291884" cy="11673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smtClean="0">
                <a:solidFill>
                  <a:srgbClr val="FF0000"/>
                </a:solidFill>
              </a:rPr>
              <a:t>Warehouse Department – Maintaining Data Accuracy and Stock Readiness</a:t>
            </a:r>
          </a:p>
          <a:p>
            <a:endParaRPr lang="en-GB" sz="14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dirty="0" smtClean="0">
                <a:solidFill>
                  <a:schemeClr val="tx1"/>
                </a:solidFill>
              </a:rPr>
              <a:t>Ensure Accurate Stock Data Maintenance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Fetch and Share Stock Data Correctly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Support Cutting Material Availability Checks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761571" y="4168885"/>
            <a:ext cx="7291884" cy="1347033"/>
          </a:xfrm>
          <a:prstGeom prst="rect">
            <a:avLst/>
          </a:prstGeom>
          <a:solidFill>
            <a:srgbClr val="C00000">
              <a:alpha val="42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bg1"/>
                </a:solidFill>
              </a:rPr>
              <a:t>Planning Department – Driving Accurate Schedules and </a:t>
            </a:r>
            <a:r>
              <a:rPr lang="en-GB" sz="1400" dirty="0" smtClean="0">
                <a:solidFill>
                  <a:schemeClr val="bg1"/>
                </a:solidFill>
              </a:rPr>
              <a:t>Coordination</a:t>
            </a:r>
          </a:p>
          <a:p>
            <a:endParaRPr lang="en-GB" sz="1400" dirty="0" smtClean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Maintain Accurate Planning </a:t>
            </a:r>
            <a:r>
              <a:rPr lang="en-IN" sz="1400" dirty="0" smtClean="0">
                <a:solidFill>
                  <a:schemeClr val="tx1"/>
                </a:solidFill>
              </a:rPr>
              <a:t>Data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Update Schedules </a:t>
            </a:r>
            <a:r>
              <a:rPr lang="en-IN" sz="1400" dirty="0" smtClean="0">
                <a:solidFill>
                  <a:schemeClr val="tx1"/>
                </a:solidFill>
              </a:rPr>
              <a:t>Promptly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Coordinate Closely with Other </a:t>
            </a:r>
            <a:r>
              <a:rPr lang="en-GB" sz="1400" dirty="0" smtClean="0">
                <a:solidFill>
                  <a:schemeClr val="tx1"/>
                </a:solidFill>
              </a:rPr>
              <a:t>Departments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Escalate Issues </a:t>
            </a:r>
            <a:r>
              <a:rPr lang="en-IN" sz="1400" dirty="0" smtClean="0">
                <a:solidFill>
                  <a:schemeClr val="tx1"/>
                </a:solidFill>
              </a:rPr>
              <a:t>Proactively</a:t>
            </a:r>
            <a:endParaRPr lang="en-GB" sz="1400" dirty="0" smtClean="0">
              <a:solidFill>
                <a:schemeClr val="tx1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6087" y="0"/>
            <a:ext cx="595913" cy="3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1127" y="45571"/>
            <a:ext cx="10704946" cy="3509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 dirty="0" smtClean="0"/>
              <a:t>                              Organizational </a:t>
            </a:r>
            <a:r>
              <a:rPr lang="en-GB" b="1" dirty="0"/>
              <a:t>Workflow for Cutting Material Monitoring &amp; </a:t>
            </a:r>
            <a:r>
              <a:rPr lang="en-GB" b="1" dirty="0" smtClean="0"/>
              <a:t>Escalation</a:t>
            </a:r>
            <a:endParaRPr lang="en-GB" dirty="0"/>
          </a:p>
        </p:txBody>
      </p:sp>
      <p:sp>
        <p:nvSpPr>
          <p:cNvPr id="3" name="Rounded Rectangle 2"/>
          <p:cNvSpPr/>
          <p:nvPr/>
        </p:nvSpPr>
        <p:spPr>
          <a:xfrm>
            <a:off x="4585853" y="1080594"/>
            <a:ext cx="2636984" cy="6003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GM ( Top Management )</a:t>
            </a:r>
            <a:endParaRPr lang="en-IN" dirty="0"/>
          </a:p>
        </p:txBody>
      </p:sp>
      <p:sp>
        <p:nvSpPr>
          <p:cNvPr id="4" name="Rounded Rectangle 3"/>
          <p:cNvSpPr/>
          <p:nvPr/>
        </p:nvSpPr>
        <p:spPr>
          <a:xfrm>
            <a:off x="244141" y="2912883"/>
            <a:ext cx="2419927" cy="60036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Planning Team</a:t>
            </a:r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4536736" y="2913703"/>
            <a:ext cx="2636984" cy="60036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Plant In-charge</a:t>
            </a:r>
            <a:endParaRPr lang="en-IN" dirty="0"/>
          </a:p>
        </p:txBody>
      </p:sp>
      <p:sp>
        <p:nvSpPr>
          <p:cNvPr id="6" name="Rounded Rectangle 5"/>
          <p:cNvSpPr/>
          <p:nvPr/>
        </p:nvSpPr>
        <p:spPr>
          <a:xfrm>
            <a:off x="8462085" y="2912883"/>
            <a:ext cx="3097360" cy="60036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Line Supervisor</a:t>
            </a:r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244141" y="4928504"/>
            <a:ext cx="2419927" cy="60036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Purchase Team</a:t>
            </a:r>
            <a:endParaRPr lang="en-IN" dirty="0"/>
          </a:p>
        </p:txBody>
      </p:sp>
      <p:sp>
        <p:nvSpPr>
          <p:cNvPr id="8" name="Rounded Rectangle 7"/>
          <p:cNvSpPr/>
          <p:nvPr/>
        </p:nvSpPr>
        <p:spPr>
          <a:xfrm>
            <a:off x="4586831" y="4929508"/>
            <a:ext cx="2636984" cy="60036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Cutting Material Report</a:t>
            </a:r>
            <a:endParaRPr lang="en-IN" dirty="0"/>
          </a:p>
        </p:txBody>
      </p:sp>
      <p:sp>
        <p:nvSpPr>
          <p:cNvPr id="9" name="Rounded Rectangle 8"/>
          <p:cNvSpPr/>
          <p:nvPr/>
        </p:nvSpPr>
        <p:spPr>
          <a:xfrm>
            <a:off x="8508134" y="4931999"/>
            <a:ext cx="3051311" cy="60036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Warehouse Team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964012" y="1823681"/>
            <a:ext cx="2613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FF0000"/>
                </a:solidFill>
              </a:rPr>
              <a:t>Sees high-level overview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58733" y="3522127"/>
            <a:ext cx="198934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sz="1400" dirty="0">
                <a:solidFill>
                  <a:srgbClr val="FF0000"/>
                </a:solidFill>
              </a:rPr>
              <a:t>Track PO </a:t>
            </a:r>
            <a:r>
              <a:rPr lang="en-GB" sz="1400" dirty="0" smtClean="0">
                <a:solidFill>
                  <a:srgbClr val="FF0000"/>
                </a:solidFill>
              </a:rPr>
              <a:t>readiness</a:t>
            </a:r>
          </a:p>
          <a:p>
            <a:r>
              <a:rPr lang="en-IN" sz="1400" dirty="0">
                <a:solidFill>
                  <a:srgbClr val="FF0000"/>
                </a:solidFill>
              </a:rPr>
              <a:t>Manage </a:t>
            </a:r>
            <a:r>
              <a:rPr lang="en-IN" sz="1400" dirty="0" smtClean="0">
                <a:solidFill>
                  <a:srgbClr val="FF0000"/>
                </a:solidFill>
              </a:rPr>
              <a:t>escalations</a:t>
            </a:r>
          </a:p>
          <a:p>
            <a:r>
              <a:rPr lang="en-IN" sz="1400" dirty="0">
                <a:solidFill>
                  <a:srgbClr val="FF0000"/>
                </a:solidFill>
              </a:rPr>
              <a:t>Coordinate departments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89060" y="3616435"/>
            <a:ext cx="1755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Executes cutting </a:t>
            </a:r>
            <a:r>
              <a:rPr lang="en-GB" sz="1400" dirty="0" smtClean="0">
                <a:solidFill>
                  <a:srgbClr val="FF0000"/>
                </a:solidFill>
              </a:rPr>
              <a:t>plan</a:t>
            </a:r>
          </a:p>
          <a:p>
            <a:r>
              <a:rPr lang="en-IN" sz="1400" dirty="0">
                <a:solidFill>
                  <a:srgbClr val="FF0000"/>
                </a:solidFill>
              </a:rPr>
              <a:t>Raise real-time </a:t>
            </a:r>
            <a:r>
              <a:rPr lang="en-IN" sz="1400" dirty="0" smtClean="0">
                <a:solidFill>
                  <a:srgbClr val="FF0000"/>
                </a:solidFill>
              </a:rPr>
              <a:t>issues</a:t>
            </a:r>
          </a:p>
          <a:p>
            <a:r>
              <a:rPr lang="en-IN" sz="1400" dirty="0">
                <a:solidFill>
                  <a:srgbClr val="FF0000"/>
                </a:solidFill>
              </a:rPr>
              <a:t>Escalate shortages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2662909" y="3191796"/>
            <a:ext cx="1874987" cy="525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192790" y="3213065"/>
            <a:ext cx="7891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bg2">
                    <a:lumMod val="50000"/>
                  </a:schemeClr>
                </a:solidFill>
              </a:rPr>
              <a:t>shares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76981" y="3247103"/>
            <a:ext cx="870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bg2">
                    <a:lumMod val="50000"/>
                  </a:schemeClr>
                </a:solidFill>
              </a:rPr>
              <a:t>Assigns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18649" y="5227547"/>
            <a:ext cx="966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bg2">
                    <a:lumMod val="50000"/>
                  </a:schemeClr>
                </a:solidFill>
              </a:rPr>
              <a:t>Supplies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546854" y="5599228"/>
            <a:ext cx="5254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/>
              <a:t>Data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7423007" y="5304354"/>
            <a:ext cx="966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chemeClr val="bg2">
                    <a:lumMod val="50000"/>
                  </a:schemeClr>
                </a:solidFill>
              </a:rPr>
              <a:t>Supplies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403258" y="5599228"/>
            <a:ext cx="12150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/>
              <a:t>Material Issue</a:t>
            </a:r>
            <a:endParaRPr lang="en-IN" dirty="0"/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7878121" y="5697473"/>
            <a:ext cx="5883" cy="274417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3520560" y="5626070"/>
            <a:ext cx="5883" cy="274417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5904344" y="1736648"/>
            <a:ext cx="1" cy="64112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1173018" y="3522127"/>
            <a:ext cx="9967" cy="104987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297462" y="3513247"/>
            <a:ext cx="21109" cy="126136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7222837" y="3214912"/>
            <a:ext cx="1171077" cy="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662909" y="5228686"/>
            <a:ext cx="187498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9760162" y="3540244"/>
            <a:ext cx="30383" cy="103175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245679" y="5272164"/>
            <a:ext cx="1264884" cy="401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062017" y="715907"/>
            <a:ext cx="404751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5"/>
                </a:solidFill>
              </a:rPr>
              <a:t>View overall readiness %, material trends, escalations</a:t>
            </a:r>
            <a:endParaRPr lang="en-IN" sz="1400" dirty="0">
              <a:solidFill>
                <a:schemeClr val="accent5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16056" y="4572000"/>
            <a:ext cx="2516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5"/>
                </a:solidFill>
              </a:rPr>
              <a:t> </a:t>
            </a:r>
            <a:r>
              <a:rPr lang="en-GB" sz="1400" dirty="0">
                <a:solidFill>
                  <a:schemeClr val="accent5"/>
                </a:solidFill>
              </a:rPr>
              <a:t>Track </a:t>
            </a:r>
            <a:r>
              <a:rPr lang="en-GB" sz="1400" dirty="0" smtClean="0">
                <a:solidFill>
                  <a:schemeClr val="accent5"/>
                </a:solidFill>
              </a:rPr>
              <a:t>Purchase Status</a:t>
            </a:r>
            <a:endParaRPr lang="en-IN" sz="1400" dirty="0">
              <a:solidFill>
                <a:schemeClr val="accent5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44141" y="2302578"/>
            <a:ext cx="32823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5"/>
                </a:solidFill>
              </a:rPr>
              <a:t>Ensure BOM is accurate, validate material need, resolve errors</a:t>
            </a:r>
            <a:endParaRPr lang="en-IN" sz="1400" dirty="0">
              <a:solidFill>
                <a:schemeClr val="accent5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495833" y="2376892"/>
            <a:ext cx="31027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5"/>
                </a:solidFill>
              </a:rPr>
              <a:t>Track PO-wise readiness, material issues, escalate to teams</a:t>
            </a:r>
            <a:endParaRPr lang="en-IN" sz="1400" dirty="0">
              <a:solidFill>
                <a:schemeClr val="accent5"/>
              </a:solidFill>
            </a:endParaRPr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769584"/>
              </p:ext>
            </p:extLst>
          </p:nvPr>
        </p:nvGraphicFramePr>
        <p:xfrm>
          <a:off x="8680182" y="2394723"/>
          <a:ext cx="2953022" cy="518160"/>
        </p:xfrm>
        <a:graphic>
          <a:graphicData uri="http://schemas.openxmlformats.org/drawingml/2006/table">
            <a:tbl>
              <a:tblPr/>
              <a:tblGrid>
                <a:gridCol w="2953022"/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400" kern="1200" dirty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rPr>
                        <a:t>Check assigned POs, start cutting only if fully ready, escalate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8794112" y="4620727"/>
            <a:ext cx="21898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solidFill>
                  <a:schemeClr val="accent5"/>
                </a:solidFill>
              </a:rPr>
              <a:t>Issue materials, verify stock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6087" y="0"/>
            <a:ext cx="595913" cy="3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190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2109" y="0"/>
            <a:ext cx="10317018" cy="3694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Cutting Material Availability Dashboard    ( For General Manager – GM ) </a:t>
            </a:r>
            <a:endParaRPr lang="en-IN" dirty="0"/>
          </a:p>
        </p:txBody>
      </p:sp>
      <p:sp>
        <p:nvSpPr>
          <p:cNvPr id="4" name="Rounded Rectangle 3"/>
          <p:cNvSpPr/>
          <p:nvPr/>
        </p:nvSpPr>
        <p:spPr>
          <a:xfrm>
            <a:off x="228599" y="804320"/>
            <a:ext cx="2313711" cy="46529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📦 Material Readiness </a:t>
            </a:r>
            <a:r>
              <a:rPr lang="en-IN" sz="1400" dirty="0" smtClean="0"/>
              <a:t>%</a:t>
            </a:r>
          </a:p>
          <a:p>
            <a:pPr algn="ctr"/>
            <a:r>
              <a:rPr lang="en-IN" sz="1400" dirty="0"/>
              <a:t>82%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81913" y="822790"/>
            <a:ext cx="3915244" cy="44091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🚨 Open </a:t>
            </a:r>
            <a:r>
              <a:rPr lang="en-IN" sz="1400" dirty="0" smtClean="0"/>
              <a:t>Escalations (issues not yet resolved)</a:t>
            </a:r>
          </a:p>
          <a:p>
            <a:pPr algn="ctr"/>
            <a:r>
              <a:rPr lang="en-GB" sz="1400" dirty="0"/>
              <a:t>5</a:t>
            </a:r>
            <a:endParaRPr lang="en-IN"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6801332" y="822060"/>
            <a:ext cx="1971964" cy="4416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📋 Total POs </a:t>
            </a:r>
            <a:r>
              <a:rPr lang="en-IN" sz="1400" dirty="0" smtClean="0"/>
              <a:t>Today</a:t>
            </a:r>
          </a:p>
          <a:p>
            <a:pPr algn="ctr"/>
            <a:r>
              <a:rPr lang="en-GB" sz="1400" dirty="0" smtClean="0"/>
              <a:t>36</a:t>
            </a:r>
            <a:endParaRPr lang="en-IN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9032401" y="822060"/>
            <a:ext cx="1846299" cy="44164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📈 Avg </a:t>
            </a:r>
            <a:r>
              <a:rPr lang="en-IN" sz="1600" dirty="0" smtClean="0"/>
              <a:t>Delay</a:t>
            </a:r>
          </a:p>
          <a:p>
            <a:pPr algn="ctr"/>
            <a:r>
              <a:rPr lang="en-GB" sz="1600" dirty="0" smtClean="0"/>
              <a:t>2.1 days</a:t>
            </a:r>
            <a:endParaRPr lang="en-IN" sz="1600" dirty="0"/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1504388519"/>
              </p:ext>
            </p:extLst>
          </p:nvPr>
        </p:nvGraphicFramePr>
        <p:xfrm>
          <a:off x="244762" y="1319126"/>
          <a:ext cx="6156037" cy="1805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628793"/>
              </p:ext>
            </p:extLst>
          </p:nvPr>
        </p:nvGraphicFramePr>
        <p:xfrm>
          <a:off x="228599" y="3431022"/>
          <a:ext cx="6496809" cy="1836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5603"/>
                <a:gridCol w="2165603"/>
                <a:gridCol w="2165603"/>
              </a:tblGrid>
              <a:tr h="312121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Material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Short Quantity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Affected</a:t>
                      </a:r>
                      <a:r>
                        <a:rPr lang="en-GB" sz="1400" baseline="0" dirty="0" smtClean="0"/>
                        <a:t> Pos </a:t>
                      </a:r>
                      <a:endParaRPr lang="en-IN" sz="1400" dirty="0"/>
                    </a:p>
                  </a:txBody>
                  <a:tcPr/>
                </a:tc>
              </a:tr>
              <a:tr h="2726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FTWR WHITE 01F7 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340m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3</a:t>
                      </a:r>
                      <a:endParaRPr lang="en-IN" sz="14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1.4MM ECO SOFT MATTE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220m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8</a:t>
                      </a:r>
                      <a:endParaRPr lang="en-IN" sz="14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CEMENT TWICE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165m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21</a:t>
                      </a:r>
                      <a:endParaRPr lang="en-IN" sz="14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WHITE LATEX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100m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4</a:t>
                      </a:r>
                      <a:endParaRPr lang="en-IN" sz="14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ST-A990-06E EPM5 MESH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92m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1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611" y="5446243"/>
            <a:ext cx="2448725" cy="1514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Rounded Rectangle 21"/>
          <p:cNvSpPr/>
          <p:nvPr/>
        </p:nvSpPr>
        <p:spPr>
          <a:xfrm>
            <a:off x="228599" y="3155943"/>
            <a:ext cx="1921477" cy="24938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i="1" dirty="0">
                <a:solidFill>
                  <a:schemeClr val="tx1"/>
                </a:solidFill>
              </a:rPr>
              <a:t>Top 5 Short Materials :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5329" y="5446243"/>
            <a:ext cx="2426981" cy="98750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Cutting Availability Trend ( Weekly ) ( Line Wise )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44762" y="439105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2025/07/01</a:t>
            </a:r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244762" y="429870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Date Range</a:t>
            </a:r>
            <a:endParaRPr lang="en-IN" sz="1400" dirty="0"/>
          </a:p>
        </p:txBody>
      </p:sp>
      <p:sp>
        <p:nvSpPr>
          <p:cNvPr id="26" name="Rectangle 25"/>
          <p:cNvSpPr/>
          <p:nvPr/>
        </p:nvSpPr>
        <p:spPr>
          <a:xfrm>
            <a:off x="3038764" y="440102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3038764" y="430867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28" name="Rectangle 27"/>
          <p:cNvSpPr/>
          <p:nvPr/>
        </p:nvSpPr>
        <p:spPr>
          <a:xfrm>
            <a:off x="5906030" y="448340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5906030" y="439105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8773296" y="439105"/>
            <a:ext cx="1182255" cy="28632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Submit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6497157" y="1317232"/>
            <a:ext cx="5604227" cy="1800138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497159" y="1431246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Compare different plants to see which ones are better prepared for cutting.</a:t>
            </a:r>
            <a:endParaRPr lang="en-IN" sz="1400" dirty="0"/>
          </a:p>
        </p:txBody>
      </p:sp>
      <p:sp>
        <p:nvSpPr>
          <p:cNvPr id="32" name="Rectangle 31"/>
          <p:cNvSpPr/>
          <p:nvPr/>
        </p:nvSpPr>
        <p:spPr>
          <a:xfrm>
            <a:off x="6528861" y="2019541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Description</a:t>
            </a:r>
            <a:r>
              <a:rPr lang="en-GB" sz="1400" dirty="0" smtClean="0"/>
              <a:t> : Shows </a:t>
            </a:r>
            <a:r>
              <a:rPr lang="en-GB" sz="1400" dirty="0"/>
              <a:t>% of material availability across all assigned POs</a:t>
            </a:r>
            <a:endParaRPr lang="en-IN" sz="1400" dirty="0"/>
          </a:p>
        </p:txBody>
      </p:sp>
      <p:sp>
        <p:nvSpPr>
          <p:cNvPr id="33" name="Rectangle 32"/>
          <p:cNvSpPr/>
          <p:nvPr/>
        </p:nvSpPr>
        <p:spPr>
          <a:xfrm>
            <a:off x="6497159" y="2589365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Identify which plant is performing well and where attention or escalation is needed</a:t>
            </a:r>
            <a:r>
              <a:rPr lang="en-GB" sz="1400" dirty="0" smtClean="0"/>
              <a:t>. </a:t>
            </a:r>
            <a:endParaRPr lang="en-IN" sz="1400" dirty="0"/>
          </a:p>
        </p:txBody>
      </p:sp>
      <p:sp>
        <p:nvSpPr>
          <p:cNvPr id="34" name="Rectangle 33"/>
          <p:cNvSpPr/>
          <p:nvPr/>
        </p:nvSpPr>
        <p:spPr>
          <a:xfrm>
            <a:off x="6819319" y="3438277"/>
            <a:ext cx="5282065" cy="1800988"/>
          </a:xfrm>
          <a:prstGeom prst="rect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909204" y="3690698"/>
            <a:ext cx="51409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Highlight the most frequently short or unavailable materials, across all POs.</a:t>
            </a:r>
            <a:endParaRPr lang="en-IN" sz="1400" dirty="0"/>
          </a:p>
        </p:txBody>
      </p:sp>
      <p:sp>
        <p:nvSpPr>
          <p:cNvPr id="36" name="Rectangle 35"/>
          <p:cNvSpPr/>
          <p:nvPr/>
        </p:nvSpPr>
        <p:spPr>
          <a:xfrm>
            <a:off x="6909204" y="4404674"/>
            <a:ext cx="51921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Quickly identify which raw materials are causing the biggest disruptions—helps guide procurement priorities</a:t>
            </a:r>
            <a:endParaRPr lang="en-IN" sz="1400" dirty="0"/>
          </a:p>
        </p:txBody>
      </p:sp>
      <p:sp>
        <p:nvSpPr>
          <p:cNvPr id="37" name="Rectangle 36"/>
          <p:cNvSpPr/>
          <p:nvPr/>
        </p:nvSpPr>
        <p:spPr>
          <a:xfrm>
            <a:off x="5652654" y="5430021"/>
            <a:ext cx="6397509" cy="1333244"/>
          </a:xfrm>
          <a:prstGeom prst="rect">
            <a:avLst/>
          </a:prstGeom>
          <a:solidFill>
            <a:schemeClr val="accent1"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785955" y="5602754"/>
            <a:ext cx="45575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Visualize the trend of material readiness over time</a:t>
            </a:r>
            <a:endParaRPr lang="en-IN" sz="1400" dirty="0"/>
          </a:p>
        </p:txBody>
      </p:sp>
      <p:sp>
        <p:nvSpPr>
          <p:cNvPr id="39" name="Rectangle 38"/>
          <p:cNvSpPr/>
          <p:nvPr/>
        </p:nvSpPr>
        <p:spPr>
          <a:xfrm>
            <a:off x="5785955" y="6048444"/>
            <a:ext cx="59746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Spot improvement or decline in readiness over time. A dropping trend might signal deeper issues in supply or coordination.</a:t>
            </a:r>
            <a:endParaRPr lang="en-IN" sz="1400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6087" y="0"/>
            <a:ext cx="595913" cy="3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195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14400" y="3858308"/>
            <a:ext cx="10741891" cy="2976228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914400" y="101600"/>
            <a:ext cx="10317018" cy="3694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Cutting Material Availability Dashboard    ( For General Manager – GM ) </a:t>
            </a:r>
            <a:endParaRPr lang="en-IN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345358"/>
              </p:ext>
            </p:extLst>
          </p:nvPr>
        </p:nvGraphicFramePr>
        <p:xfrm>
          <a:off x="314040" y="1309390"/>
          <a:ext cx="8179172" cy="22275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73911"/>
                <a:gridCol w="1266318"/>
                <a:gridCol w="1217881"/>
                <a:gridCol w="1280159"/>
                <a:gridCol w="1404714"/>
                <a:gridCol w="1536189"/>
              </a:tblGrid>
              <a:tr h="341874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PO NO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Plant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Shortage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Delay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Escalated To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Status</a:t>
                      </a:r>
                      <a:endParaRPr lang="en-IN" sz="16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B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Fabric 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Planning Team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⚠</a:t>
                      </a:r>
                      <a:r>
                        <a:rPr lang="en-IN" sz="1400" baseline="0" dirty="0" smtClean="0"/>
                        <a:t> </a:t>
                      </a:r>
                      <a:r>
                        <a:rPr lang="en-IN" sz="1400" dirty="0" smtClean="0"/>
                        <a:t>Pending </a:t>
                      </a:r>
                      <a:endParaRPr lang="en-IN" sz="14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Purchase Team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Resolved </a:t>
                      </a:r>
                      <a:endParaRPr lang="en-IN" sz="14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1000042587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6d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Warehouse Team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Resolved </a:t>
                      </a:r>
                      <a:endParaRPr lang="en-IN" sz="14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1000042592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K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Planning</a:t>
                      </a:r>
                      <a:r>
                        <a:rPr lang="en-GB" sz="1400" baseline="0" dirty="0" smtClean="0"/>
                        <a:t> Team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Resolved </a:t>
                      </a:r>
                      <a:endParaRPr lang="en-IN" sz="14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1000042466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F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5d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Purchase Team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⚠</a:t>
                      </a:r>
                      <a:r>
                        <a:rPr lang="en-IN" sz="1400" baseline="0" dirty="0" smtClean="0"/>
                        <a:t>  </a:t>
                      </a:r>
                      <a:r>
                        <a:rPr lang="en-IN" sz="1400" dirty="0" smtClean="0"/>
                        <a:t>Pending 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23273" y="3540754"/>
            <a:ext cx="2318328" cy="2493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Explanation For KPI Cards </a:t>
            </a:r>
            <a:endParaRPr lang="en-IN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404353"/>
              </p:ext>
            </p:extLst>
          </p:nvPr>
        </p:nvGraphicFramePr>
        <p:xfrm>
          <a:off x="715818" y="4130393"/>
          <a:ext cx="10515600" cy="216408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KPI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📦 </a:t>
                      </a:r>
                      <a:r>
                        <a:rPr lang="en-IN" sz="1400" b="1" dirty="0"/>
                        <a:t>Material Readiness %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% of POs for which all required materials are 100% available. Shows overall cutting readiness.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🚨 </a:t>
                      </a:r>
                      <a:r>
                        <a:rPr lang="en-IN" sz="1400" b="1" dirty="0"/>
                        <a:t>Open Escalations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Total number of escalated cases (shortage or delay) not yet resolved. Reflects risk and follow-up need.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📋 </a:t>
                      </a:r>
                      <a:r>
                        <a:rPr lang="en-IN" sz="1400" b="1" dirty="0"/>
                        <a:t>Total POs Today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</a:t>
                      </a:r>
                      <a:r>
                        <a:rPr lang="en-GB" sz="1400" dirty="0" smtClean="0"/>
                        <a:t>POs </a:t>
                      </a:r>
                      <a:r>
                        <a:rPr lang="en-GB" sz="1400" dirty="0"/>
                        <a:t>scheduled for cutting today. Shows daily load.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📈 </a:t>
                      </a:r>
                      <a:r>
                        <a:rPr lang="en-IN" sz="1400" b="1" dirty="0"/>
                        <a:t>Average Delay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Average days of delay for POs with shortages. Helps GM assess the severity.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232726" y="521823"/>
            <a:ext cx="4378037" cy="26779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Critical Escalated Pos : </a:t>
            </a:r>
            <a:endParaRPr lang="en-IN" b="1" i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25236" y="3858308"/>
            <a:ext cx="85251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/>
              <a:t>Purpose</a:t>
            </a:r>
            <a:r>
              <a:rPr lang="en-GB" sz="1400" dirty="0"/>
              <a:t>: Give an instant overview of today’s key metrics</a:t>
            </a:r>
            <a:endParaRPr lang="en-IN" sz="1400" dirty="0"/>
          </a:p>
        </p:txBody>
      </p:sp>
      <p:sp>
        <p:nvSpPr>
          <p:cNvPr id="21" name="Rectangle 20"/>
          <p:cNvSpPr/>
          <p:nvPr/>
        </p:nvSpPr>
        <p:spPr>
          <a:xfrm>
            <a:off x="1025236" y="6425376"/>
            <a:ext cx="85251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/>
              <a:t>Benefits </a:t>
            </a:r>
            <a:r>
              <a:rPr lang="en-GB" sz="1400" dirty="0"/>
              <a:t>: Quick health check of plant’s material readiness and performance for the </a:t>
            </a:r>
            <a:r>
              <a:rPr lang="en-GB" sz="1400" dirty="0" smtClean="0"/>
              <a:t>day.</a:t>
            </a:r>
            <a:endParaRPr lang="en-IN" sz="1400" dirty="0"/>
          </a:p>
        </p:txBody>
      </p:sp>
      <p:sp>
        <p:nvSpPr>
          <p:cNvPr id="22" name="Rectangle 21"/>
          <p:cNvSpPr/>
          <p:nvPr/>
        </p:nvSpPr>
        <p:spPr>
          <a:xfrm>
            <a:off x="323273" y="901151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323273" y="89191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24" name="Rectangle 23"/>
          <p:cNvSpPr/>
          <p:nvPr/>
        </p:nvSpPr>
        <p:spPr>
          <a:xfrm>
            <a:off x="3232726" y="901151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3232726" y="89191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26" name="Rectangle 25"/>
          <p:cNvSpPr/>
          <p:nvPr/>
        </p:nvSpPr>
        <p:spPr>
          <a:xfrm>
            <a:off x="6142179" y="89678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6142179" y="887554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28" name="Rounded Rectangle 27"/>
          <p:cNvSpPr/>
          <p:nvPr/>
        </p:nvSpPr>
        <p:spPr>
          <a:xfrm>
            <a:off x="9097818" y="896789"/>
            <a:ext cx="1182255" cy="29556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Submit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608540" y="1331129"/>
            <a:ext cx="3470874" cy="2221898"/>
          </a:xfrm>
          <a:prstGeom prst="rect">
            <a:avLst/>
          </a:prstGeom>
          <a:solidFill>
            <a:schemeClr val="accent1">
              <a:alpha val="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729360" y="1396251"/>
            <a:ext cx="322923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Highlight urgent POs that are delayed due to material unavailability and require attention.</a:t>
            </a:r>
            <a:endParaRPr lang="en-IN" sz="1400" dirty="0"/>
          </a:p>
        </p:txBody>
      </p:sp>
      <p:sp>
        <p:nvSpPr>
          <p:cNvPr id="30" name="Rectangle 29"/>
          <p:cNvSpPr/>
          <p:nvPr/>
        </p:nvSpPr>
        <p:spPr>
          <a:xfrm>
            <a:off x="8756070" y="2234711"/>
            <a:ext cx="31940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Spot improvement or decline in readiness over time. A dropping trend might signal deeper issues in supply or coordination.</a:t>
            </a:r>
            <a:endParaRPr lang="en-IN" sz="1400" dirty="0"/>
          </a:p>
        </p:txBody>
      </p:sp>
      <p:sp>
        <p:nvSpPr>
          <p:cNvPr id="4" name="Right Arrow 3"/>
          <p:cNvSpPr/>
          <p:nvPr/>
        </p:nvSpPr>
        <p:spPr>
          <a:xfrm>
            <a:off x="8295503" y="2347784"/>
            <a:ext cx="313037" cy="17299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6087" y="0"/>
            <a:ext cx="595913" cy="3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19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1128" y="0"/>
            <a:ext cx="11028218" cy="32327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Cutting Material Availability – Plant In-chart Dashboard </a:t>
            </a:r>
            <a:endParaRPr lang="en-IN" dirty="0"/>
          </a:p>
        </p:txBody>
      </p:sp>
      <p:sp>
        <p:nvSpPr>
          <p:cNvPr id="4" name="Rounded Rectangle 3"/>
          <p:cNvSpPr/>
          <p:nvPr/>
        </p:nvSpPr>
        <p:spPr>
          <a:xfrm>
            <a:off x="327889" y="1231078"/>
            <a:ext cx="2530764" cy="5911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📋 Total POs </a:t>
            </a:r>
            <a:r>
              <a:rPr lang="en-IN" sz="1600" dirty="0" smtClean="0"/>
              <a:t>Today</a:t>
            </a:r>
          </a:p>
          <a:p>
            <a:pPr algn="ctr"/>
            <a:r>
              <a:rPr lang="en-IN" sz="1600" dirty="0" smtClean="0"/>
              <a:t>28</a:t>
            </a:r>
            <a:endParaRPr lang="en-IN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3011056" y="1231077"/>
            <a:ext cx="2530764" cy="5911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✅ Fully Ready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 smtClean="0"/>
              <a:t>19</a:t>
            </a:r>
            <a:endParaRPr lang="en-IN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5902034" y="1231077"/>
            <a:ext cx="2530764" cy="5911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🚫 Shortage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/>
              <a:t>7</a:t>
            </a:r>
            <a:endParaRPr lang="en-IN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8793012" y="1231076"/>
            <a:ext cx="2530764" cy="591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🔁 Delayed </a:t>
            </a:r>
            <a:r>
              <a:rPr lang="en-IN" dirty="0" smtClean="0"/>
              <a:t>Pos</a:t>
            </a:r>
          </a:p>
          <a:p>
            <a:pPr algn="ctr"/>
            <a:r>
              <a:rPr lang="en-GB" dirty="0"/>
              <a:t>2</a:t>
            </a:r>
            <a:endParaRPr lang="en-GB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659140"/>
              </p:ext>
            </p:extLst>
          </p:nvPr>
        </p:nvGraphicFramePr>
        <p:xfrm>
          <a:off x="355603" y="2402194"/>
          <a:ext cx="1138381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924"/>
                <a:gridCol w="1136073"/>
                <a:gridCol w="1167987"/>
                <a:gridCol w="1531483"/>
                <a:gridCol w="873254"/>
                <a:gridCol w="1802840"/>
                <a:gridCol w="1551709"/>
                <a:gridCol w="840509"/>
                <a:gridCol w="1330034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Date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PO NO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Model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Line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Readiness 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Status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Delay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Action 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2025/07/02</a:t>
                      </a:r>
                      <a:endParaRPr lang="en-IN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AP11C02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Ready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1" dirty="0" smtClean="0"/>
                        <a:t>-</a:t>
                      </a:r>
                      <a:r>
                        <a:rPr lang="en-GB" sz="1800" b="1" i="1" baseline="0" dirty="0" smtClean="0"/>
                        <a:t> </a:t>
                      </a:r>
                      <a:endParaRPr lang="en-IN" sz="18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Start Cutting 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1000042525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STANSMITH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AP10C04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75%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❌ Short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 DAY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Escalate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1000215486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ULTIMATE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AP09CO3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90%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⚠ Partial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756923"/>
              </p:ext>
            </p:extLst>
          </p:nvPr>
        </p:nvGraphicFramePr>
        <p:xfrm>
          <a:off x="2175163" y="4446874"/>
          <a:ext cx="6502400" cy="7180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/>
                <a:gridCol w="1625600"/>
                <a:gridCol w="1625600"/>
                <a:gridCol w="16256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Required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Available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Short Qty</a:t>
                      </a:r>
                      <a:endParaRPr lang="en-IN" sz="1400" dirty="0"/>
                    </a:p>
                  </a:txBody>
                  <a:tcPr/>
                </a:tc>
              </a:tr>
              <a:tr h="34722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Fabric 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160m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40m 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769927" y="3203373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22" name="Rounded Rectangle 21"/>
          <p:cNvSpPr/>
          <p:nvPr/>
        </p:nvSpPr>
        <p:spPr>
          <a:xfrm>
            <a:off x="3168072" y="2003524"/>
            <a:ext cx="5089237" cy="2863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i="1" dirty="0">
                <a:solidFill>
                  <a:schemeClr val="tx1"/>
                </a:solidFill>
              </a:rPr>
              <a:t>PO-Wise Material Readiness Status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168072" y="3982507"/>
            <a:ext cx="5089237" cy="28632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i="1" dirty="0">
                <a:solidFill>
                  <a:schemeClr val="tx1"/>
                </a:solidFill>
              </a:rPr>
              <a:t>Material Shortage Tracker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12436" y="675705"/>
            <a:ext cx="2309092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2025/07/01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207819" y="675705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Date Range</a:t>
            </a:r>
            <a:endParaRPr lang="en-IN" sz="1400" dirty="0"/>
          </a:p>
        </p:txBody>
      </p:sp>
      <p:sp>
        <p:nvSpPr>
          <p:cNvPr id="28" name="Rectangle 27"/>
          <p:cNvSpPr/>
          <p:nvPr/>
        </p:nvSpPr>
        <p:spPr>
          <a:xfrm>
            <a:off x="2706258" y="675705"/>
            <a:ext cx="1981197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2706258" y="675705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30" name="Rectangle 29"/>
          <p:cNvSpPr/>
          <p:nvPr/>
        </p:nvSpPr>
        <p:spPr>
          <a:xfrm>
            <a:off x="4853715" y="683294"/>
            <a:ext cx="1597890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1" name="Rectangle 30"/>
          <p:cNvSpPr/>
          <p:nvPr/>
        </p:nvSpPr>
        <p:spPr>
          <a:xfrm>
            <a:off x="4853714" y="674059"/>
            <a:ext cx="722720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32" name="Rectangle 31"/>
          <p:cNvSpPr/>
          <p:nvPr/>
        </p:nvSpPr>
        <p:spPr>
          <a:xfrm>
            <a:off x="6601675" y="683294"/>
            <a:ext cx="1831123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3" name="Rectangle 32"/>
          <p:cNvSpPr/>
          <p:nvPr/>
        </p:nvSpPr>
        <p:spPr>
          <a:xfrm>
            <a:off x="6601674" y="674059"/>
            <a:ext cx="94518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34" name="Rectangle 33"/>
          <p:cNvSpPr/>
          <p:nvPr/>
        </p:nvSpPr>
        <p:spPr>
          <a:xfrm>
            <a:off x="8544388" y="700909"/>
            <a:ext cx="1831123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5" name="Rectangle 34"/>
          <p:cNvSpPr/>
          <p:nvPr/>
        </p:nvSpPr>
        <p:spPr>
          <a:xfrm>
            <a:off x="8544387" y="691674"/>
            <a:ext cx="94518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36" name="Bent Arrow 35"/>
          <p:cNvSpPr/>
          <p:nvPr/>
        </p:nvSpPr>
        <p:spPr>
          <a:xfrm rot="10800000">
            <a:off x="8793012" y="3471227"/>
            <a:ext cx="341752" cy="1399643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96514" y="5288575"/>
            <a:ext cx="11267118" cy="1474821"/>
          </a:xfrm>
          <a:prstGeom prst="rect">
            <a:avLst/>
          </a:prstGeom>
          <a:solidFill>
            <a:schemeClr val="accent5">
              <a:alpha val="19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61625" y="5365087"/>
            <a:ext cx="10763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Core operational view—monitor each PO’s readiness at the line level and Material-wise breakdown of </a:t>
            </a:r>
            <a:r>
              <a:rPr lang="en-GB" sz="1400" dirty="0" smtClean="0"/>
              <a:t>what’s </a:t>
            </a:r>
            <a:r>
              <a:rPr lang="en-GB" sz="1400" dirty="0"/>
              <a:t>short and how many POs are impacted</a:t>
            </a:r>
            <a:r>
              <a:rPr lang="en-GB" sz="1400" dirty="0" smtClean="0"/>
              <a:t>..</a:t>
            </a:r>
            <a:endParaRPr lang="en-IN" sz="1400" dirty="0"/>
          </a:p>
        </p:txBody>
      </p:sp>
      <p:sp>
        <p:nvSpPr>
          <p:cNvPr id="37" name="Rectangle 36"/>
          <p:cNvSpPr/>
          <p:nvPr/>
        </p:nvSpPr>
        <p:spPr>
          <a:xfrm>
            <a:off x="752389" y="6160968"/>
            <a:ext cx="107631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Benefits</a:t>
            </a:r>
            <a:r>
              <a:rPr lang="en-GB" sz="1400" dirty="0"/>
              <a:t> : Take immediate steps for POs with issues and Communicate to purchase team or prioritize allocation from existing stock.  </a:t>
            </a:r>
            <a:endParaRPr lang="en-IN" sz="1400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6087" y="0"/>
            <a:ext cx="595913" cy="3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56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1128" y="0"/>
            <a:ext cx="11028218" cy="32327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Cutting Material Availability – Line Supervisor Dashboard </a:t>
            </a:r>
            <a:endParaRPr lang="en-IN" dirty="0"/>
          </a:p>
        </p:txBody>
      </p:sp>
      <p:sp>
        <p:nvSpPr>
          <p:cNvPr id="4" name="Rounded Rectangle 3"/>
          <p:cNvSpPr/>
          <p:nvPr/>
        </p:nvSpPr>
        <p:spPr>
          <a:xfrm>
            <a:off x="364834" y="902460"/>
            <a:ext cx="2530764" cy="5911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📋 Assigned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/>
              <a:t>5</a:t>
            </a:r>
            <a:endParaRPr lang="en-IN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3144981" y="897858"/>
            <a:ext cx="2530764" cy="5911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✅ Ready to </a:t>
            </a:r>
            <a:r>
              <a:rPr lang="en-IN" sz="1600" dirty="0" smtClean="0"/>
              <a:t>Cutting</a:t>
            </a:r>
          </a:p>
          <a:p>
            <a:pPr algn="ctr"/>
            <a:r>
              <a:rPr lang="en-GB" sz="1600" dirty="0"/>
              <a:t>3</a:t>
            </a:r>
            <a:endParaRPr lang="en-IN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5966691" y="905547"/>
            <a:ext cx="2530764" cy="5911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❌ Not </a:t>
            </a:r>
            <a:r>
              <a:rPr lang="en-IN" sz="1600" dirty="0" smtClean="0"/>
              <a:t>Ready</a:t>
            </a:r>
          </a:p>
          <a:p>
            <a:pPr algn="ctr"/>
            <a:r>
              <a:rPr lang="en-GB" sz="1600" dirty="0" smtClean="0"/>
              <a:t>1</a:t>
            </a:r>
            <a:endParaRPr lang="en-IN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8913090" y="897730"/>
            <a:ext cx="2530764" cy="591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⚠ </a:t>
            </a:r>
            <a:r>
              <a:rPr lang="en-IN" dirty="0"/>
              <a:t>Escalated </a:t>
            </a:r>
            <a:endParaRPr lang="en-IN" dirty="0" smtClean="0"/>
          </a:p>
          <a:p>
            <a:pPr algn="ctr"/>
            <a:r>
              <a:rPr lang="en-GB" dirty="0"/>
              <a:t>1</a:t>
            </a:r>
            <a:endParaRPr lang="en-GB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632584"/>
              </p:ext>
            </p:extLst>
          </p:nvPr>
        </p:nvGraphicFramePr>
        <p:xfrm>
          <a:off x="364834" y="1922330"/>
          <a:ext cx="84512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255"/>
                <a:gridCol w="1690255"/>
                <a:gridCol w="1690255"/>
                <a:gridCol w="1690255"/>
                <a:gridCol w="1690255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Day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PO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Article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Material Status</a:t>
                      </a:r>
                      <a:r>
                        <a:rPr lang="en-GB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2025/07/05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AP11CO5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dirty="0" smtClean="0"/>
                        <a:t>Samba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✅ OK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❌ Short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072516"/>
              </p:ext>
            </p:extLst>
          </p:nvPr>
        </p:nvGraphicFramePr>
        <p:xfrm>
          <a:off x="415637" y="3942229"/>
          <a:ext cx="11203709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254"/>
                <a:gridCol w="785091"/>
                <a:gridCol w="868218"/>
                <a:gridCol w="1797398"/>
                <a:gridCol w="853438"/>
                <a:gridCol w="1016000"/>
                <a:gridCol w="923637"/>
                <a:gridCol w="905163"/>
                <a:gridCol w="1752139"/>
                <a:gridCol w="112037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PO 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Article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Required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Available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Shortage</a:t>
                      </a:r>
                      <a:r>
                        <a:rPr lang="en-GB" sz="1400" baseline="0" dirty="0" smtClean="0"/>
                        <a:t>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Status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Invoice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ETA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M001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1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OK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M002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520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300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220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❌ 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/>
                        <a:t>INV-MAT-20240620-0048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2025/07/05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50980" y="3592816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350980" y="3583580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3163450" y="3480508"/>
            <a:ext cx="745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By default the field takes short material status </a:t>
            </a:r>
            <a:r>
              <a:rPr lang="en-GB" dirty="0" err="1" smtClean="0"/>
              <a:t>po</a:t>
            </a:r>
            <a:r>
              <a:rPr lang="en-GB" dirty="0" smtClean="0"/>
              <a:t> in ascending order</a:t>
            </a:r>
            <a:endParaRPr lang="en-IN" dirty="0"/>
          </a:p>
        </p:txBody>
      </p:sp>
      <p:cxnSp>
        <p:nvCxnSpPr>
          <p:cNvPr id="18" name="Straight Arrow Connector 17"/>
          <p:cNvCxnSpPr>
            <a:stCxn id="46" idx="1"/>
            <a:endCxn id="14" idx="3"/>
          </p:cNvCxnSpPr>
          <p:nvPr/>
        </p:nvCxnSpPr>
        <p:spPr>
          <a:xfrm flipH="1">
            <a:off x="2964871" y="2811851"/>
            <a:ext cx="4987633" cy="9287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50980" y="5724222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350980" y="571498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22" name="Rectangle 21"/>
          <p:cNvSpPr/>
          <p:nvPr/>
        </p:nvSpPr>
        <p:spPr>
          <a:xfrm>
            <a:off x="3126510" y="5736459"/>
            <a:ext cx="5343236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Enter Issue</a:t>
            </a:r>
            <a:endParaRPr lang="en-IN" sz="1400" dirty="0"/>
          </a:p>
        </p:txBody>
      </p:sp>
      <p:sp>
        <p:nvSpPr>
          <p:cNvPr id="23" name="Rectangle 22"/>
          <p:cNvSpPr/>
          <p:nvPr/>
        </p:nvSpPr>
        <p:spPr>
          <a:xfrm>
            <a:off x="3126510" y="5727224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Issue</a:t>
            </a:r>
            <a:endParaRPr lang="en-IN" sz="1400" dirty="0"/>
          </a:p>
        </p:txBody>
      </p:sp>
      <p:sp>
        <p:nvSpPr>
          <p:cNvPr id="26" name="Rounded Rectangle 25"/>
          <p:cNvSpPr/>
          <p:nvPr/>
        </p:nvSpPr>
        <p:spPr>
          <a:xfrm>
            <a:off x="8811490" y="5727224"/>
            <a:ext cx="1016001" cy="3047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Submit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4834" y="6447006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350980" y="6437771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3228107" y="6419311"/>
            <a:ext cx="1016001" cy="30479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Check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228104" y="1576263"/>
            <a:ext cx="5089237" cy="28632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PO Readiness List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228104" y="3179582"/>
            <a:ext cx="5089237" cy="2863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Material Checklist by PO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253509" y="5378179"/>
            <a:ext cx="5089237" cy="2863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Raise Escalations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228104" y="6082503"/>
            <a:ext cx="5089237" cy="28632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Request store verification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64834" y="397162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2025/07/05</a:t>
            </a:r>
            <a:endParaRPr lang="en-IN" dirty="0"/>
          </a:p>
        </p:txBody>
      </p:sp>
      <p:sp>
        <p:nvSpPr>
          <p:cNvPr id="37" name="Rectangle 36"/>
          <p:cNvSpPr/>
          <p:nvPr/>
        </p:nvSpPr>
        <p:spPr>
          <a:xfrm>
            <a:off x="364834" y="38792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Day</a:t>
            </a:r>
            <a:endParaRPr lang="en-IN" sz="1400" dirty="0"/>
          </a:p>
        </p:txBody>
      </p:sp>
      <p:sp>
        <p:nvSpPr>
          <p:cNvPr id="38" name="Rectangle 37"/>
          <p:cNvSpPr/>
          <p:nvPr/>
        </p:nvSpPr>
        <p:spPr>
          <a:xfrm>
            <a:off x="3144981" y="39317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39" name="Rectangle 38"/>
          <p:cNvSpPr/>
          <p:nvPr/>
        </p:nvSpPr>
        <p:spPr>
          <a:xfrm>
            <a:off x="3144981" y="383943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40" name="Rectangle 39"/>
          <p:cNvSpPr/>
          <p:nvPr/>
        </p:nvSpPr>
        <p:spPr>
          <a:xfrm>
            <a:off x="5925128" y="410511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41" name="Rectangle 40"/>
          <p:cNvSpPr/>
          <p:nvPr/>
        </p:nvSpPr>
        <p:spPr>
          <a:xfrm>
            <a:off x="5925128" y="401275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42" name="Rectangle 41"/>
          <p:cNvSpPr/>
          <p:nvPr/>
        </p:nvSpPr>
        <p:spPr>
          <a:xfrm>
            <a:off x="8705275" y="410511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43" name="Rectangle 42"/>
          <p:cNvSpPr/>
          <p:nvPr/>
        </p:nvSpPr>
        <p:spPr>
          <a:xfrm>
            <a:off x="8705275" y="401275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45" name="Rounded Rectangle 44"/>
          <p:cNvSpPr/>
          <p:nvPr/>
        </p:nvSpPr>
        <p:spPr>
          <a:xfrm>
            <a:off x="7952504" y="2328536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46" name="Rounded Rectangle 45"/>
          <p:cNvSpPr/>
          <p:nvPr/>
        </p:nvSpPr>
        <p:spPr>
          <a:xfrm>
            <a:off x="7952504" y="2687160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6087" y="0"/>
            <a:ext cx="595913" cy="3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88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5094" y="3371818"/>
            <a:ext cx="47596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Purpose:</a:t>
            </a:r>
            <a:r>
              <a:rPr lang="en-GB" sz="1400" dirty="0"/>
              <a:t> Give tools to take quick actions when problems arise.</a:t>
            </a:r>
            <a:endParaRPr lang="en-IN" sz="14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880168"/>
              </p:ext>
            </p:extLst>
          </p:nvPr>
        </p:nvGraphicFramePr>
        <p:xfrm>
          <a:off x="1015094" y="3728034"/>
          <a:ext cx="10515600" cy="1013793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404193">
                <a:tc>
                  <a:txBody>
                    <a:bodyPr/>
                    <a:lstStyle/>
                    <a:p>
                      <a:r>
                        <a:rPr lang="en-IN" sz="1400" dirty="0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400" dirty="0"/>
                        <a:t>Raise Escalation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Supervisor can raise issue to planning/store/purchase with comments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400" dirty="0"/>
                        <a:t>Request Store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Ask store to recheck or confirm material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75083" y="4946660"/>
            <a:ext cx="4548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Actionable Insight:</a:t>
            </a:r>
            <a:r>
              <a:rPr lang="en-GB" sz="1400" dirty="0"/>
              <a:t> Reduces delay and increases ownership.</a:t>
            </a:r>
            <a:endParaRPr lang="en-IN" sz="1400" dirty="0"/>
          </a:p>
        </p:txBody>
      </p:sp>
      <p:sp>
        <p:nvSpPr>
          <p:cNvPr id="5" name="Rectangle 4"/>
          <p:cNvSpPr/>
          <p:nvPr/>
        </p:nvSpPr>
        <p:spPr>
          <a:xfrm>
            <a:off x="1015094" y="428632"/>
            <a:ext cx="44681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dirty="0"/>
              <a:t>Purpose:</a:t>
            </a:r>
            <a:r>
              <a:rPr lang="en-GB" sz="1400" dirty="0"/>
              <a:t> Instant visibility into current day’s assigned work.</a:t>
            </a:r>
            <a:endParaRPr lang="en-IN" sz="1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20531"/>
              </p:ext>
            </p:extLst>
          </p:nvPr>
        </p:nvGraphicFramePr>
        <p:xfrm>
          <a:off x="719320" y="833161"/>
          <a:ext cx="10515600" cy="15240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KPI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📋 Assigned POs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/>
                        <a:t>Total number of POs assigned to this 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✅ Ready to Cut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/>
                        <a:t>Number of POs where all required materials are ready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❌ Not Ready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/>
                        <a:t>POs with pending material 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⚠️ Escalated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POs where supervisor has already escalated an 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015094" y="2432248"/>
            <a:ext cx="87488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/>
              <a:t>Actionable Insight:</a:t>
            </a:r>
            <a:r>
              <a:rPr lang="en-GB" sz="1400" dirty="0"/>
              <a:t> Helps supervisor prioritize which POs to act on immediately.</a:t>
            </a:r>
            <a:endParaRPr lang="en-IN" sz="1400" dirty="0"/>
          </a:p>
        </p:txBody>
      </p:sp>
      <p:sp>
        <p:nvSpPr>
          <p:cNvPr id="8" name="Rectangle 7"/>
          <p:cNvSpPr/>
          <p:nvPr/>
        </p:nvSpPr>
        <p:spPr>
          <a:xfrm>
            <a:off x="611597" y="155644"/>
            <a:ext cx="2318328" cy="2493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Explanation For KPI Cards 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611597" y="3001439"/>
            <a:ext cx="5017388" cy="2493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Explanation For Raise Escalations and Request Escalations 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975083" y="446270"/>
            <a:ext cx="10695709" cy="2473168"/>
          </a:xfrm>
          <a:prstGeom prst="rect">
            <a:avLst/>
          </a:prstGeom>
          <a:solidFill>
            <a:schemeClr val="accent5">
              <a:alpha val="19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75082" y="3328631"/>
            <a:ext cx="10695709" cy="2187220"/>
          </a:xfrm>
          <a:prstGeom prst="rect">
            <a:avLst/>
          </a:prstGeom>
          <a:solidFill>
            <a:schemeClr val="accent5">
              <a:alpha val="19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6087" y="0"/>
            <a:ext cx="595913" cy="3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68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0809" y="20968"/>
            <a:ext cx="9347200" cy="36945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 smtClean="0"/>
              <a:t>Planning , Warehouse , Purchase Department Dashboard</a:t>
            </a:r>
            <a:endParaRPr lang="en-IN" sz="1400" dirty="0"/>
          </a:p>
        </p:txBody>
      </p:sp>
      <p:sp>
        <p:nvSpPr>
          <p:cNvPr id="12" name="Rounded Rectangle 11"/>
          <p:cNvSpPr/>
          <p:nvPr/>
        </p:nvSpPr>
        <p:spPr>
          <a:xfrm>
            <a:off x="0" y="473696"/>
            <a:ext cx="7389094" cy="30215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 smtClean="0"/>
              <a:t>PO Material Allocation View</a:t>
            </a:r>
            <a:endParaRPr lang="en-IN" sz="16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172198"/>
              </p:ext>
            </p:extLst>
          </p:nvPr>
        </p:nvGraphicFramePr>
        <p:xfrm>
          <a:off x="221667" y="859127"/>
          <a:ext cx="1158240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629"/>
                <a:gridCol w="1654629"/>
                <a:gridCol w="1654629"/>
                <a:gridCol w="1654629"/>
                <a:gridCol w="1654629"/>
                <a:gridCol w="1654629"/>
                <a:gridCol w="1654629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Day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PO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Article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BOM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PURCHASE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WAREHOUSE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STATUS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2025/07/02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Samba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✅ 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✔ Ordered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✅ Not</a:t>
                      </a:r>
                      <a:r>
                        <a:rPr lang="en-IN" baseline="0" dirty="0" smtClean="0"/>
                        <a:t> Ok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❌ Short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Stan smith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✅ 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✔ Ordered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✅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✅ </a:t>
                      </a:r>
                      <a:r>
                        <a:rPr lang="en-IN" baseline="0" dirty="0" smtClean="0"/>
                        <a:t> Ok</a:t>
                      </a:r>
                      <a:endParaRPr lang="en-IN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1092872" y="1320800"/>
            <a:ext cx="637309" cy="24014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012216"/>
              </p:ext>
            </p:extLst>
          </p:nvPr>
        </p:nvGraphicFramePr>
        <p:xfrm>
          <a:off x="175488" y="2163310"/>
          <a:ext cx="11582400" cy="1621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  <a:gridCol w="1447800"/>
                <a:gridCol w="1611749"/>
                <a:gridCol w="1283851"/>
              </a:tblGrid>
              <a:tr h="617014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PO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Required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Available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Shortage qty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Ordered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invoice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ETA</a:t>
                      </a:r>
                      <a:endParaRPr lang="en-IN" sz="1400" dirty="0"/>
                    </a:p>
                  </a:txBody>
                  <a:tcPr/>
                </a:tc>
              </a:tr>
              <a:tr h="49135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M01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-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-</a:t>
                      </a:r>
                      <a:endParaRPr lang="en-IN" sz="1400" dirty="0"/>
                    </a:p>
                  </a:txBody>
                  <a:tcPr/>
                </a:tc>
              </a:tr>
              <a:tr h="513529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M02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258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220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INV-MAT-20240620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2025/07/05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 flipH="1">
            <a:off x="10289309" y="1560946"/>
            <a:ext cx="1122218" cy="748145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8619" y="3842327"/>
            <a:ext cx="2290618" cy="369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Filters : </a:t>
            </a:r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1316180" y="3916218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2025/07/05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1316180" y="3906982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Day</a:t>
            </a:r>
            <a:endParaRPr lang="en-IN" sz="1400" dirty="0"/>
          </a:p>
        </p:txBody>
      </p:sp>
      <p:sp>
        <p:nvSpPr>
          <p:cNvPr id="21" name="Rectangle 20"/>
          <p:cNvSpPr/>
          <p:nvPr/>
        </p:nvSpPr>
        <p:spPr>
          <a:xfrm>
            <a:off x="4177463" y="3934688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4177463" y="394392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6087" y="0"/>
            <a:ext cx="595913" cy="3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19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820045" y="196458"/>
            <a:ext cx="9347200" cy="36945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 smtClean="0"/>
              <a:t>Mail Escalations And Whatsapp Escalations</a:t>
            </a:r>
            <a:endParaRPr lang="en-IN" sz="140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046710"/>
              </p:ext>
            </p:extLst>
          </p:nvPr>
        </p:nvGraphicFramePr>
        <p:xfrm>
          <a:off x="128067" y="691704"/>
          <a:ext cx="11942612" cy="324288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85653"/>
                <a:gridCol w="2985653"/>
                <a:gridCol w="2985653"/>
                <a:gridCol w="2985653"/>
              </a:tblGrid>
              <a:tr h="326043">
                <a:tc>
                  <a:txBody>
                    <a:bodyPr/>
                    <a:lstStyle/>
                    <a:p>
                      <a:r>
                        <a:rPr lang="en-IN" sz="1400" dirty="0"/>
                        <a:t>Escalation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Trigger 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Target 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Medium</a:t>
                      </a:r>
                    </a:p>
                  </a:txBody>
                  <a:tcPr anchor="ctr"/>
                </a:tc>
              </a:tr>
              <a:tr h="500057">
                <a:tc>
                  <a:txBody>
                    <a:bodyPr/>
                    <a:lstStyle/>
                    <a:p>
                      <a:r>
                        <a:rPr lang="en-IN" sz="1400" dirty="0"/>
                        <a:t>Material Shortage Alert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Required material not available in stock &amp; no PO before CRD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Purchase, Warehouse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Email, </a:t>
                      </a:r>
                      <a:r>
                        <a:rPr lang="en-IN" sz="1400" dirty="0" err="1"/>
                        <a:t>WhatsApp</a:t>
                      </a:r>
                      <a:endParaRPr lang="en-IN" sz="1400" dirty="0"/>
                    </a:p>
                  </a:txBody>
                  <a:tcPr anchor="ctr"/>
                </a:tc>
              </a:tr>
              <a:tr h="500057">
                <a:tc>
                  <a:txBody>
                    <a:bodyPr/>
                    <a:lstStyle/>
                    <a:p>
                      <a:r>
                        <a:rPr lang="en-IN" sz="1400" dirty="0"/>
                        <a:t>Delayed PO Delivery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PO delivery date exceeds CRD or cutting plan date</a:t>
                      </a:r>
                      <a:endParaRPr lang="en-GB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Purchase</a:t>
                      </a:r>
                      <a:endParaRPr lang="en-IN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Email, </a:t>
                      </a:r>
                      <a:r>
                        <a:rPr lang="en-IN" sz="1400" dirty="0" err="1"/>
                        <a:t>WhatsApp</a:t>
                      </a:r>
                      <a:endParaRPr lang="en-IN" sz="1400" b="0" dirty="0"/>
                    </a:p>
                  </a:txBody>
                  <a:tcPr anchor="ctr"/>
                </a:tc>
              </a:tr>
              <a:tr h="500057">
                <a:tc>
                  <a:txBody>
                    <a:bodyPr/>
                    <a:lstStyle/>
                    <a:p>
                      <a:r>
                        <a:rPr lang="en-IN" sz="1400" dirty="0"/>
                        <a:t>Cutting Plan at Risk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Material not ready 2 days before scheduled cutting</a:t>
                      </a:r>
                      <a:endParaRPr lang="en-GB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Planning, Production</a:t>
                      </a:r>
                      <a:endParaRPr lang="en-IN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WhatsApp</a:t>
                      </a:r>
                      <a:endParaRPr lang="en-IN" sz="1400" b="0" dirty="0"/>
                    </a:p>
                  </a:txBody>
                  <a:tcPr anchor="ctr"/>
                </a:tc>
              </a:tr>
              <a:tr h="500057">
                <a:tc>
                  <a:txBody>
                    <a:bodyPr/>
                    <a:lstStyle/>
                    <a:p>
                      <a:r>
                        <a:rPr lang="en-IN" sz="1400" dirty="0"/>
                        <a:t>Line Stoppage Notification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Production halted due to missing material</a:t>
                      </a:r>
                      <a:endParaRPr lang="en-GB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Planning, Purchase, Warehouse</a:t>
                      </a:r>
                      <a:endParaRPr lang="en-IN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Email</a:t>
                      </a:r>
                      <a:endParaRPr lang="en-IN" sz="1400" b="0" dirty="0"/>
                    </a:p>
                  </a:txBody>
                  <a:tcPr anchor="ctr"/>
                </a:tc>
              </a:tr>
              <a:tr h="500057">
                <a:tc>
                  <a:txBody>
                    <a:bodyPr/>
                    <a:lstStyle/>
                    <a:p>
                      <a:r>
                        <a:rPr lang="en-IN" sz="1400" dirty="0"/>
                        <a:t>Material Fetch Delay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Material request issued but not fetched from warehouse</a:t>
                      </a:r>
                      <a:endParaRPr lang="en-GB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Warehouse</a:t>
                      </a:r>
                      <a:endParaRPr lang="en-IN" sz="14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WhatsApp</a:t>
                      </a:r>
                      <a:endParaRPr lang="en-IN" sz="1400" b="0" dirty="0"/>
                    </a:p>
                  </a:txBody>
                  <a:tcPr anchor="ctr"/>
                </a:tc>
              </a:tr>
              <a:tr h="326043">
                <a:tc>
                  <a:txBody>
                    <a:bodyPr/>
                    <a:lstStyle/>
                    <a:p>
                      <a:r>
                        <a:rPr lang="en-IN" sz="1400" dirty="0"/>
                        <a:t>Schedule Escalation</a:t>
                      </a:r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Cutting not started on planned date</a:t>
                      </a:r>
                      <a:endParaRPr lang="en-GB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Planning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Email</a:t>
                      </a:r>
                      <a:endParaRPr lang="en-IN" sz="1400" b="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6087" y="0"/>
            <a:ext cx="595913" cy="3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5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utoShape 6" descr="PowerPoint And Google Slides Templ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8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3252488" cy="32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2567030" cy="256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382"/>
          </a:xfrm>
          <a:prstGeom prst="rect">
            <a:avLst/>
          </a:prstGeom>
        </p:spPr>
      </p:pic>
      <p:sp>
        <p:nvSpPr>
          <p:cNvPr id="8" name="AutoShape 4" descr="Free Thanks PowerPoint, Canva, and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618"/>
            <a:ext cx="12192000" cy="686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081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1724</TotalTime>
  <Words>1288</Words>
  <Application>Microsoft Office PowerPoint</Application>
  <PresentationFormat>Widescreen</PresentationFormat>
  <Paragraphs>412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133</cp:revision>
  <dcterms:created xsi:type="dcterms:W3CDTF">2025-06-27T04:27:35Z</dcterms:created>
  <dcterms:modified xsi:type="dcterms:W3CDTF">2025-07-07T03:59:28Z</dcterms:modified>
</cp:coreProperties>
</file>