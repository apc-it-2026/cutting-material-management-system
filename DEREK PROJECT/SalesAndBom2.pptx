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3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60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7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8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1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4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1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0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80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04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23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32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18EF1-2560-4CE6-9ABA-37BC447FE416}" type="datetimeFigureOut">
              <a:rPr lang="en-IN" smtClean="0"/>
              <a:t>2025/06/25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536" y="554181"/>
            <a:ext cx="1062183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ORDERS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340126" y="577271"/>
            <a:ext cx="1062183" cy="914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BOM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340126" y="2068945"/>
            <a:ext cx="1182256" cy="914400"/>
          </a:xfrm>
          <a:prstGeom prst="rect">
            <a:avLst/>
          </a:prstGeom>
          <a:solidFill>
            <a:schemeClr val="accent5">
              <a:alpha val="68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PURCHASE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537736" y="2117439"/>
            <a:ext cx="1477817" cy="914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WAREHOUSE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617534" y="3585997"/>
            <a:ext cx="1514765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PLANNING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9597647" y="3528294"/>
            <a:ext cx="1450756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SHIPMENT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99536" y="5124012"/>
            <a:ext cx="11665527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000" b="1" dirty="0" smtClean="0">
                <a:solidFill>
                  <a:srgbClr val="7030A0"/>
                </a:solidFill>
              </a:rPr>
              <a:t>END TO END TESTING</a:t>
            </a:r>
            <a:endParaRPr lang="en-IN" sz="4000" b="1" dirty="0">
              <a:solidFill>
                <a:srgbClr val="7030A0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361719" y="76906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 rot="5400000">
            <a:off x="2600522" y="1555935"/>
            <a:ext cx="541389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3540855" y="225639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 rot="5400000">
            <a:off x="5005949" y="3072986"/>
            <a:ext cx="541389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6132299" y="37431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7104474" y="3528294"/>
            <a:ext cx="1520998" cy="914400"/>
          </a:xfrm>
          <a:prstGeom prst="rect">
            <a:avLst/>
          </a:prstGeom>
          <a:solidFill>
            <a:schemeClr val="accent5">
              <a:alpha val="68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WAREHOUSE</a:t>
            </a:r>
            <a:endParaRPr lang="en-IN" dirty="0"/>
          </a:p>
        </p:txBody>
      </p:sp>
      <p:sp>
        <p:nvSpPr>
          <p:cNvPr id="19" name="Right Arrow 18"/>
          <p:cNvSpPr/>
          <p:nvPr/>
        </p:nvSpPr>
        <p:spPr>
          <a:xfrm>
            <a:off x="8625472" y="374317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5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4652" y="-64652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581892" y="-38270"/>
            <a:ext cx="11139054" cy="332509"/>
          </a:xfrm>
          <a:prstGeom prst="roundRect">
            <a:avLst/>
          </a:prstGeom>
          <a:solidFill>
            <a:schemeClr val="accent4">
              <a:alpha val="76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flow of creating a sales order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48509" y="1556902"/>
            <a:ext cx="2613890" cy="314037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Orders From Adidas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8509" y="2154382"/>
            <a:ext cx="2613890" cy="360217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Download Order from </a:t>
            </a:r>
            <a:r>
              <a:rPr lang="en-GB" sz="1400" b="1" dirty="0" smtClean="0">
                <a:solidFill>
                  <a:schemeClr val="bg1"/>
                </a:solidFill>
              </a:rPr>
              <a:t>Infonet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8509" y="2826038"/>
            <a:ext cx="2613890" cy="360218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Create Sales Order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092" y="3813317"/>
            <a:ext cx="1717964" cy="350982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ZSD001N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1072" y="3823998"/>
            <a:ext cx="1394690" cy="350982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VA01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1072" y="4482667"/>
            <a:ext cx="1394690" cy="370031"/>
          </a:xfrm>
          <a:prstGeom prst="rect">
            <a:avLst/>
          </a:prstGeom>
          <a:solidFill>
            <a:schemeClr val="accent4">
              <a:alpha val="64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VA02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623286" y="3525114"/>
            <a:ext cx="196735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04814" y="5280169"/>
            <a:ext cx="1967351" cy="12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523678" y="4855725"/>
            <a:ext cx="1" cy="45258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623286" y="4164299"/>
            <a:ext cx="8088" cy="112813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172853" y="647121"/>
            <a:ext cx="868219" cy="544945"/>
          </a:xfrm>
          <a:prstGeom prst="ellipse">
            <a:avLst/>
          </a:prstGeom>
          <a:solidFill>
            <a:schemeClr val="accent6">
              <a:alpha val="6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Start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627746" y="1189754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620820" y="1824759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20820" y="2514599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627746" y="3186256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23679" y="3497695"/>
            <a:ext cx="1" cy="3218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44075" y="3525114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523679" y="4164299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588488" y="5308307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170541" y="5609573"/>
            <a:ext cx="835893" cy="457632"/>
          </a:xfrm>
          <a:prstGeom prst="ellipse">
            <a:avLst/>
          </a:prstGeom>
          <a:solidFill>
            <a:schemeClr val="accent2">
              <a:alpha val="67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End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32793" y="4174980"/>
            <a:ext cx="74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Update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738475" y="80889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hevron 49"/>
          <p:cNvSpPr/>
          <p:nvPr/>
        </p:nvSpPr>
        <p:spPr>
          <a:xfrm>
            <a:off x="5056907" y="760841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4724627" y="219102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Chevron 51"/>
          <p:cNvSpPr/>
          <p:nvPr/>
        </p:nvSpPr>
        <p:spPr>
          <a:xfrm>
            <a:off x="5043059" y="214296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4715389" y="315031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Chevron 53"/>
          <p:cNvSpPr/>
          <p:nvPr/>
        </p:nvSpPr>
        <p:spPr>
          <a:xfrm>
            <a:off x="5033821" y="3102262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4733863" y="4655854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Chevron 55"/>
          <p:cNvSpPr/>
          <p:nvPr/>
        </p:nvSpPr>
        <p:spPr>
          <a:xfrm>
            <a:off x="5052295" y="4607799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4724624" y="388922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Chevron 57"/>
          <p:cNvSpPr/>
          <p:nvPr/>
        </p:nvSpPr>
        <p:spPr>
          <a:xfrm>
            <a:off x="5043056" y="3841170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603875" y="331179"/>
            <a:ext cx="6243782" cy="1449122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Adidas Team Order Process</a:t>
            </a:r>
          </a:p>
          <a:p>
            <a:endParaRPr lang="en-GB" sz="1200" dirty="0" smtClean="0">
              <a:solidFill>
                <a:schemeClr val="tx1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The Adidas team places orders with our organization on a </a:t>
            </a:r>
            <a:r>
              <a:rPr lang="en-GB" sz="1200" b="1" dirty="0" smtClean="0">
                <a:solidFill>
                  <a:schemeClr val="tx1"/>
                </a:solidFill>
              </a:rPr>
              <a:t>monthly basis</a:t>
            </a:r>
            <a:r>
              <a:rPr lang="en-GB" sz="1200" dirty="0" smtClean="0">
                <a:solidFill>
                  <a:schemeClr val="tx1"/>
                </a:solidFill>
              </a:rPr>
              <a:t>, and modifications to these orders are made </a:t>
            </a:r>
            <a:r>
              <a:rPr lang="en-GB" sz="1200" b="1" dirty="0" smtClean="0">
                <a:solidFill>
                  <a:schemeClr val="tx1"/>
                </a:solidFill>
              </a:rPr>
              <a:t>weekly</a:t>
            </a:r>
            <a:r>
              <a:rPr lang="en-GB" sz="1200" dirty="0" smtClean="0">
                <a:solidFill>
                  <a:schemeClr val="tx1"/>
                </a:solidFill>
              </a:rPr>
              <a:t> as needed. </a:t>
            </a:r>
          </a:p>
          <a:p>
            <a:r>
              <a:rPr lang="en-GB" sz="1200" dirty="0" smtClean="0">
                <a:solidFill>
                  <a:schemeClr val="tx1"/>
                </a:solidFill>
              </a:rPr>
              <a:t>Orders are submitted in a structured format that includes: </a:t>
            </a:r>
          </a:p>
          <a:p>
            <a:r>
              <a:rPr lang="en-GB" sz="1200" b="1" dirty="0" smtClean="0">
                <a:solidFill>
                  <a:schemeClr val="tx1"/>
                </a:solidFill>
              </a:rPr>
              <a:t>                                                           PO , CRD , ARTICLE , ORDER QUANTITY </a:t>
            </a:r>
            <a:endParaRPr lang="en-GB" sz="1200" dirty="0" smtClean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603875" y="1833854"/>
            <a:ext cx="6243782" cy="1126257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Sales Order Creation Process</a:t>
            </a:r>
          </a:p>
          <a:p>
            <a:endParaRPr lang="en-GB" sz="1200" dirty="0" smtClean="0"/>
          </a:p>
          <a:p>
            <a:r>
              <a:rPr lang="en-GB" sz="1200" dirty="0" smtClean="0">
                <a:solidFill>
                  <a:schemeClr val="tx1"/>
                </a:solidFill>
              </a:rPr>
              <a:t>The </a:t>
            </a:r>
            <a:r>
              <a:rPr lang="en-GB" sz="1200" b="1" dirty="0" smtClean="0">
                <a:solidFill>
                  <a:schemeClr val="tx1"/>
                </a:solidFill>
              </a:rPr>
              <a:t>Order Team</a:t>
            </a:r>
            <a:r>
              <a:rPr lang="en-GB" sz="1200" dirty="0" smtClean="0">
                <a:solidFill>
                  <a:schemeClr val="tx1"/>
                </a:solidFill>
              </a:rPr>
              <a:t> is responsible for managing customer orders received through the </a:t>
            </a:r>
            <a:r>
              <a:rPr lang="en-GB" sz="1200" b="1" dirty="0" smtClean="0">
                <a:solidFill>
                  <a:schemeClr val="tx1"/>
                </a:solidFill>
              </a:rPr>
              <a:t>Infonet</a:t>
            </a:r>
            <a:r>
              <a:rPr lang="en-GB" sz="1200" dirty="0" smtClean="0">
                <a:solidFill>
                  <a:schemeClr val="tx1"/>
                </a:solidFill>
              </a:rPr>
              <a:t> system. The process involves downloading the orders and creating or updating sales orders in the SAP system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603875" y="3015530"/>
            <a:ext cx="6243782" cy="642218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VA01</a:t>
            </a:r>
          </a:p>
          <a:p>
            <a:endParaRPr lang="en-GB" sz="1200" b="1" dirty="0" smtClean="0"/>
          </a:p>
          <a:p>
            <a:r>
              <a:rPr lang="en-GB" sz="1200" dirty="0" smtClean="0">
                <a:solidFill>
                  <a:schemeClr val="tx1"/>
                </a:solidFill>
              </a:rPr>
              <a:t>Standard SAP transaction code used to </a:t>
            </a:r>
            <a:r>
              <a:rPr lang="en-GB" sz="1200" b="1" dirty="0" smtClean="0">
                <a:solidFill>
                  <a:schemeClr val="tx1"/>
                </a:solidFill>
              </a:rPr>
              <a:t>create new sales orders</a:t>
            </a:r>
            <a:r>
              <a:rPr lang="en-GB" sz="1200" dirty="0" smtClean="0">
                <a:solidFill>
                  <a:schemeClr val="tx1"/>
                </a:solidFill>
              </a:rPr>
              <a:t>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03875" y="3720005"/>
            <a:ext cx="6243782" cy="686757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VA02</a:t>
            </a:r>
          </a:p>
          <a:p>
            <a:endParaRPr lang="en-GB" sz="1200" b="1" dirty="0" smtClean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Standard SAP transaction code used to </a:t>
            </a:r>
            <a:r>
              <a:rPr lang="en-GB" sz="1200" b="1" dirty="0" smtClean="0">
                <a:solidFill>
                  <a:schemeClr val="tx1"/>
                </a:solidFill>
              </a:rPr>
              <a:t>modify or update existing sales orders</a:t>
            </a:r>
            <a:r>
              <a:rPr lang="en-GB" sz="1200" dirty="0" smtClean="0">
                <a:solidFill>
                  <a:schemeClr val="tx1"/>
                </a:solidFill>
              </a:rPr>
              <a:t>.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615705" y="4461533"/>
            <a:ext cx="6243782" cy="815286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ZSD001N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A </a:t>
            </a:r>
            <a:r>
              <a:rPr lang="en-GB" sz="1200" b="1" dirty="0" smtClean="0">
                <a:solidFill>
                  <a:schemeClr val="tx1"/>
                </a:solidFill>
              </a:rPr>
              <a:t>customized transaction code</a:t>
            </a:r>
            <a:r>
              <a:rPr lang="en-GB" sz="1200" dirty="0" smtClean="0">
                <a:solidFill>
                  <a:schemeClr val="tx1"/>
                </a:solidFill>
              </a:rPr>
              <a:t> developed to facilitate </a:t>
            </a:r>
            <a:r>
              <a:rPr lang="en-GB" sz="1200" b="1" dirty="0" smtClean="0">
                <a:solidFill>
                  <a:schemeClr val="tx1"/>
                </a:solidFill>
              </a:rPr>
              <a:t>bulk order uploads</a:t>
            </a:r>
            <a:r>
              <a:rPr lang="en-GB" sz="1200" dirty="0" smtClean="0">
                <a:solidFill>
                  <a:schemeClr val="tx1"/>
                </a:solidFill>
              </a:rPr>
              <a:t> efficiently.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733858" y="595818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Chevron 64"/>
          <p:cNvSpPr/>
          <p:nvPr/>
        </p:nvSpPr>
        <p:spPr>
          <a:xfrm>
            <a:off x="5052290" y="591012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603875" y="5322353"/>
            <a:ext cx="6243782" cy="1401719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C00000"/>
                </a:solidFill>
              </a:rPr>
              <a:t>Clarification on the Use of VA01 Despite the Availability of ZSD001N ( </a:t>
            </a:r>
            <a:r>
              <a:rPr lang="en-IN" sz="1200" b="1" dirty="0" smtClean="0">
                <a:solidFill>
                  <a:srgbClr val="C00000"/>
                </a:solidFill>
              </a:rPr>
              <a:t>Earlier-discussed </a:t>
            </a:r>
            <a:r>
              <a:rPr lang="en-GB" sz="1200" b="1" dirty="0" smtClean="0">
                <a:solidFill>
                  <a:srgbClr val="C00000"/>
                </a:solidFill>
              </a:rPr>
              <a:t>)  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While ZSD001N improves efficiency for bulk uploads, </a:t>
            </a:r>
            <a:r>
              <a:rPr lang="en-GB" sz="1200" b="1" dirty="0" smtClean="0">
                <a:solidFill>
                  <a:schemeClr val="tx1"/>
                </a:solidFill>
              </a:rPr>
              <a:t>VA01 remains essential</a:t>
            </a:r>
            <a:r>
              <a:rPr lang="en-GB" sz="1200" dirty="0" smtClean="0">
                <a:solidFill>
                  <a:schemeClr val="tx1"/>
                </a:solidFill>
              </a:rPr>
              <a:t> in scenarios where: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Manual intervention or </a:t>
            </a:r>
            <a:r>
              <a:rPr lang="en-GB" sz="1200" b="1" dirty="0" smtClean="0">
                <a:solidFill>
                  <a:schemeClr val="tx1"/>
                </a:solidFill>
              </a:rPr>
              <a:t>case-by-case entry</a:t>
            </a:r>
            <a:r>
              <a:rPr lang="en-GB" sz="1200" dirty="0" smtClean="0">
                <a:solidFill>
                  <a:schemeClr val="tx1"/>
                </a:solidFill>
              </a:rPr>
              <a:t> is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Quick </a:t>
            </a:r>
            <a:r>
              <a:rPr lang="en-GB" sz="1200" b="1" dirty="0" smtClean="0">
                <a:solidFill>
                  <a:schemeClr val="tx1"/>
                </a:solidFill>
              </a:rPr>
              <a:t>correction or validation</a:t>
            </a:r>
            <a:r>
              <a:rPr lang="en-GB" sz="1200" dirty="0" smtClean="0">
                <a:solidFill>
                  <a:schemeClr val="tx1"/>
                </a:solidFill>
              </a:rPr>
              <a:t> is required before order confirmation.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Orders are </a:t>
            </a:r>
            <a:r>
              <a:rPr lang="en-GB" sz="1200" b="1" dirty="0" smtClean="0">
                <a:solidFill>
                  <a:schemeClr val="tx1"/>
                </a:solidFill>
              </a:rPr>
              <a:t>not suitable</a:t>
            </a:r>
            <a:r>
              <a:rPr lang="en-GB" sz="1200" dirty="0" smtClean="0">
                <a:solidFill>
                  <a:schemeClr val="tx1"/>
                </a:solidFill>
              </a:rPr>
              <a:t> for the bulk upload format.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84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4655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14036" y="110836"/>
            <a:ext cx="11554691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For Pull BOM Data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036" y="526473"/>
            <a:ext cx="12007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smtClean="0">
                <a:solidFill>
                  <a:srgbClr val="C00000"/>
                </a:solidFill>
              </a:rPr>
              <a:t>Process for Pulling BOM Data Using T-code ZMM123</a:t>
            </a:r>
          </a:p>
          <a:p>
            <a:endParaRPr lang="en-GB" sz="1400" dirty="0" smtClean="0"/>
          </a:p>
          <a:p>
            <a:r>
              <a:rPr lang="en-GB" sz="1400" dirty="0" smtClean="0"/>
              <a:t>The </a:t>
            </a:r>
            <a:r>
              <a:rPr lang="en-GB" sz="1400" b="1" dirty="0" smtClean="0"/>
              <a:t>ZMM123</a:t>
            </a:r>
            <a:r>
              <a:rPr lang="en-GB" sz="1400" dirty="0" smtClean="0"/>
              <a:t> transaction code is a </a:t>
            </a:r>
            <a:r>
              <a:rPr lang="en-GB" sz="1400" b="1" dirty="0" smtClean="0"/>
              <a:t>custom SAP T-code</a:t>
            </a:r>
            <a:r>
              <a:rPr lang="en-GB" sz="1400" dirty="0" smtClean="0"/>
              <a:t> used to </a:t>
            </a:r>
            <a:r>
              <a:rPr lang="en-GB" sz="1400" b="1" dirty="0" smtClean="0"/>
              <a:t>pull Bill of Materials (BOM) data</a:t>
            </a:r>
            <a:r>
              <a:rPr lang="en-GB" sz="1400" dirty="0" smtClean="0"/>
              <a:t> for material planning and execution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5095" y="2268096"/>
            <a:ext cx="2613890" cy="314037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Access SAP GUI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5095" y="2865576"/>
            <a:ext cx="2613890" cy="360217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Navigate to T-code ZMM123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095" y="3537232"/>
            <a:ext cx="2613890" cy="360218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Input Required Parameters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5095" y="4227794"/>
            <a:ext cx="2613890" cy="350982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Execute the T-code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5095" y="4923298"/>
            <a:ext cx="2613889" cy="350982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Review the BOM Data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609439" y="1358315"/>
            <a:ext cx="868219" cy="544945"/>
          </a:xfrm>
          <a:prstGeom prst="ellipse">
            <a:avLst/>
          </a:prstGeom>
          <a:solidFill>
            <a:schemeClr val="accent6">
              <a:alpha val="6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Start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064332" y="1900948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057406" y="2535953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057406" y="3225793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064332" y="3897450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064332" y="4599847"/>
            <a:ext cx="1" cy="3218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064332" y="5289866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646385" y="5644310"/>
            <a:ext cx="835893" cy="457632"/>
          </a:xfrm>
          <a:prstGeom prst="ellipse">
            <a:avLst/>
          </a:prstGeom>
          <a:solidFill>
            <a:schemeClr val="accent2">
              <a:alpha val="67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End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79493" y="1584754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Chevron 25"/>
          <p:cNvSpPr/>
          <p:nvPr/>
        </p:nvSpPr>
        <p:spPr>
          <a:xfrm>
            <a:off x="4197926" y="1536699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865645" y="2468113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Chevron 27"/>
          <p:cNvSpPr/>
          <p:nvPr/>
        </p:nvSpPr>
        <p:spPr>
          <a:xfrm>
            <a:off x="4184078" y="2420058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856407" y="3676792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Chevron 29"/>
          <p:cNvSpPr/>
          <p:nvPr/>
        </p:nvSpPr>
        <p:spPr>
          <a:xfrm>
            <a:off x="4174840" y="3628737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874881" y="5718036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Chevron 31"/>
          <p:cNvSpPr/>
          <p:nvPr/>
        </p:nvSpPr>
        <p:spPr>
          <a:xfrm>
            <a:off x="4193314" y="5669981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65642" y="4794392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Chevron 33"/>
          <p:cNvSpPr/>
          <p:nvPr/>
        </p:nvSpPr>
        <p:spPr>
          <a:xfrm>
            <a:off x="4184075" y="4746337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44893" y="1393361"/>
            <a:ext cx="7123833" cy="799288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Access SAP GUI</a:t>
            </a:r>
          </a:p>
          <a:p>
            <a:endParaRPr lang="en-GB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Log into the SAP system with the appropriate credentials.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7780" y="2232202"/>
            <a:ext cx="7123833" cy="906085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Navigate to T-Code ZMM123</a:t>
            </a:r>
          </a:p>
          <a:p>
            <a:endParaRPr lang="en-GB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In the command field enter ZMM123 and Press Enter.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6723" y="4624651"/>
            <a:ext cx="7123833" cy="763334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rgbClr val="FF0000"/>
                </a:solidFill>
              </a:rPr>
              <a:t>Execute the T-code</a:t>
            </a:r>
            <a:endParaRPr lang="en-GB" sz="1200" b="1" dirty="0" smtClean="0">
              <a:solidFill>
                <a:srgbClr val="FF0000"/>
              </a:solidFill>
            </a:endParaRPr>
          </a:p>
          <a:p>
            <a:endParaRPr lang="en-GB" sz="1200" b="1" dirty="0" smtClean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Click on Execute (F8) to run the process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44893" y="5459295"/>
            <a:ext cx="7123833" cy="815286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ZSD001N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The system retrieves and displays the list of BOM components associated with the entered material.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744893" y="3193774"/>
            <a:ext cx="7106720" cy="1378725"/>
          </a:xfrm>
          <a:prstGeom prst="rect">
            <a:avLst/>
          </a:prstGeom>
          <a:solidFill>
            <a:schemeClr val="bg2">
              <a:lumMod val="25000"/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rgbClr val="FF0000"/>
                </a:solidFill>
              </a:rPr>
              <a:t>Input Required Parameters </a:t>
            </a:r>
          </a:p>
          <a:p>
            <a:endParaRPr lang="en-GB" sz="1200" b="1" dirty="0" smtClean="0">
              <a:solidFill>
                <a:srgbClr val="FF3300"/>
              </a:solidFill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Material Number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Enter the specific material or article number.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Plant Code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Specify the plant for which the BOM data is required.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Other Filters (if applicable)</a:t>
            </a:r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</a:rPr>
              <a:t> – CRD date, PO number, or other specific criteria to narrow down results</a:t>
            </a:r>
            <a:endParaRPr lang="en-IN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02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0073" y="729673"/>
            <a:ext cx="5837382" cy="5024582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 smtClean="0">
                <a:solidFill>
                  <a:srgbClr val="C00000"/>
                </a:solidFill>
              </a:rPr>
              <a:t>ZMM018 – Create Collection</a:t>
            </a:r>
          </a:p>
          <a:p>
            <a:endParaRPr lang="en-GB" b="1" dirty="0" smtClean="0"/>
          </a:p>
          <a:p>
            <a:r>
              <a:rPr lang="en-GB" b="1" dirty="0" smtClean="0">
                <a:solidFill>
                  <a:schemeClr val="tx1"/>
                </a:solidFill>
              </a:rPr>
              <a:t>Purpose: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/>
            </a:r>
            <a:br>
              <a:rPr lang="en-GB" dirty="0" smtClean="0">
                <a:solidFill>
                  <a:schemeClr val="tx1"/>
                </a:solidFill>
              </a:rPr>
            </a:br>
            <a:r>
              <a:rPr lang="en-GB" dirty="0" smtClean="0">
                <a:solidFill>
                  <a:schemeClr val="tx1"/>
                </a:solidFill>
              </a:rPr>
              <a:t>Used to create a material collection based on BOM data for further planning or allocation.</a:t>
            </a:r>
          </a:p>
          <a:p>
            <a:endParaRPr lang="en-GB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Go to T-code ZMM018.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Enter the required input parameters,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Material Number / Article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Plant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PO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CRD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Select the BOM components to include in the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Click "Execute" (F8) or "Create Collection".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A Collection Number will be generated upon successful creation.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54436" y="729673"/>
            <a:ext cx="5938982" cy="5855854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 smtClean="0">
                <a:solidFill>
                  <a:srgbClr val="C00000"/>
                </a:solidFill>
              </a:rPr>
              <a:t>ZMM019 – Run Collection</a:t>
            </a:r>
          </a:p>
          <a:p>
            <a:endParaRPr lang="en-GB" b="1" dirty="0" smtClean="0"/>
          </a:p>
          <a:p>
            <a:r>
              <a:rPr lang="en-GB" b="1" dirty="0" smtClean="0">
                <a:solidFill>
                  <a:schemeClr val="tx1"/>
                </a:solidFill>
              </a:rPr>
              <a:t>Purpose: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/>
            </a:r>
            <a:br>
              <a:rPr lang="en-GB" dirty="0" smtClean="0">
                <a:solidFill>
                  <a:schemeClr val="tx1"/>
                </a:solidFill>
              </a:rPr>
            </a:br>
            <a:r>
              <a:rPr lang="en-GB" dirty="0" smtClean="0">
                <a:solidFill>
                  <a:schemeClr val="tx1"/>
                </a:solidFill>
              </a:rPr>
              <a:t>Used to execute the collection to determine material availability, plan material movement, or generate internal requests.</a:t>
            </a:r>
          </a:p>
          <a:p>
            <a:endParaRPr lang="en-GB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Go to T-code ZMM019.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Enter the Collection Number generated from ZMM018.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Review the collection summary,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Required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Available stock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Shortages (if 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Click on "Run" or "Execute" to initiate the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The system will evaluate material availability and initiate internal processes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Material reservations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Transfer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Notifications to relevant departments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97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34910" y="4597402"/>
            <a:ext cx="4950691" cy="22259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073" y="521855"/>
            <a:ext cx="6428510" cy="1870363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ZMM019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– Material Order Summary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Creation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Select Create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Option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Choose the appropriate summary condition based on the order type: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1. Carton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Box / Supplement Orders → Select Purchase Requisition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2. Mass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Production Orders → Select Sales Order / Sales Contract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3. Development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Orders → Select Sample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Order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072" y="2433784"/>
            <a:ext cx="6428511" cy="2110509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 smtClean="0">
                <a:solidFill>
                  <a:srgbClr val="FF0000"/>
                </a:solidFill>
              </a:rPr>
              <a:t>ZMM018 </a:t>
            </a:r>
            <a:r>
              <a:rPr lang="en-GB" sz="1600" b="1" dirty="0">
                <a:solidFill>
                  <a:srgbClr val="FF0000"/>
                </a:solidFill>
              </a:rPr>
              <a:t>– Material Allocation </a:t>
            </a:r>
            <a:r>
              <a:rPr lang="en-GB" sz="1600" b="1" dirty="0" smtClean="0">
                <a:solidFill>
                  <a:srgbClr val="FF0000"/>
                </a:solidFill>
              </a:rPr>
              <a:t>Process</a:t>
            </a:r>
          </a:p>
          <a:p>
            <a:endParaRPr lang="en-GB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Warehouse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Open transaction ZMM018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Execute</a:t>
            </a: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Procurement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lvl="1"/>
            <a:r>
              <a:rPr lang="en-GB" sz="1400" dirty="0">
                <a:solidFill>
                  <a:schemeClr val="tx1"/>
                </a:solidFill>
              </a:rPr>
              <a:t>Repeat the same steps as Warehouse Stock </a:t>
            </a:r>
            <a:r>
              <a:rPr lang="en-GB" sz="1400" dirty="0" smtClean="0">
                <a:solidFill>
                  <a:schemeClr val="tx1"/>
                </a:solidFill>
              </a:rPr>
              <a:t>Allocation Ensure </a:t>
            </a:r>
            <a:r>
              <a:rPr lang="en-GB" sz="1400" dirty="0">
                <a:solidFill>
                  <a:schemeClr val="tx1"/>
                </a:solidFill>
              </a:rPr>
              <a:t>to save after </a:t>
            </a:r>
            <a:r>
              <a:rPr lang="en-GB" sz="1400" dirty="0" smtClean="0">
                <a:solidFill>
                  <a:schemeClr val="tx1"/>
                </a:solidFill>
              </a:rPr>
              <a:t>execution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072" y="4590473"/>
            <a:ext cx="6428511" cy="2198254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 smtClean="0">
                <a:solidFill>
                  <a:srgbClr val="FF0000"/>
                </a:solidFill>
              </a:rPr>
              <a:t>ZMM017 </a:t>
            </a:r>
            <a:r>
              <a:rPr lang="en-GB" sz="1600" b="1" dirty="0">
                <a:solidFill>
                  <a:srgbClr val="FF0000"/>
                </a:solidFill>
              </a:rPr>
              <a:t>– Excess Purchase </a:t>
            </a:r>
            <a:r>
              <a:rPr lang="en-GB" sz="1600" b="1" dirty="0" smtClean="0">
                <a:solidFill>
                  <a:srgbClr val="FF0000"/>
                </a:solidFill>
              </a:rPr>
              <a:t>Transfer</a:t>
            </a:r>
          </a:p>
          <a:p>
            <a:endParaRPr lang="en-GB" sz="1600" b="1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Open </a:t>
            </a:r>
            <a:r>
              <a:rPr lang="en-GB" sz="1400" dirty="0">
                <a:solidFill>
                  <a:schemeClr val="tx1"/>
                </a:solidFill>
              </a:rPr>
              <a:t>transaction ZMM017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 and Vendor Code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Once </a:t>
            </a:r>
            <a:r>
              <a:rPr lang="en-GB" sz="1400" dirty="0">
                <a:solidFill>
                  <a:schemeClr val="tx1"/>
                </a:solidFill>
              </a:rPr>
              <a:t>the material list appears, review the material </a:t>
            </a:r>
            <a:r>
              <a:rPr lang="en-GB" sz="1400" dirty="0" smtClean="0">
                <a:solidFill>
                  <a:schemeClr val="tx1"/>
                </a:solidFill>
              </a:rPr>
              <a:t>status Based </a:t>
            </a:r>
            <a:r>
              <a:rPr lang="en-GB" sz="1400" dirty="0">
                <a:solidFill>
                  <a:schemeClr val="tx1"/>
                </a:solidFill>
              </a:rPr>
              <a:t>on the </a:t>
            </a:r>
            <a:r>
              <a:rPr lang="en-GB" sz="1400" dirty="0" smtClean="0">
                <a:solidFill>
                  <a:schemeClr val="tx1"/>
                </a:solidFill>
              </a:rPr>
              <a:t>status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smtClean="0">
                <a:solidFill>
                  <a:schemeClr val="tx1"/>
                </a:solidFill>
              </a:rPr>
              <a:t>:        </a:t>
            </a:r>
          </a:p>
          <a:p>
            <a:r>
              <a:rPr lang="en-GB" sz="1400" b="1" dirty="0" smtClean="0">
                <a:solidFill>
                  <a:schemeClr val="tx1"/>
                </a:solidFill>
              </a:rPr>
              <a:t>                        Transfer </a:t>
            </a:r>
            <a:r>
              <a:rPr lang="en-GB" sz="1400" b="1" dirty="0">
                <a:solidFill>
                  <a:schemeClr val="tx1"/>
                </a:solidFill>
              </a:rPr>
              <a:t>for Excess </a:t>
            </a:r>
            <a:r>
              <a:rPr lang="en-GB" sz="1400" b="1" dirty="0" smtClean="0">
                <a:solidFill>
                  <a:schemeClr val="tx1"/>
                </a:solidFill>
              </a:rPr>
              <a:t>Purchas       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 </a:t>
            </a:r>
            <a:r>
              <a:rPr lang="en-GB" sz="1400" b="1" dirty="0" smtClean="0">
                <a:solidFill>
                  <a:schemeClr val="tx1"/>
                </a:solidFill>
              </a:rPr>
              <a:t>                       Cancel </a:t>
            </a:r>
            <a:r>
              <a:rPr lang="en-GB" sz="1400" b="1" dirty="0">
                <a:solidFill>
                  <a:schemeClr val="tx1"/>
                </a:solidFill>
              </a:rPr>
              <a:t>Excess Purchase </a:t>
            </a:r>
            <a:r>
              <a:rPr lang="en-GB" sz="1400" b="1" dirty="0" smtClean="0">
                <a:solidFill>
                  <a:schemeClr val="tx1"/>
                </a:solidFill>
              </a:rPr>
              <a:t>Transfer </a:t>
            </a:r>
            <a:endParaRPr lang="en-GB" sz="1400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146" y="521855"/>
            <a:ext cx="4941455" cy="18703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</p:pic>
      <p:pic>
        <p:nvPicPr>
          <p:cNvPr id="11" name="图片 9"/>
          <p:cNvPicPr/>
          <p:nvPr/>
        </p:nvPicPr>
        <p:blipFill rotWithShape="1">
          <a:blip r:embed="rId3"/>
          <a:srcRect r="6581" b="46709"/>
          <a:stretch/>
        </p:blipFill>
        <p:spPr bwMode="auto">
          <a:xfrm>
            <a:off x="6844146" y="2479964"/>
            <a:ext cx="4941455" cy="2064329"/>
          </a:xfrm>
          <a:prstGeom prst="rect">
            <a:avLst/>
          </a:prstGeom>
          <a:ln w="28575">
            <a:solidFill>
              <a:srgbClr val="FF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2"/>
          <p:cNvPicPr/>
          <p:nvPr/>
        </p:nvPicPr>
        <p:blipFill rotWithShape="1">
          <a:blip r:embed="rId4"/>
          <a:srcRect r="30537" b="40289"/>
          <a:stretch/>
        </p:blipFill>
        <p:spPr bwMode="auto">
          <a:xfrm>
            <a:off x="6913419" y="4632038"/>
            <a:ext cx="2225963" cy="2156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6"/>
          <p:cNvPicPr/>
          <p:nvPr/>
        </p:nvPicPr>
        <p:blipFill rotWithShape="1">
          <a:blip r:embed="rId5"/>
          <a:srcRect t="8507" r="1284" b="7223"/>
          <a:stretch/>
        </p:blipFill>
        <p:spPr bwMode="auto">
          <a:xfrm>
            <a:off x="9194801" y="4632038"/>
            <a:ext cx="2567710" cy="2156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ight Arrow 14"/>
          <p:cNvSpPr/>
          <p:nvPr/>
        </p:nvSpPr>
        <p:spPr>
          <a:xfrm>
            <a:off x="6534728" y="1397000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6511637" y="3307772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Arrow 16"/>
          <p:cNvSpPr/>
          <p:nvPr/>
        </p:nvSpPr>
        <p:spPr>
          <a:xfrm>
            <a:off x="6483927" y="5710382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1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072" y="595746"/>
            <a:ext cx="11868727" cy="1870363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ZMM019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– Material Order Summary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Creation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Select Create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Option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Choose the appropriate summary condition based on the order type: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1. Carton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Box / Supplement Orders → Select Purchase Requisition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2. Mass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Production Orders → Select Sales Order / Sales Contract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3. Development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Orders → Select Sample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Order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73" y="2627745"/>
            <a:ext cx="11868726" cy="4114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520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072" y="595746"/>
            <a:ext cx="11868727" cy="2378363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 smtClean="0">
                <a:solidFill>
                  <a:srgbClr val="FF0000"/>
                </a:solidFill>
              </a:rPr>
              <a:t>ZMM018 </a:t>
            </a:r>
            <a:r>
              <a:rPr lang="en-GB" sz="1600" b="1" dirty="0">
                <a:solidFill>
                  <a:srgbClr val="FF0000"/>
                </a:solidFill>
              </a:rPr>
              <a:t>– Material Allocation </a:t>
            </a:r>
            <a:r>
              <a:rPr lang="en-GB" sz="1600" b="1" dirty="0" smtClean="0">
                <a:solidFill>
                  <a:srgbClr val="FF0000"/>
                </a:solidFill>
              </a:rPr>
              <a:t>Process</a:t>
            </a:r>
          </a:p>
          <a:p>
            <a:endParaRPr lang="en-GB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Warehouse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Open transaction ZMM018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Execute</a:t>
            </a: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Procurement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lvl="1"/>
            <a:r>
              <a:rPr lang="en-GB" sz="1400" dirty="0">
                <a:solidFill>
                  <a:schemeClr val="tx1"/>
                </a:solidFill>
              </a:rPr>
              <a:t>Repeat the same steps as Warehouse Stock </a:t>
            </a:r>
            <a:r>
              <a:rPr lang="en-GB" sz="1400" dirty="0" smtClean="0">
                <a:solidFill>
                  <a:schemeClr val="tx1"/>
                </a:solidFill>
              </a:rPr>
              <a:t>Allocation Ensure </a:t>
            </a:r>
            <a:r>
              <a:rPr lang="en-GB" sz="1400" dirty="0">
                <a:solidFill>
                  <a:schemeClr val="tx1"/>
                </a:solidFill>
              </a:rPr>
              <a:t>to save after </a:t>
            </a:r>
            <a:r>
              <a:rPr lang="en-GB" sz="1400" dirty="0" smtClean="0">
                <a:solidFill>
                  <a:schemeClr val="tx1"/>
                </a:solidFill>
              </a:rPr>
              <a:t>execution</a:t>
            </a:r>
            <a:endParaRPr lang="en-GB" sz="1400" dirty="0">
              <a:solidFill>
                <a:schemeClr val="tx1"/>
              </a:solidFill>
            </a:endParaRPr>
          </a:p>
        </p:txBody>
      </p:sp>
      <p:pic>
        <p:nvPicPr>
          <p:cNvPr id="4" name="图片 9"/>
          <p:cNvPicPr/>
          <p:nvPr/>
        </p:nvPicPr>
        <p:blipFill rotWithShape="1">
          <a:blip r:embed="rId2"/>
          <a:srcRect r="6581" b="46709"/>
          <a:stretch/>
        </p:blipFill>
        <p:spPr bwMode="auto">
          <a:xfrm>
            <a:off x="120072" y="3135746"/>
            <a:ext cx="11868727" cy="36252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2764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4728" y="595746"/>
            <a:ext cx="7924800" cy="2461490"/>
          </a:xfrm>
          <a:prstGeom prst="rect">
            <a:avLst/>
          </a:prstGeom>
          <a:solidFill>
            <a:schemeClr val="bg2">
              <a:lumMod val="5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 smtClean="0">
                <a:solidFill>
                  <a:srgbClr val="FF0000"/>
                </a:solidFill>
              </a:rPr>
              <a:t>ZMM017 </a:t>
            </a:r>
            <a:r>
              <a:rPr lang="en-GB" sz="1600" b="1" dirty="0">
                <a:solidFill>
                  <a:srgbClr val="FF0000"/>
                </a:solidFill>
              </a:rPr>
              <a:t>– Excess Purchase </a:t>
            </a:r>
            <a:r>
              <a:rPr lang="en-GB" sz="1600" b="1" dirty="0" smtClean="0">
                <a:solidFill>
                  <a:srgbClr val="FF0000"/>
                </a:solidFill>
              </a:rPr>
              <a:t>Transfer</a:t>
            </a:r>
          </a:p>
          <a:p>
            <a:endParaRPr lang="en-GB" sz="1600" b="1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Open </a:t>
            </a:r>
            <a:r>
              <a:rPr lang="en-GB" sz="1400" dirty="0">
                <a:solidFill>
                  <a:schemeClr val="tx1"/>
                </a:solidFill>
              </a:rPr>
              <a:t>transaction ZMM017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 and Vendor Code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Once </a:t>
            </a:r>
            <a:r>
              <a:rPr lang="en-GB" sz="1400" dirty="0">
                <a:solidFill>
                  <a:schemeClr val="tx1"/>
                </a:solidFill>
              </a:rPr>
              <a:t>the material list appears, review the material </a:t>
            </a:r>
            <a:r>
              <a:rPr lang="en-GB" sz="1400" dirty="0" smtClean="0">
                <a:solidFill>
                  <a:schemeClr val="tx1"/>
                </a:solidFill>
              </a:rPr>
              <a:t>status Based </a:t>
            </a:r>
            <a:r>
              <a:rPr lang="en-GB" sz="1400" dirty="0">
                <a:solidFill>
                  <a:schemeClr val="tx1"/>
                </a:solidFill>
              </a:rPr>
              <a:t>on the </a:t>
            </a:r>
            <a:r>
              <a:rPr lang="en-GB" sz="1400" dirty="0" smtClean="0">
                <a:solidFill>
                  <a:schemeClr val="tx1"/>
                </a:solidFill>
              </a:rPr>
              <a:t>status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smtClean="0">
                <a:solidFill>
                  <a:schemeClr val="tx1"/>
                </a:solidFill>
              </a:rPr>
              <a:t>:        </a:t>
            </a:r>
          </a:p>
          <a:p>
            <a:r>
              <a:rPr lang="en-GB" sz="1400" b="1" dirty="0" smtClean="0">
                <a:solidFill>
                  <a:schemeClr val="tx1"/>
                </a:solidFill>
              </a:rPr>
              <a:t>                        Transfer </a:t>
            </a:r>
            <a:r>
              <a:rPr lang="en-GB" sz="1400" b="1" dirty="0">
                <a:solidFill>
                  <a:schemeClr val="tx1"/>
                </a:solidFill>
              </a:rPr>
              <a:t>for Excess </a:t>
            </a:r>
            <a:r>
              <a:rPr lang="en-GB" sz="1400" b="1" dirty="0" smtClean="0">
                <a:solidFill>
                  <a:schemeClr val="tx1"/>
                </a:solidFill>
              </a:rPr>
              <a:t>Purchas       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 </a:t>
            </a:r>
            <a:r>
              <a:rPr lang="en-GB" sz="1400" b="1" dirty="0" smtClean="0">
                <a:solidFill>
                  <a:schemeClr val="tx1"/>
                </a:solidFill>
              </a:rPr>
              <a:t>                       Cancel </a:t>
            </a:r>
            <a:r>
              <a:rPr lang="en-GB" sz="1400" b="1" dirty="0">
                <a:solidFill>
                  <a:schemeClr val="tx1"/>
                </a:solidFill>
              </a:rPr>
              <a:t>Excess Purchase </a:t>
            </a:r>
            <a:r>
              <a:rPr lang="en-GB" sz="1400" b="1" dirty="0" smtClean="0">
                <a:solidFill>
                  <a:schemeClr val="tx1"/>
                </a:solidFill>
              </a:rPr>
              <a:t>Transfer </a:t>
            </a:r>
            <a:endParaRPr lang="en-GB" sz="1400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图片 12"/>
          <p:cNvPicPr/>
          <p:nvPr/>
        </p:nvPicPr>
        <p:blipFill rotWithShape="1">
          <a:blip r:embed="rId2"/>
          <a:srcRect r="30537" b="40289"/>
          <a:stretch/>
        </p:blipFill>
        <p:spPr bwMode="auto">
          <a:xfrm>
            <a:off x="184728" y="3209639"/>
            <a:ext cx="7924800" cy="34959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图片 16"/>
          <p:cNvPicPr/>
          <p:nvPr/>
        </p:nvPicPr>
        <p:blipFill rotWithShape="1">
          <a:blip r:embed="rId3"/>
          <a:srcRect t="8507" r="1284" b="7223"/>
          <a:stretch/>
        </p:blipFill>
        <p:spPr bwMode="auto">
          <a:xfrm>
            <a:off x="8248073" y="1228437"/>
            <a:ext cx="3805382" cy="44057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8373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678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27</cp:revision>
  <dcterms:created xsi:type="dcterms:W3CDTF">2025-06-24T08:32:07Z</dcterms:created>
  <dcterms:modified xsi:type="dcterms:W3CDTF">2025-06-25T10:00:03Z</dcterms:modified>
</cp:coreProperties>
</file>