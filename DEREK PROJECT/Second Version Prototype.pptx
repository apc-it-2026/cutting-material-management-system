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0216-EC6B-4ACB-B7E0-A8A4FF240709}" type="datetimeFigureOut">
              <a:rPr lang="en-IN" smtClean="0"/>
              <a:t>2025/07/08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9E28-28E5-4509-B8CD-281D83260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57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0216-EC6B-4ACB-B7E0-A8A4FF240709}" type="datetimeFigureOut">
              <a:rPr lang="en-IN" smtClean="0"/>
              <a:t>2025/07/08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9E28-28E5-4509-B8CD-281D83260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367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0216-EC6B-4ACB-B7E0-A8A4FF240709}" type="datetimeFigureOut">
              <a:rPr lang="en-IN" smtClean="0"/>
              <a:t>2025/07/08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9E28-28E5-4509-B8CD-281D83260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666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0216-EC6B-4ACB-B7E0-A8A4FF240709}" type="datetimeFigureOut">
              <a:rPr lang="en-IN" smtClean="0"/>
              <a:t>2025/07/08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9E28-28E5-4509-B8CD-281D83260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622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0216-EC6B-4ACB-B7E0-A8A4FF240709}" type="datetimeFigureOut">
              <a:rPr lang="en-IN" smtClean="0"/>
              <a:t>2025/07/08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9E28-28E5-4509-B8CD-281D83260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542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0216-EC6B-4ACB-B7E0-A8A4FF240709}" type="datetimeFigureOut">
              <a:rPr lang="en-IN" smtClean="0"/>
              <a:t>2025/07/08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9E28-28E5-4509-B8CD-281D83260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15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0216-EC6B-4ACB-B7E0-A8A4FF240709}" type="datetimeFigureOut">
              <a:rPr lang="en-IN" smtClean="0"/>
              <a:t>2025/07/08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9E28-28E5-4509-B8CD-281D83260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739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0216-EC6B-4ACB-B7E0-A8A4FF240709}" type="datetimeFigureOut">
              <a:rPr lang="en-IN" smtClean="0"/>
              <a:t>2025/07/08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9E28-28E5-4509-B8CD-281D83260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189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0216-EC6B-4ACB-B7E0-A8A4FF240709}" type="datetimeFigureOut">
              <a:rPr lang="en-IN" smtClean="0"/>
              <a:t>2025/07/08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9E28-28E5-4509-B8CD-281D83260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851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0216-EC6B-4ACB-B7E0-A8A4FF240709}" type="datetimeFigureOut">
              <a:rPr lang="en-IN" smtClean="0"/>
              <a:t>2025/07/08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9E28-28E5-4509-B8CD-281D83260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728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0216-EC6B-4ACB-B7E0-A8A4FF240709}" type="datetimeFigureOut">
              <a:rPr lang="en-IN" smtClean="0"/>
              <a:t>2025/07/08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9E28-28E5-4509-B8CD-281D83260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316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840216-EC6B-4ACB-B7E0-A8A4FF240709}" type="datetimeFigureOut">
              <a:rPr lang="en-IN" smtClean="0"/>
              <a:t>2025/07/08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A19E28-28E5-4509-B8CD-281D83260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251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110000"/>
                  <a:satMod val="105000"/>
                  <a:tint val="67000"/>
                  <a:alpha val="40000"/>
                </a:schemeClr>
              </a:gs>
              <a:gs pos="50000">
                <a:schemeClr val="accent1">
                  <a:lumMod val="105000"/>
                  <a:satMod val="103000"/>
                  <a:tint val="73000"/>
                  <a:alpha val="65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  <a:alpha val="42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Flowchart: Terminator 2"/>
          <p:cNvSpPr/>
          <p:nvPr/>
        </p:nvSpPr>
        <p:spPr>
          <a:xfrm rot="16200000">
            <a:off x="1184128" y="2740008"/>
            <a:ext cx="4419076" cy="114618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-8238" y="16476"/>
            <a:ext cx="3325091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086831" y="2057276"/>
            <a:ext cx="7080909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b="1" dirty="0" smtClean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The </a:t>
            </a:r>
          </a:p>
          <a:p>
            <a:r>
              <a:rPr lang="en-US" sz="4000" b="1" dirty="0" smtClean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Prototype for </a:t>
            </a:r>
          </a:p>
          <a:p>
            <a:r>
              <a:rPr lang="en-US" sz="4000" b="1" dirty="0" smtClean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Cutting Material Management</a:t>
            </a:r>
            <a:endParaRPr lang="en-US" sz="4000" b="1" dirty="0">
              <a:ln w="0"/>
              <a:gradFill>
                <a:gsLst>
                  <a:gs pos="0">
                    <a:schemeClr val="accent6">
                      <a:lumMod val="50000"/>
                    </a:schemeClr>
                  </a:gs>
                  <a:gs pos="50000">
                    <a:schemeClr val="accent6"/>
                  </a:gs>
                  <a:gs pos="100000">
                    <a:schemeClr val="accent2"/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25091" y="5597237"/>
            <a:ext cx="8866910" cy="12607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Presented by : Manohar-g ( APC-IT ) </a:t>
            </a:r>
          </a:p>
          <a:p>
            <a:pPr algn="ctr"/>
            <a:r>
              <a:rPr lang="en-GB" b="1" dirty="0" smtClean="0">
                <a:solidFill>
                  <a:srgbClr val="FF0000"/>
                </a:solidFill>
              </a:rPr>
              <a:t>2025 July 01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371" y="6294820"/>
            <a:ext cx="877455" cy="5839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78" y="429914"/>
            <a:ext cx="307986" cy="3079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3418" y="462057"/>
            <a:ext cx="2313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Apache Footwear India Private Limited </a:t>
            </a:r>
            <a:endParaRPr lang="en-IN" dirty="0"/>
          </a:p>
        </p:txBody>
      </p:sp>
      <p:sp>
        <p:nvSpPr>
          <p:cNvPr id="33" name="Flowchart: Delay 32"/>
          <p:cNvSpPr/>
          <p:nvPr/>
        </p:nvSpPr>
        <p:spPr>
          <a:xfrm rot="10800000">
            <a:off x="9652000" y="0"/>
            <a:ext cx="2540000" cy="1874982"/>
          </a:xfrm>
          <a:prstGeom prst="flowChartDelay">
            <a:avLst/>
          </a:prstGeom>
          <a:blipFill dpi="0" rotWithShape="0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/>
          <p:cNvSpPr txBox="1"/>
          <p:nvPr/>
        </p:nvSpPr>
        <p:spPr>
          <a:xfrm>
            <a:off x="4318000" y="4178562"/>
            <a:ext cx="2170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2"/>
                </a:solidFill>
              </a:rPr>
              <a:t>Report Presented</a:t>
            </a:r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724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92963"/>
            <a:ext cx="1470636" cy="251384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Data Capture</a:t>
            </a:r>
            <a:endParaRPr lang="en-IN" sz="1600" dirty="0"/>
          </a:p>
        </p:txBody>
      </p:sp>
      <p:sp>
        <p:nvSpPr>
          <p:cNvPr id="3" name="Rectangle 2"/>
          <p:cNvSpPr/>
          <p:nvPr/>
        </p:nvSpPr>
        <p:spPr>
          <a:xfrm>
            <a:off x="17351" y="-2898"/>
            <a:ext cx="11578736" cy="49585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b="1" dirty="0" smtClean="0"/>
              <a:t>                              Organizational </a:t>
            </a:r>
            <a:r>
              <a:rPr lang="en-GB" b="1" dirty="0"/>
              <a:t>Workflow for Cutting Material Monitoring &amp; </a:t>
            </a:r>
            <a:r>
              <a:rPr lang="en-GB" b="1" dirty="0" smtClean="0"/>
              <a:t>Escalation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17351" y="5049329"/>
            <a:ext cx="1470636" cy="135560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Top </a:t>
            </a:r>
            <a:endParaRPr lang="en-GB" dirty="0" smtClean="0"/>
          </a:p>
          <a:p>
            <a:pPr algn="ctr"/>
            <a:r>
              <a:rPr lang="en-GB" sz="1600" dirty="0" smtClean="0"/>
              <a:t>Management</a:t>
            </a:r>
            <a:endParaRPr lang="en-IN" sz="1600" dirty="0"/>
          </a:p>
        </p:txBody>
      </p:sp>
      <p:sp>
        <p:nvSpPr>
          <p:cNvPr id="6" name="Rectangle 5"/>
          <p:cNvSpPr/>
          <p:nvPr/>
        </p:nvSpPr>
        <p:spPr>
          <a:xfrm>
            <a:off x="1566751" y="504332"/>
            <a:ext cx="10610638" cy="250932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1566751" y="3059504"/>
            <a:ext cx="10610638" cy="191351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-14611" y="3061224"/>
            <a:ext cx="1470636" cy="193369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Production</a:t>
            </a:r>
            <a:endParaRPr lang="en-IN" sz="1600" dirty="0"/>
          </a:p>
        </p:txBody>
      </p:sp>
      <p:sp>
        <p:nvSpPr>
          <p:cNvPr id="10" name="Rectangle 9"/>
          <p:cNvSpPr/>
          <p:nvPr/>
        </p:nvSpPr>
        <p:spPr>
          <a:xfrm>
            <a:off x="1566752" y="5048033"/>
            <a:ext cx="10610637" cy="137827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/>
          <p:cNvSpPr/>
          <p:nvPr/>
        </p:nvSpPr>
        <p:spPr>
          <a:xfrm>
            <a:off x="5192415" y="1402676"/>
            <a:ext cx="1309881" cy="1172231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Cutting Material Report</a:t>
            </a:r>
            <a:endParaRPr lang="en-IN" sz="1400" dirty="0"/>
          </a:p>
        </p:txBody>
      </p:sp>
      <p:sp>
        <p:nvSpPr>
          <p:cNvPr id="12" name="Rounded Rectangle 11"/>
          <p:cNvSpPr/>
          <p:nvPr/>
        </p:nvSpPr>
        <p:spPr>
          <a:xfrm>
            <a:off x="1823466" y="1815169"/>
            <a:ext cx="1556117" cy="38976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Purchase Team</a:t>
            </a:r>
            <a:endParaRPr lang="en-IN" sz="1400" dirty="0"/>
          </a:p>
        </p:txBody>
      </p:sp>
      <p:sp>
        <p:nvSpPr>
          <p:cNvPr id="13" name="Rounded Rectangle 12"/>
          <p:cNvSpPr/>
          <p:nvPr/>
        </p:nvSpPr>
        <p:spPr>
          <a:xfrm>
            <a:off x="8315128" y="1853973"/>
            <a:ext cx="2142313" cy="38976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Warehouse Team</a:t>
            </a:r>
            <a:endParaRPr lang="en-IN" sz="1400" dirty="0"/>
          </a:p>
        </p:txBody>
      </p:sp>
      <p:sp>
        <p:nvSpPr>
          <p:cNvPr id="14" name="Rounded Rectangle 13"/>
          <p:cNvSpPr/>
          <p:nvPr/>
        </p:nvSpPr>
        <p:spPr>
          <a:xfrm>
            <a:off x="4865571" y="557122"/>
            <a:ext cx="2142312" cy="38064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BOM</a:t>
            </a:r>
            <a:endParaRPr lang="en-IN" sz="1400" dirty="0"/>
          </a:p>
        </p:txBody>
      </p:sp>
      <p:sp>
        <p:nvSpPr>
          <p:cNvPr id="15" name="Rounded Rectangle 14"/>
          <p:cNvSpPr/>
          <p:nvPr/>
        </p:nvSpPr>
        <p:spPr>
          <a:xfrm>
            <a:off x="1815655" y="4019528"/>
            <a:ext cx="2142313" cy="38976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Planning Team</a:t>
            </a:r>
            <a:endParaRPr lang="en-IN" sz="1400" dirty="0"/>
          </a:p>
        </p:txBody>
      </p:sp>
      <p:sp>
        <p:nvSpPr>
          <p:cNvPr id="16" name="Rounded Rectangle 15"/>
          <p:cNvSpPr/>
          <p:nvPr/>
        </p:nvSpPr>
        <p:spPr>
          <a:xfrm>
            <a:off x="4881372" y="4019528"/>
            <a:ext cx="2142313" cy="38976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Plant In-charge</a:t>
            </a:r>
            <a:endParaRPr lang="en-IN" sz="1400" dirty="0"/>
          </a:p>
        </p:txBody>
      </p:sp>
      <p:sp>
        <p:nvSpPr>
          <p:cNvPr id="17" name="Rounded Rectangle 16"/>
          <p:cNvSpPr/>
          <p:nvPr/>
        </p:nvSpPr>
        <p:spPr>
          <a:xfrm>
            <a:off x="8342783" y="3981820"/>
            <a:ext cx="2142313" cy="38776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Line Supervisor</a:t>
            </a:r>
            <a:endParaRPr lang="en-IN" sz="1400" dirty="0"/>
          </a:p>
        </p:txBody>
      </p:sp>
      <p:sp>
        <p:nvSpPr>
          <p:cNvPr id="18" name="Flowchart: Preparation 17"/>
          <p:cNvSpPr/>
          <p:nvPr/>
        </p:nvSpPr>
        <p:spPr>
          <a:xfrm>
            <a:off x="4881372" y="5545604"/>
            <a:ext cx="2142313" cy="511885"/>
          </a:xfrm>
          <a:prstGeom prst="flowChartPreparati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 Top Management </a:t>
            </a:r>
            <a:endParaRPr lang="en-IN" sz="1400" dirty="0"/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5883625" y="2574907"/>
            <a:ext cx="0" cy="86244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5936727" y="4437001"/>
            <a:ext cx="5755" cy="104699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6440274" y="1656338"/>
            <a:ext cx="19025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Issue materials, verify stock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93270" y="2131264"/>
            <a:ext cx="1634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C00000"/>
                </a:solidFill>
              </a:rPr>
              <a:t> Track </a:t>
            </a:r>
            <a:r>
              <a:rPr lang="en-GB" sz="1200" dirty="0" smtClean="0">
                <a:solidFill>
                  <a:srgbClr val="C00000"/>
                </a:solidFill>
              </a:rPr>
              <a:t>Purchase Status</a:t>
            </a:r>
            <a:endParaRPr lang="en-IN" sz="1200" dirty="0">
              <a:solidFill>
                <a:srgbClr val="C00000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443041" y="6085193"/>
            <a:ext cx="39944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rgbClr val="C00000"/>
                </a:solidFill>
              </a:rPr>
              <a:t>View overall readiness %, material trends, escalations</a:t>
            </a:r>
            <a:endParaRPr lang="en-IN" sz="1200" dirty="0">
              <a:solidFill>
                <a:srgbClr val="C0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031293" y="5106961"/>
            <a:ext cx="2613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>
                <a:solidFill>
                  <a:srgbClr val="FF0000"/>
                </a:solidFill>
              </a:rPr>
              <a:t>Sees high-level overview</a:t>
            </a:r>
            <a:endParaRPr lang="en-IN" sz="1200" dirty="0">
              <a:solidFill>
                <a:srgbClr val="FF0000"/>
              </a:solidFill>
            </a:endParaRPr>
          </a:p>
        </p:txBody>
      </p:sp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871578"/>
              </p:ext>
            </p:extLst>
          </p:nvPr>
        </p:nvGraphicFramePr>
        <p:xfrm>
          <a:off x="8333439" y="3465913"/>
          <a:ext cx="2953022" cy="457200"/>
        </p:xfrm>
        <a:graphic>
          <a:graphicData uri="http://schemas.openxmlformats.org/drawingml/2006/table">
            <a:tbl>
              <a:tblPr/>
              <a:tblGrid>
                <a:gridCol w="2953022"/>
              </a:tblGrid>
              <a:tr h="44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Check assigned POs, start cutting only if fully ready, escalate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6" name="Rectangle 45"/>
          <p:cNvSpPr/>
          <p:nvPr/>
        </p:nvSpPr>
        <p:spPr>
          <a:xfrm>
            <a:off x="4848870" y="3496775"/>
            <a:ext cx="27659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/>
              <a:t>Track PO-wise readiness, material issues, escalate to teams</a:t>
            </a:r>
            <a:endParaRPr lang="en-IN" sz="1200" dirty="0"/>
          </a:p>
        </p:txBody>
      </p:sp>
      <p:sp>
        <p:nvSpPr>
          <p:cNvPr id="53" name="Rectangle 52"/>
          <p:cNvSpPr/>
          <p:nvPr/>
        </p:nvSpPr>
        <p:spPr>
          <a:xfrm>
            <a:off x="1839124" y="3520155"/>
            <a:ext cx="24335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/>
              <a:t>Ensure BOM is accurate, validate material need, resolve errors</a:t>
            </a:r>
            <a:endParaRPr lang="en-IN" sz="1200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3620235" y="2349969"/>
            <a:ext cx="1705087" cy="1187212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6314682" y="2417934"/>
            <a:ext cx="2028101" cy="111712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V="1">
            <a:off x="7077455" y="4173085"/>
            <a:ext cx="1237673" cy="455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3985623" y="4214412"/>
            <a:ext cx="878605" cy="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6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6087" y="0"/>
            <a:ext cx="595913" cy="492961"/>
          </a:xfrm>
          <a:prstGeom prst="rect">
            <a:avLst/>
          </a:prstGeom>
        </p:spPr>
      </p:pic>
      <p:sp>
        <p:nvSpPr>
          <p:cNvPr id="66" name="Rectangle 65"/>
          <p:cNvSpPr/>
          <p:nvPr/>
        </p:nvSpPr>
        <p:spPr>
          <a:xfrm>
            <a:off x="5943288" y="937766"/>
            <a:ext cx="1736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Provides base material requirements.</a:t>
            </a:r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5883625" y="937766"/>
            <a:ext cx="0" cy="4616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3404462" y="1967191"/>
            <a:ext cx="1801103" cy="280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3526153" y="1683242"/>
            <a:ext cx="14294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Input purchase data</a:t>
            </a:r>
          </a:p>
        </p:txBody>
      </p:sp>
      <p:cxnSp>
        <p:nvCxnSpPr>
          <p:cNvPr id="76" name="Straight Arrow Connector 75"/>
          <p:cNvCxnSpPr/>
          <p:nvPr/>
        </p:nvCxnSpPr>
        <p:spPr>
          <a:xfrm flipH="1" flipV="1">
            <a:off x="3395989" y="2079551"/>
            <a:ext cx="1788853" cy="256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6506011" y="1987783"/>
            <a:ext cx="1801103" cy="280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flipH="1" flipV="1">
            <a:off x="6497538" y="2100143"/>
            <a:ext cx="1788853" cy="256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6471285" y="2163573"/>
            <a:ext cx="15702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 smtClean="0">
                <a:solidFill>
                  <a:srgbClr val="C00000"/>
                </a:solidFill>
              </a:rPr>
              <a:t>Warehouse stock data</a:t>
            </a:r>
            <a:endParaRPr lang="en-IN" sz="1200" dirty="0">
              <a:solidFill>
                <a:srgbClr val="C00000"/>
              </a:solidFill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-14611" y="6404936"/>
            <a:ext cx="12192000" cy="45066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Cutting Material Report auto-syncs </a:t>
            </a:r>
            <a:r>
              <a:rPr lang="en-GB" sz="1400" dirty="0" smtClean="0"/>
              <a:t>BOM,PURCHASE, WAREHOUSE, PLANNING AND PO DATA| </a:t>
            </a:r>
            <a:r>
              <a:rPr lang="en-GB" sz="1400" dirty="0"/>
              <a:t>Triggers alerts and tracks material readiness</a:t>
            </a:r>
            <a:endParaRPr lang="en-IN" sz="1400" dirty="0"/>
          </a:p>
        </p:txBody>
      </p:sp>
      <p:sp>
        <p:nvSpPr>
          <p:cNvPr id="108" name="Rectangle 107"/>
          <p:cNvSpPr/>
          <p:nvPr/>
        </p:nvSpPr>
        <p:spPr>
          <a:xfrm>
            <a:off x="7260915" y="4154816"/>
            <a:ext cx="7216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 smtClean="0">
                <a:solidFill>
                  <a:schemeClr val="bg2">
                    <a:lumMod val="50000"/>
                  </a:schemeClr>
                </a:solidFill>
              </a:rPr>
              <a:t>Assigns</a:t>
            </a:r>
            <a:endParaRPr lang="en-IN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4102189" y="4235751"/>
            <a:ext cx="65678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 smtClean="0">
                <a:solidFill>
                  <a:schemeClr val="bg2">
                    <a:lumMod val="50000"/>
                  </a:schemeClr>
                </a:solidFill>
              </a:rPr>
              <a:t>shares</a:t>
            </a:r>
            <a:endParaRPr lang="en-IN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048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utoShape 6" descr="PowerPoint And Google Slides Templa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8" descr="PowerPoint And Google Slides Template"/>
          <p:cNvSpPr>
            <a:spLocks noChangeAspect="1" noChangeArrowheads="1"/>
          </p:cNvSpPr>
          <p:nvPr/>
        </p:nvSpPr>
        <p:spPr bwMode="auto">
          <a:xfrm>
            <a:off x="307975" y="7937"/>
            <a:ext cx="3252488" cy="325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PowerPoint And Google Slides Template"/>
          <p:cNvSpPr>
            <a:spLocks noChangeAspect="1" noChangeArrowheads="1"/>
          </p:cNvSpPr>
          <p:nvPr/>
        </p:nvSpPr>
        <p:spPr bwMode="auto">
          <a:xfrm>
            <a:off x="307975" y="7937"/>
            <a:ext cx="2567030" cy="2567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382"/>
          </a:xfrm>
          <a:prstGeom prst="rect">
            <a:avLst/>
          </a:prstGeom>
        </p:spPr>
      </p:pic>
      <p:sp>
        <p:nvSpPr>
          <p:cNvPr id="8" name="AutoShape 4" descr="Free Thanks PowerPoint, Canva, and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618"/>
            <a:ext cx="12192000" cy="686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78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</TotalTime>
  <Words>139</Words>
  <Application>Microsoft Office PowerPoint</Application>
  <PresentationFormat>Widescreen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manohar-g</dc:creator>
  <cp:lastModifiedBy>manohar-g</cp:lastModifiedBy>
  <cp:revision>24</cp:revision>
  <dcterms:created xsi:type="dcterms:W3CDTF">2025-07-04T03:31:49Z</dcterms:created>
  <dcterms:modified xsi:type="dcterms:W3CDTF">2025-07-08T04:55:27Z</dcterms:modified>
</cp:coreProperties>
</file>