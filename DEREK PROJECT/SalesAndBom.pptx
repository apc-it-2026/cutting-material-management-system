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6" r:id="rId4"/>
    <p:sldId id="257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6C71"/>
    <a:srgbClr val="BCFAE5"/>
    <a:srgbClr val="9CF8D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60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7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18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91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4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1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0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80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04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23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32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18EF1-2560-4CE6-9ABA-37BC447FE416}" type="datetimeFigureOut">
              <a:rPr lang="en-IN" smtClean="0"/>
              <a:t>2025/06/26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C15F6-3D08-405F-8ECB-93AD2DC216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3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1">
                <a:lumMod val="40000"/>
                <a:lumOff val="60000"/>
              </a:schemeClr>
            </a:gs>
            <a:gs pos="31000">
              <a:schemeClr val="accent1">
                <a:lumMod val="105000"/>
                <a:satMod val="103000"/>
                <a:tint val="73000"/>
              </a:schemeClr>
            </a:gs>
            <a:gs pos="73000">
              <a:schemeClr val="accent1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16" y="850748"/>
            <a:ext cx="432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497" y="802280"/>
            <a:ext cx="432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312" y="861969"/>
            <a:ext cx="432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336" y="921658"/>
            <a:ext cx="432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48913">
            <a:off x="2991418" y="850749"/>
            <a:ext cx="432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3472" y="906746"/>
            <a:ext cx="4320000" cy="43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184135" y="13764664"/>
            <a:ext cx="3891677" cy="3891677"/>
          </a:xfrm>
          <a:prstGeom prst="rect">
            <a:avLst/>
          </a:prstGeom>
        </p:spPr>
      </p:pic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442771">
            <a:off x="3291087" y="955214"/>
            <a:ext cx="4320000" cy="432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2557" y="5537690"/>
            <a:ext cx="11665527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000" b="1" dirty="0" smtClean="0">
                <a:solidFill>
                  <a:srgbClr val="7030A0"/>
                </a:solidFill>
              </a:rPr>
              <a:t>END TO END TESTING</a:t>
            </a:r>
            <a:endParaRPr lang="en-IN" sz="4000" b="1" dirty="0">
              <a:solidFill>
                <a:srgbClr val="7030A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27601" y="4626341"/>
            <a:ext cx="1013418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30929" y="2363250"/>
            <a:ext cx="1083437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shipment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33801" y="3800156"/>
            <a:ext cx="1236621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production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17780" y="3800156"/>
            <a:ext cx="1239185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warehouse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51749" y="2478032"/>
            <a:ext cx="1050223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purchase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20691" y="1376871"/>
            <a:ext cx="619080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bom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30418" y="1295676"/>
            <a:ext cx="707630" cy="369332"/>
          </a:xfrm>
          <a:prstGeom prst="rect">
            <a:avLst/>
          </a:prstGeom>
          <a:solidFill>
            <a:schemeClr val="accent1">
              <a:lumMod val="40000"/>
              <a:lumOff val="60000"/>
              <a:alpha val="6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749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accent1">
                <a:satMod val="105000"/>
                <a:tint val="67000"/>
                <a:alpha val="51000"/>
                <a:lumMod val="86000"/>
                <a:lumOff val="14000"/>
              </a:schemeClr>
            </a:gs>
            <a:gs pos="54000">
              <a:srgbClr val="ABC6E7"/>
            </a:gs>
            <a:gs pos="41000">
              <a:schemeClr val="accent1">
                <a:lumMod val="105000"/>
                <a:satMod val="103000"/>
                <a:tint val="73000"/>
              </a:schemeClr>
            </a:gs>
            <a:gs pos="68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4982" y="240145"/>
            <a:ext cx="7564582" cy="378691"/>
          </a:xfrm>
          <a:prstGeom prst="rect">
            <a:avLst/>
          </a:prstGeom>
          <a:solidFill>
            <a:schemeClr val="accent4">
              <a:alpha val="7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Week ( 2025/06/23 – 2025/06/28 ) Progress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3782" y="869555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1163782" y="1429321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1163782" y="1971497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1163782" y="2482383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163782" y="3026641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163782" y="3603967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163782" y="4175980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2128962" y="869555"/>
            <a:ext cx="4410363" cy="43410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Order Creation 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2128960" y="1429321"/>
            <a:ext cx="4410363" cy="43410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Pull BOM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2133580" y="2482383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Purchase Management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128962" y="3026641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Warehouse Stock</a:t>
            </a:r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2128964" y="3603967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Planning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2128966" y="5313216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Production </a:t>
            </a:r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2128974" y="6423892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Shipment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2128961" y="1971497"/>
            <a:ext cx="4410363" cy="43410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Create Collection and Run</a:t>
            </a:r>
            <a:endParaRPr lang="en-IN" dirty="0"/>
          </a:p>
        </p:txBody>
      </p:sp>
      <p:sp>
        <p:nvSpPr>
          <p:cNvPr id="30" name="Rectangle 29"/>
          <p:cNvSpPr/>
          <p:nvPr/>
        </p:nvSpPr>
        <p:spPr>
          <a:xfrm>
            <a:off x="2128967" y="5868554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FG Inbound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2128964" y="4750982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Fetching Issues</a:t>
            </a:r>
            <a:endParaRPr lang="en-IN" dirty="0"/>
          </a:p>
        </p:txBody>
      </p:sp>
      <p:sp>
        <p:nvSpPr>
          <p:cNvPr id="32" name="Rectangle 31"/>
          <p:cNvSpPr/>
          <p:nvPr/>
        </p:nvSpPr>
        <p:spPr>
          <a:xfrm>
            <a:off x="2128964" y="4175980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Fetching Generation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1163782" y="5868554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10</a:t>
            </a:r>
            <a:endParaRPr lang="en-IN" dirty="0"/>
          </a:p>
        </p:txBody>
      </p:sp>
      <p:sp>
        <p:nvSpPr>
          <p:cNvPr id="34" name="Rectangle 33"/>
          <p:cNvSpPr/>
          <p:nvPr/>
        </p:nvSpPr>
        <p:spPr>
          <a:xfrm>
            <a:off x="1163782" y="4750982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8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1163782" y="5313216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IN" dirty="0"/>
          </a:p>
        </p:txBody>
      </p:sp>
      <p:sp>
        <p:nvSpPr>
          <p:cNvPr id="36" name="Rectangle 35"/>
          <p:cNvSpPr/>
          <p:nvPr/>
        </p:nvSpPr>
        <p:spPr>
          <a:xfrm>
            <a:off x="1163782" y="6423892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846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4652" y="-64652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581892" y="-38270"/>
            <a:ext cx="11139054" cy="332509"/>
          </a:xfrm>
          <a:prstGeom prst="roundRect">
            <a:avLst/>
          </a:prstGeom>
          <a:solidFill>
            <a:schemeClr val="accent4">
              <a:alpha val="76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flow of creating a sales order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48509" y="1556902"/>
            <a:ext cx="2613890" cy="314037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Orders From Adidas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8509" y="2154382"/>
            <a:ext cx="2613890" cy="413180"/>
          </a:xfrm>
          <a:prstGeom prst="rect">
            <a:avLst/>
          </a:prstGeom>
          <a:solidFill>
            <a:srgbClr val="C00000">
              <a:alpha val="54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Download Order from </a:t>
            </a:r>
            <a:r>
              <a:rPr lang="en-GB" sz="1400" b="1" dirty="0" err="1">
                <a:solidFill>
                  <a:schemeClr val="bg1"/>
                </a:solidFill>
              </a:rPr>
              <a:t>Infor</a:t>
            </a:r>
            <a:r>
              <a:rPr lang="en-GB" sz="1400" b="1" dirty="0">
                <a:solidFill>
                  <a:schemeClr val="bg1"/>
                </a:solidFill>
              </a:rPr>
              <a:t> Nexus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8509" y="2826038"/>
            <a:ext cx="2613890" cy="360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Create Sales Order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5092" y="3813317"/>
            <a:ext cx="1717964" cy="350982"/>
          </a:xfrm>
          <a:prstGeom prst="rect">
            <a:avLst/>
          </a:prstGeom>
          <a:solidFill>
            <a:srgbClr val="BCFAE5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ZSD001N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1072" y="3823998"/>
            <a:ext cx="1394690" cy="3509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VA01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1072" y="4482667"/>
            <a:ext cx="1394690" cy="3700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VA02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623286" y="3525114"/>
            <a:ext cx="196735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604814" y="5280169"/>
            <a:ext cx="1967351" cy="1226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523678" y="4855725"/>
            <a:ext cx="1" cy="45258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623286" y="4164299"/>
            <a:ext cx="8088" cy="112813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172853" y="647121"/>
            <a:ext cx="868219" cy="544945"/>
          </a:xfrm>
          <a:prstGeom prst="ellipse">
            <a:avLst/>
          </a:prstGeom>
          <a:solidFill>
            <a:schemeClr val="accent6">
              <a:alpha val="6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Start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627746" y="1189754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620820" y="1824759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20820" y="2567562"/>
            <a:ext cx="0" cy="2858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627746" y="3186256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564869" y="3497695"/>
            <a:ext cx="1" cy="3218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644075" y="3525114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523679" y="4164299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588488" y="5308307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170541" y="5609573"/>
            <a:ext cx="835893" cy="457632"/>
          </a:xfrm>
          <a:prstGeom prst="ellipse">
            <a:avLst/>
          </a:prstGeom>
          <a:solidFill>
            <a:schemeClr val="accent2">
              <a:alpha val="67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End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32793" y="4174980"/>
            <a:ext cx="74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Update</a:t>
            </a:r>
            <a:endParaRPr lang="en-IN" sz="1200" dirty="0">
              <a:solidFill>
                <a:srgbClr val="FF0000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4738475" y="808896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Chevron 49"/>
          <p:cNvSpPr/>
          <p:nvPr/>
        </p:nvSpPr>
        <p:spPr>
          <a:xfrm>
            <a:off x="5056907" y="760841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4724627" y="219102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Chevron 51"/>
          <p:cNvSpPr/>
          <p:nvPr/>
        </p:nvSpPr>
        <p:spPr>
          <a:xfrm>
            <a:off x="5043059" y="214296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4715389" y="3150317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Chevron 53"/>
          <p:cNvSpPr/>
          <p:nvPr/>
        </p:nvSpPr>
        <p:spPr>
          <a:xfrm>
            <a:off x="5033821" y="3102262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4733863" y="4655854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Chevron 55"/>
          <p:cNvSpPr/>
          <p:nvPr/>
        </p:nvSpPr>
        <p:spPr>
          <a:xfrm>
            <a:off x="5052295" y="4607799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4724624" y="3889225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Chevron 57"/>
          <p:cNvSpPr/>
          <p:nvPr/>
        </p:nvSpPr>
        <p:spPr>
          <a:xfrm>
            <a:off x="5043056" y="3841170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603875" y="331179"/>
            <a:ext cx="6243782" cy="1449122"/>
          </a:xfrm>
          <a:prstGeom prst="rect">
            <a:avLst/>
          </a:prstGeom>
          <a:solidFill>
            <a:srgbClr val="CE6C71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Adidas Team Order Process</a:t>
            </a:r>
          </a:p>
          <a:p>
            <a:endParaRPr lang="en-GB" sz="1200" dirty="0" smtClean="0">
              <a:solidFill>
                <a:schemeClr val="tx1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The Adidas team places orders with our organization on a </a:t>
            </a:r>
            <a:r>
              <a:rPr lang="en-GB" sz="1200" b="1" dirty="0" smtClean="0">
                <a:solidFill>
                  <a:schemeClr val="tx1"/>
                </a:solidFill>
              </a:rPr>
              <a:t>monthly basis</a:t>
            </a:r>
            <a:r>
              <a:rPr lang="en-GB" sz="1200" dirty="0" smtClean="0">
                <a:solidFill>
                  <a:schemeClr val="tx1"/>
                </a:solidFill>
              </a:rPr>
              <a:t>, and modifications to these orders are made </a:t>
            </a:r>
            <a:r>
              <a:rPr lang="en-GB" sz="1200" b="1" dirty="0" smtClean="0">
                <a:solidFill>
                  <a:schemeClr val="tx1"/>
                </a:solidFill>
              </a:rPr>
              <a:t>weekly</a:t>
            </a:r>
            <a:r>
              <a:rPr lang="en-GB" sz="1200" dirty="0" smtClean="0">
                <a:solidFill>
                  <a:schemeClr val="tx1"/>
                </a:solidFill>
              </a:rPr>
              <a:t> as needed. </a:t>
            </a:r>
          </a:p>
          <a:p>
            <a:r>
              <a:rPr lang="en-GB" sz="1200" dirty="0" smtClean="0">
                <a:solidFill>
                  <a:schemeClr val="tx1"/>
                </a:solidFill>
              </a:rPr>
              <a:t>Orders are submitted in a structured format that includes: </a:t>
            </a:r>
          </a:p>
          <a:p>
            <a:r>
              <a:rPr lang="en-GB" sz="1200" b="1" dirty="0" smtClean="0">
                <a:solidFill>
                  <a:schemeClr val="tx1"/>
                </a:solidFill>
              </a:rPr>
              <a:t>                                                           PO , CRD , ARTICLE , ORDER QUANTITY </a:t>
            </a:r>
            <a:endParaRPr lang="en-GB" sz="1200" dirty="0" smtClean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603875" y="1833854"/>
            <a:ext cx="6243782" cy="11262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Sales Order Creation Process</a:t>
            </a:r>
          </a:p>
          <a:p>
            <a:endParaRPr lang="en-GB" sz="1200" dirty="0" smtClean="0"/>
          </a:p>
          <a:p>
            <a:r>
              <a:rPr lang="en-GB" sz="1200" dirty="0" smtClean="0">
                <a:solidFill>
                  <a:schemeClr val="tx1"/>
                </a:solidFill>
              </a:rPr>
              <a:t>The </a:t>
            </a:r>
            <a:r>
              <a:rPr lang="en-GB" sz="1200" b="1" dirty="0" smtClean="0">
                <a:solidFill>
                  <a:schemeClr val="tx1"/>
                </a:solidFill>
              </a:rPr>
              <a:t>Order Team</a:t>
            </a:r>
            <a:r>
              <a:rPr lang="en-GB" sz="1200" dirty="0" smtClean="0">
                <a:solidFill>
                  <a:schemeClr val="tx1"/>
                </a:solidFill>
              </a:rPr>
              <a:t> is responsible for managing customer orders received through the </a:t>
            </a:r>
            <a:r>
              <a:rPr lang="en-GB" sz="1200" dirty="0" err="1" smtClean="0">
                <a:solidFill>
                  <a:schemeClr val="tx1"/>
                </a:solidFill>
              </a:rPr>
              <a:t>Infor</a:t>
            </a:r>
            <a:r>
              <a:rPr lang="en-GB" sz="1200" dirty="0" smtClean="0">
                <a:solidFill>
                  <a:schemeClr val="tx1"/>
                </a:solidFill>
              </a:rPr>
              <a:t> Nexus system. The process involves downloading the orders and creating or updating sales orders in the SAP system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603875" y="3015530"/>
            <a:ext cx="6243782" cy="642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VA01</a:t>
            </a:r>
          </a:p>
          <a:p>
            <a:endParaRPr lang="en-GB" sz="1200" b="1" dirty="0" smtClean="0"/>
          </a:p>
          <a:p>
            <a:r>
              <a:rPr lang="en-GB" sz="1200" dirty="0" smtClean="0">
                <a:solidFill>
                  <a:schemeClr val="tx1"/>
                </a:solidFill>
              </a:rPr>
              <a:t>Standard SAP transaction code used to </a:t>
            </a:r>
            <a:r>
              <a:rPr lang="en-GB" sz="1200" b="1" dirty="0" smtClean="0">
                <a:solidFill>
                  <a:schemeClr val="tx1"/>
                </a:solidFill>
              </a:rPr>
              <a:t>create new sales orders</a:t>
            </a:r>
            <a:r>
              <a:rPr lang="en-GB" sz="1200" dirty="0" smtClean="0">
                <a:solidFill>
                  <a:schemeClr val="tx1"/>
                </a:solidFill>
              </a:rPr>
              <a:t>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603875" y="3720005"/>
            <a:ext cx="6243782" cy="6867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VA02</a:t>
            </a:r>
          </a:p>
          <a:p>
            <a:endParaRPr lang="en-GB" sz="1200" b="1" dirty="0" smtClean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Standard SAP transaction code used to </a:t>
            </a:r>
            <a:r>
              <a:rPr lang="en-GB" sz="1200" b="1" dirty="0" smtClean="0">
                <a:solidFill>
                  <a:schemeClr val="tx1"/>
                </a:solidFill>
              </a:rPr>
              <a:t>modify or update existing sales orders</a:t>
            </a:r>
            <a:r>
              <a:rPr lang="en-GB" sz="1200" dirty="0" smtClean="0">
                <a:solidFill>
                  <a:schemeClr val="tx1"/>
                </a:solidFill>
              </a:rPr>
              <a:t>.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615705" y="4461533"/>
            <a:ext cx="6243782" cy="815286"/>
          </a:xfrm>
          <a:prstGeom prst="rect">
            <a:avLst/>
          </a:prstGeom>
          <a:solidFill>
            <a:srgbClr val="BCFA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FF0000"/>
                </a:solidFill>
              </a:rPr>
              <a:t>ZSD001N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A </a:t>
            </a:r>
            <a:r>
              <a:rPr lang="en-GB" sz="1200" b="1" dirty="0" smtClean="0">
                <a:solidFill>
                  <a:schemeClr val="tx1"/>
                </a:solidFill>
              </a:rPr>
              <a:t>customized transaction code</a:t>
            </a:r>
            <a:r>
              <a:rPr lang="en-GB" sz="1200" dirty="0" smtClean="0">
                <a:solidFill>
                  <a:schemeClr val="tx1"/>
                </a:solidFill>
              </a:rPr>
              <a:t> developed to facilitate </a:t>
            </a:r>
            <a:r>
              <a:rPr lang="en-GB" sz="1200" b="1" dirty="0" smtClean="0">
                <a:solidFill>
                  <a:schemeClr val="tx1"/>
                </a:solidFill>
              </a:rPr>
              <a:t>bulk order uploads</a:t>
            </a:r>
            <a:r>
              <a:rPr lang="en-GB" sz="1200" dirty="0" smtClean="0">
                <a:solidFill>
                  <a:schemeClr val="tx1"/>
                </a:solidFill>
              </a:rPr>
              <a:t> efficiently.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4733858" y="595818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Chevron 64"/>
          <p:cNvSpPr/>
          <p:nvPr/>
        </p:nvSpPr>
        <p:spPr>
          <a:xfrm>
            <a:off x="5052290" y="591012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603875" y="5322353"/>
            <a:ext cx="6243782" cy="14017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 smtClean="0">
                <a:solidFill>
                  <a:srgbClr val="C00000"/>
                </a:solidFill>
              </a:rPr>
              <a:t>Clarification on the Use of VA01 Despite the Availability of ZSD001N ( </a:t>
            </a:r>
            <a:r>
              <a:rPr lang="en-IN" sz="1200" b="1" dirty="0" smtClean="0">
                <a:solidFill>
                  <a:srgbClr val="C00000"/>
                </a:solidFill>
              </a:rPr>
              <a:t>Earlier-discussed </a:t>
            </a:r>
            <a:r>
              <a:rPr lang="en-GB" sz="1200" b="1" dirty="0" smtClean="0">
                <a:solidFill>
                  <a:srgbClr val="C00000"/>
                </a:solidFill>
              </a:rPr>
              <a:t>)  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 smtClean="0">
                <a:solidFill>
                  <a:schemeClr val="tx1"/>
                </a:solidFill>
              </a:rPr>
              <a:t>While ZSD001N improves efficiency for bulk uploads, </a:t>
            </a:r>
            <a:r>
              <a:rPr lang="en-GB" sz="1200" b="1" dirty="0" smtClean="0">
                <a:solidFill>
                  <a:schemeClr val="tx1"/>
                </a:solidFill>
              </a:rPr>
              <a:t>VA01 remains essential</a:t>
            </a:r>
            <a:r>
              <a:rPr lang="en-GB" sz="1200" dirty="0" smtClean="0">
                <a:solidFill>
                  <a:schemeClr val="tx1"/>
                </a:solidFill>
              </a:rPr>
              <a:t> in scenarios where: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Manual intervention or </a:t>
            </a:r>
            <a:r>
              <a:rPr lang="en-GB" sz="1200" b="1" dirty="0" smtClean="0">
                <a:solidFill>
                  <a:schemeClr val="tx1"/>
                </a:solidFill>
              </a:rPr>
              <a:t>case-by-case entry</a:t>
            </a:r>
            <a:r>
              <a:rPr lang="en-GB" sz="1200" dirty="0" smtClean="0">
                <a:solidFill>
                  <a:schemeClr val="tx1"/>
                </a:solidFill>
              </a:rPr>
              <a:t> is needed.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Quick </a:t>
            </a:r>
            <a:r>
              <a:rPr lang="en-GB" sz="1200" b="1" dirty="0" smtClean="0">
                <a:solidFill>
                  <a:schemeClr val="tx1"/>
                </a:solidFill>
              </a:rPr>
              <a:t>correction or validation</a:t>
            </a:r>
            <a:r>
              <a:rPr lang="en-GB" sz="1200" dirty="0" smtClean="0">
                <a:solidFill>
                  <a:schemeClr val="tx1"/>
                </a:solidFill>
              </a:rPr>
              <a:t> is required before order confirmation.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chemeClr val="tx1"/>
                </a:solidFill>
              </a:rPr>
              <a:t>Orders are </a:t>
            </a:r>
            <a:r>
              <a:rPr lang="en-GB" sz="1200" b="1" dirty="0" smtClean="0">
                <a:solidFill>
                  <a:schemeClr val="tx1"/>
                </a:solidFill>
              </a:rPr>
              <a:t>not suitable</a:t>
            </a:r>
            <a:r>
              <a:rPr lang="en-GB" sz="1200" dirty="0" smtClean="0">
                <a:solidFill>
                  <a:schemeClr val="tx1"/>
                </a:solidFill>
              </a:rPr>
              <a:t> for the bulk upload format.</a:t>
            </a:r>
            <a:endParaRPr lang="en-I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84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4655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14036" y="110836"/>
            <a:ext cx="11554691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For Pull BOM Data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036" y="526473"/>
            <a:ext cx="12007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smtClean="0">
                <a:solidFill>
                  <a:srgbClr val="C00000"/>
                </a:solidFill>
              </a:rPr>
              <a:t>Process for Pulling BOM Data Using T-code ZMM123</a:t>
            </a:r>
          </a:p>
          <a:p>
            <a:endParaRPr lang="en-GB" sz="1400" dirty="0" smtClean="0"/>
          </a:p>
          <a:p>
            <a:r>
              <a:rPr lang="en-GB" sz="1400" dirty="0" smtClean="0"/>
              <a:t>The </a:t>
            </a:r>
            <a:r>
              <a:rPr lang="en-GB" sz="1400" b="1" dirty="0" smtClean="0"/>
              <a:t>ZMM123</a:t>
            </a:r>
            <a:r>
              <a:rPr lang="en-GB" sz="1400" dirty="0" smtClean="0"/>
              <a:t> transaction code is a </a:t>
            </a:r>
            <a:r>
              <a:rPr lang="en-GB" sz="1400" b="1" dirty="0" smtClean="0"/>
              <a:t>custom SAP T-code</a:t>
            </a:r>
            <a:r>
              <a:rPr lang="en-GB" sz="1400" dirty="0" smtClean="0"/>
              <a:t> used to </a:t>
            </a:r>
            <a:r>
              <a:rPr lang="en-GB" sz="1400" b="1" dirty="0" smtClean="0"/>
              <a:t>pull Bill of Materials (BOM) data</a:t>
            </a:r>
            <a:r>
              <a:rPr lang="en-GB" sz="1400" dirty="0" smtClean="0"/>
              <a:t> for material planning and execution processes.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5095" y="2268096"/>
            <a:ext cx="2613890" cy="3140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Access SAP GUI</a:t>
            </a:r>
          </a:p>
        </p:txBody>
      </p:sp>
      <p:sp>
        <p:nvSpPr>
          <p:cNvPr id="8" name="Rectangle 7"/>
          <p:cNvSpPr/>
          <p:nvPr/>
        </p:nvSpPr>
        <p:spPr>
          <a:xfrm>
            <a:off x="785095" y="2865576"/>
            <a:ext cx="2613890" cy="3602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Navigate to T-code ZMM123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5095" y="3537232"/>
            <a:ext cx="2613890" cy="3602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Input Required 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5095" y="4227794"/>
            <a:ext cx="2613890" cy="350982"/>
          </a:xfrm>
          <a:prstGeom prst="rect">
            <a:avLst/>
          </a:prstGeom>
          <a:solidFill>
            <a:srgbClr val="BCFA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Execute the T-code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5095" y="4923298"/>
            <a:ext cx="2613889" cy="350982"/>
          </a:xfrm>
          <a:prstGeom prst="rect">
            <a:avLst/>
          </a:prstGeom>
          <a:solidFill>
            <a:srgbClr val="CE6C71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Review the BOM Data</a:t>
            </a:r>
          </a:p>
        </p:txBody>
      </p:sp>
      <p:sp>
        <p:nvSpPr>
          <p:cNvPr id="17" name="Oval 16"/>
          <p:cNvSpPr/>
          <p:nvPr/>
        </p:nvSpPr>
        <p:spPr>
          <a:xfrm>
            <a:off x="1609439" y="1358315"/>
            <a:ext cx="868219" cy="544945"/>
          </a:xfrm>
          <a:prstGeom prst="ellipse">
            <a:avLst/>
          </a:prstGeom>
          <a:solidFill>
            <a:schemeClr val="accent6">
              <a:alpha val="66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Start</a:t>
            </a:r>
            <a:endParaRPr lang="en-IN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064332" y="1900948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057406" y="2535953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057406" y="3225793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064332" y="3897450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064332" y="4599847"/>
            <a:ext cx="1" cy="3218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064332" y="5289866"/>
            <a:ext cx="0" cy="3388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646385" y="5644310"/>
            <a:ext cx="835893" cy="457632"/>
          </a:xfrm>
          <a:prstGeom prst="ellipse">
            <a:avLst/>
          </a:prstGeom>
          <a:solidFill>
            <a:schemeClr val="accent2">
              <a:alpha val="67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End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79493" y="1584754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Chevron 25"/>
          <p:cNvSpPr/>
          <p:nvPr/>
        </p:nvSpPr>
        <p:spPr>
          <a:xfrm>
            <a:off x="4197926" y="1536699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865645" y="2468113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Chevron 27"/>
          <p:cNvSpPr/>
          <p:nvPr/>
        </p:nvSpPr>
        <p:spPr>
          <a:xfrm>
            <a:off x="4184078" y="2420058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856407" y="3676792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Chevron 29"/>
          <p:cNvSpPr/>
          <p:nvPr/>
        </p:nvSpPr>
        <p:spPr>
          <a:xfrm>
            <a:off x="4174840" y="3628737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874881" y="5718036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Chevron 31"/>
          <p:cNvSpPr/>
          <p:nvPr/>
        </p:nvSpPr>
        <p:spPr>
          <a:xfrm>
            <a:off x="4193314" y="5669981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3865642" y="4794392"/>
            <a:ext cx="410741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Chevron 33"/>
          <p:cNvSpPr/>
          <p:nvPr/>
        </p:nvSpPr>
        <p:spPr>
          <a:xfrm>
            <a:off x="4184075" y="4746337"/>
            <a:ext cx="552940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44893" y="1393361"/>
            <a:ext cx="7123833" cy="799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rgbClr val="FF0000"/>
                </a:solidFill>
              </a:rPr>
              <a:t>Access SAP GUI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chemeClr val="tx1"/>
                </a:solidFill>
              </a:rPr>
              <a:t>Log into the SAP system with the appropriate credentials.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7780" y="2222397"/>
            <a:ext cx="7123833" cy="906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rgbClr val="FF0000"/>
                </a:solidFill>
              </a:rPr>
              <a:t>Navigate to T-Code ZMM123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chemeClr val="tx1"/>
                </a:solidFill>
              </a:rPr>
              <a:t>In the command field enter ZMM123 and Press Enter.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27779" y="4620396"/>
            <a:ext cx="7123833" cy="763334"/>
          </a:xfrm>
          <a:prstGeom prst="rect">
            <a:avLst/>
          </a:prstGeom>
          <a:solidFill>
            <a:srgbClr val="BCFA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FF0000"/>
                </a:solidFill>
              </a:rPr>
              <a:t>Execute the T-code</a:t>
            </a:r>
            <a:endParaRPr lang="en-GB" sz="1200" b="1" dirty="0">
              <a:solidFill>
                <a:srgbClr val="FF0000"/>
              </a:solidFill>
            </a:endParaRP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chemeClr val="tx1"/>
                </a:solidFill>
              </a:rPr>
              <a:t>Click on Execute (F8) to run the process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44893" y="5459295"/>
            <a:ext cx="7123833" cy="815286"/>
          </a:xfrm>
          <a:prstGeom prst="rect">
            <a:avLst/>
          </a:prstGeom>
          <a:solidFill>
            <a:srgbClr val="CE6C71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rgbClr val="FF0000"/>
                </a:solidFill>
              </a:rPr>
              <a:t>ZMM123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chemeClr val="tx1"/>
                </a:solidFill>
              </a:rPr>
              <a:t>The system retrieves and displays the list of BOM components associated with the entered material.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744893" y="3193774"/>
            <a:ext cx="7106720" cy="1378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FF0000"/>
                </a:solidFill>
              </a:rPr>
              <a:t>Input Required Parameters 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Material Number – Enter the specific material or article number.</a:t>
            </a:r>
          </a:p>
          <a:p>
            <a:r>
              <a:rPr lang="en-US" sz="1200" dirty="0">
                <a:solidFill>
                  <a:schemeClr val="tx1"/>
                </a:solidFill>
              </a:rPr>
              <a:t>Plant Code – Specify the plant for which the BOM data is required.</a:t>
            </a:r>
          </a:p>
          <a:p>
            <a:r>
              <a:rPr lang="en-US" sz="1200" dirty="0">
                <a:solidFill>
                  <a:schemeClr val="tx1"/>
                </a:solidFill>
              </a:rPr>
              <a:t>Other Filters (if applicable) – CRD date, PO number, or other specific criteria to narrow down results</a:t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02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accent1">
                <a:satMod val="105000"/>
                <a:tint val="67000"/>
                <a:alpha val="51000"/>
                <a:lumMod val="86000"/>
                <a:lumOff val="14000"/>
              </a:schemeClr>
            </a:gs>
            <a:gs pos="54000">
              <a:srgbClr val="ABC6E7"/>
            </a:gs>
            <a:gs pos="41000">
              <a:schemeClr val="accent1">
                <a:lumMod val="105000"/>
                <a:satMod val="103000"/>
                <a:tint val="73000"/>
              </a:schemeClr>
            </a:gs>
            <a:gs pos="68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834910" y="4597402"/>
            <a:ext cx="4950691" cy="22259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20073" y="73890"/>
            <a:ext cx="11868727" cy="360219"/>
          </a:xfrm>
          <a:prstGeom prst="rect">
            <a:avLst/>
          </a:prstGeom>
          <a:solidFill>
            <a:schemeClr val="accent4">
              <a:alpha val="6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The Process of Create Collection and Run  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073" y="521855"/>
            <a:ext cx="6428510" cy="1870363"/>
          </a:xfrm>
          <a:prstGeom prst="rect">
            <a:avLst/>
          </a:prstGeom>
          <a:solidFill>
            <a:schemeClr val="bg2">
              <a:lumMod val="75000"/>
              <a:alpha val="24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ZMM019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– Material Order Summary 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Creation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Select Create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Option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Choose the appropriate summary condition based on the order type: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1. Carton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Box / Supplement Orders → Select Purchase Requisition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2. Mass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Production Orders → Select Sales Order / Sales Contract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               3. Development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Orders → Select Sample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Order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072" y="2433784"/>
            <a:ext cx="6428511" cy="2110509"/>
          </a:xfrm>
          <a:prstGeom prst="rect">
            <a:avLst/>
          </a:prstGeom>
          <a:solidFill>
            <a:schemeClr val="bg2">
              <a:lumMod val="75000"/>
              <a:alpha val="24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 smtClean="0">
                <a:solidFill>
                  <a:srgbClr val="FF0000"/>
                </a:solidFill>
              </a:rPr>
              <a:t>ZMM018 </a:t>
            </a:r>
            <a:r>
              <a:rPr lang="en-GB" sz="1600" dirty="0">
                <a:solidFill>
                  <a:srgbClr val="FF0000"/>
                </a:solidFill>
              </a:rPr>
              <a:t>– Material Allocation </a:t>
            </a:r>
            <a:r>
              <a:rPr lang="en-GB" sz="1600" dirty="0" smtClean="0">
                <a:solidFill>
                  <a:srgbClr val="FF0000"/>
                </a:solidFill>
              </a:rPr>
              <a:t>Process</a:t>
            </a:r>
          </a:p>
          <a:p>
            <a:endParaRPr lang="en-GB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tx1"/>
                </a:solidFill>
              </a:rPr>
              <a:t>Warehouse </a:t>
            </a:r>
            <a:r>
              <a:rPr lang="en-GB" sz="1400" dirty="0">
                <a:solidFill>
                  <a:schemeClr val="tx1"/>
                </a:solidFill>
              </a:rPr>
              <a:t>Stock Allocation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Open transaction ZMM018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Enter the Summary Number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Execute</a:t>
            </a: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>
                <a:solidFill>
                  <a:schemeClr val="tx1"/>
                </a:solidFill>
              </a:rPr>
              <a:t>Procurement </a:t>
            </a:r>
            <a:r>
              <a:rPr lang="en-GB" sz="1400" dirty="0">
                <a:solidFill>
                  <a:schemeClr val="tx1"/>
                </a:solidFill>
              </a:rPr>
              <a:t>Stock Allocation</a:t>
            </a:r>
          </a:p>
          <a:p>
            <a:pPr lvl="1"/>
            <a:r>
              <a:rPr lang="en-GB" sz="1400" dirty="0">
                <a:solidFill>
                  <a:schemeClr val="tx1"/>
                </a:solidFill>
              </a:rPr>
              <a:t>Repeat the same steps as Warehouse Stock </a:t>
            </a:r>
            <a:r>
              <a:rPr lang="en-GB" sz="1400" dirty="0" smtClean="0">
                <a:solidFill>
                  <a:schemeClr val="tx1"/>
                </a:solidFill>
              </a:rPr>
              <a:t>Allocation Ensure </a:t>
            </a:r>
            <a:r>
              <a:rPr lang="en-GB" sz="1400" dirty="0">
                <a:solidFill>
                  <a:schemeClr val="tx1"/>
                </a:solidFill>
              </a:rPr>
              <a:t>to save after </a:t>
            </a:r>
            <a:r>
              <a:rPr lang="en-GB" sz="1400" dirty="0" smtClean="0">
                <a:solidFill>
                  <a:schemeClr val="tx1"/>
                </a:solidFill>
              </a:rPr>
              <a:t>execution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072" y="4590473"/>
            <a:ext cx="6428511" cy="2198254"/>
          </a:xfrm>
          <a:prstGeom prst="rect">
            <a:avLst/>
          </a:prstGeom>
          <a:solidFill>
            <a:schemeClr val="bg2">
              <a:lumMod val="75000"/>
              <a:alpha val="24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 smtClean="0">
                <a:solidFill>
                  <a:srgbClr val="FF0000"/>
                </a:solidFill>
              </a:rPr>
              <a:t>ZMM017 </a:t>
            </a:r>
            <a:r>
              <a:rPr lang="en-GB" sz="1600" dirty="0">
                <a:solidFill>
                  <a:srgbClr val="FF0000"/>
                </a:solidFill>
              </a:rPr>
              <a:t>– Excess Purchase </a:t>
            </a:r>
            <a:r>
              <a:rPr lang="en-GB" sz="1600" dirty="0" smtClean="0">
                <a:solidFill>
                  <a:srgbClr val="FF0000"/>
                </a:solidFill>
              </a:rPr>
              <a:t>Transfer</a:t>
            </a:r>
          </a:p>
          <a:p>
            <a:endParaRPr lang="en-GB" sz="1600" b="1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Open </a:t>
            </a:r>
            <a:r>
              <a:rPr lang="en-GB" sz="1400" dirty="0">
                <a:solidFill>
                  <a:schemeClr val="tx1"/>
                </a:solidFill>
              </a:rPr>
              <a:t>transaction ZMM017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Enter the Summary Number and Vendor Code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Once </a:t>
            </a:r>
            <a:r>
              <a:rPr lang="en-GB" sz="1400" dirty="0">
                <a:solidFill>
                  <a:schemeClr val="tx1"/>
                </a:solidFill>
              </a:rPr>
              <a:t>the material list appears, review the material </a:t>
            </a:r>
            <a:r>
              <a:rPr lang="en-GB" sz="1400" dirty="0" smtClean="0">
                <a:solidFill>
                  <a:schemeClr val="tx1"/>
                </a:solidFill>
              </a:rPr>
              <a:t>status Based </a:t>
            </a:r>
            <a:r>
              <a:rPr lang="en-GB" sz="1400" dirty="0">
                <a:solidFill>
                  <a:schemeClr val="tx1"/>
                </a:solidFill>
              </a:rPr>
              <a:t>on the </a:t>
            </a:r>
            <a:r>
              <a:rPr lang="en-GB" sz="1400" dirty="0" smtClean="0">
                <a:solidFill>
                  <a:schemeClr val="tx1"/>
                </a:solidFill>
              </a:rPr>
              <a:t>status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 smtClean="0">
                <a:solidFill>
                  <a:schemeClr val="tx1"/>
                </a:solidFill>
              </a:rPr>
              <a:t>:        </a:t>
            </a:r>
          </a:p>
          <a:p>
            <a:r>
              <a:rPr lang="en-GB" sz="1400" b="1" dirty="0" smtClean="0">
                <a:solidFill>
                  <a:schemeClr val="tx1"/>
                </a:solidFill>
              </a:rPr>
              <a:t>                        Transfer </a:t>
            </a:r>
            <a:r>
              <a:rPr lang="en-GB" sz="1400" b="1" dirty="0">
                <a:solidFill>
                  <a:schemeClr val="tx1"/>
                </a:solidFill>
              </a:rPr>
              <a:t>for Excess </a:t>
            </a:r>
            <a:r>
              <a:rPr lang="en-GB" sz="1400" b="1" dirty="0" smtClean="0">
                <a:solidFill>
                  <a:schemeClr val="tx1"/>
                </a:solidFill>
              </a:rPr>
              <a:t>Purchas       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 </a:t>
            </a:r>
            <a:r>
              <a:rPr lang="en-GB" sz="1400" b="1" dirty="0" smtClean="0">
                <a:solidFill>
                  <a:schemeClr val="tx1"/>
                </a:solidFill>
              </a:rPr>
              <a:t>                       Cancel </a:t>
            </a:r>
            <a:r>
              <a:rPr lang="en-GB" sz="1400" b="1" dirty="0">
                <a:solidFill>
                  <a:schemeClr val="tx1"/>
                </a:solidFill>
              </a:rPr>
              <a:t>Excess Purchase </a:t>
            </a:r>
            <a:r>
              <a:rPr lang="en-GB" sz="1400" b="1" dirty="0" smtClean="0">
                <a:solidFill>
                  <a:schemeClr val="tx1"/>
                </a:solidFill>
              </a:rPr>
              <a:t>Transfer </a:t>
            </a:r>
            <a:endParaRPr lang="en-GB" sz="1400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146" y="521855"/>
            <a:ext cx="4941455" cy="18703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</p:pic>
      <p:pic>
        <p:nvPicPr>
          <p:cNvPr id="11" name="图片 9"/>
          <p:cNvPicPr/>
          <p:nvPr/>
        </p:nvPicPr>
        <p:blipFill rotWithShape="1">
          <a:blip r:embed="rId3"/>
          <a:srcRect r="6581" b="46709"/>
          <a:stretch/>
        </p:blipFill>
        <p:spPr bwMode="auto">
          <a:xfrm>
            <a:off x="6844146" y="2479964"/>
            <a:ext cx="4941455" cy="2064329"/>
          </a:xfrm>
          <a:prstGeom prst="rect">
            <a:avLst/>
          </a:prstGeom>
          <a:ln w="28575">
            <a:solidFill>
              <a:srgbClr val="FF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2"/>
          <p:cNvPicPr/>
          <p:nvPr/>
        </p:nvPicPr>
        <p:blipFill rotWithShape="1">
          <a:blip r:embed="rId4"/>
          <a:srcRect r="30537" b="40289"/>
          <a:stretch/>
        </p:blipFill>
        <p:spPr bwMode="auto">
          <a:xfrm>
            <a:off x="6913419" y="4632038"/>
            <a:ext cx="2225963" cy="2156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图片 16"/>
          <p:cNvPicPr/>
          <p:nvPr/>
        </p:nvPicPr>
        <p:blipFill rotWithShape="1">
          <a:blip r:embed="rId5"/>
          <a:srcRect t="8507" r="1284" b="7223"/>
          <a:stretch/>
        </p:blipFill>
        <p:spPr bwMode="auto">
          <a:xfrm>
            <a:off x="9194801" y="4632038"/>
            <a:ext cx="2567710" cy="2156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ight Arrow 14"/>
          <p:cNvSpPr/>
          <p:nvPr/>
        </p:nvSpPr>
        <p:spPr>
          <a:xfrm>
            <a:off x="6534728" y="1397000"/>
            <a:ext cx="323273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6511637" y="3307772"/>
            <a:ext cx="323273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Arrow 16"/>
          <p:cNvSpPr/>
          <p:nvPr/>
        </p:nvSpPr>
        <p:spPr>
          <a:xfrm>
            <a:off x="6483927" y="5710382"/>
            <a:ext cx="323273" cy="12007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94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accent1">
                <a:satMod val="105000"/>
                <a:tint val="67000"/>
                <a:alpha val="51000"/>
                <a:lumMod val="86000"/>
                <a:lumOff val="14000"/>
              </a:schemeClr>
            </a:gs>
            <a:gs pos="54000">
              <a:srgbClr val="ABC6E7"/>
            </a:gs>
            <a:gs pos="41000">
              <a:schemeClr val="accent1">
                <a:lumMod val="105000"/>
                <a:satMod val="103000"/>
                <a:tint val="73000"/>
              </a:schemeClr>
            </a:gs>
            <a:gs pos="68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4982" y="240145"/>
            <a:ext cx="7564582" cy="378691"/>
          </a:xfrm>
          <a:prstGeom prst="rect">
            <a:avLst/>
          </a:prstGeom>
          <a:solidFill>
            <a:schemeClr val="accent4">
              <a:alpha val="7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Next Week ( 2025/06/30 – 2025/07/05 ) Plan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63782" y="869555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IN" dirty="0"/>
          </a:p>
        </p:txBody>
      </p:sp>
      <p:sp>
        <p:nvSpPr>
          <p:cNvPr id="30" name="Rectangle 29"/>
          <p:cNvSpPr/>
          <p:nvPr/>
        </p:nvSpPr>
        <p:spPr>
          <a:xfrm>
            <a:off x="1163782" y="1429321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1163782" y="1971497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IN" dirty="0"/>
          </a:p>
        </p:txBody>
      </p:sp>
      <p:sp>
        <p:nvSpPr>
          <p:cNvPr id="32" name="Rectangle 31"/>
          <p:cNvSpPr/>
          <p:nvPr/>
        </p:nvSpPr>
        <p:spPr>
          <a:xfrm>
            <a:off x="1163782" y="2482383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1163782" y="3026641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IN" dirty="0"/>
          </a:p>
        </p:txBody>
      </p:sp>
      <p:sp>
        <p:nvSpPr>
          <p:cNvPr id="34" name="Rectangle 33"/>
          <p:cNvSpPr/>
          <p:nvPr/>
        </p:nvSpPr>
        <p:spPr>
          <a:xfrm>
            <a:off x="1163782" y="3603967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1163782" y="4175980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IN" dirty="0"/>
          </a:p>
        </p:txBody>
      </p:sp>
      <p:sp>
        <p:nvSpPr>
          <p:cNvPr id="36" name="Rectangle 35"/>
          <p:cNvSpPr/>
          <p:nvPr/>
        </p:nvSpPr>
        <p:spPr>
          <a:xfrm>
            <a:off x="2128962" y="869555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Order Creation </a:t>
            </a:r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2128960" y="1429321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Pull BOM</a:t>
            </a:r>
            <a:endParaRPr lang="en-IN" dirty="0"/>
          </a:p>
        </p:txBody>
      </p:sp>
      <p:sp>
        <p:nvSpPr>
          <p:cNvPr id="38" name="Rectangle 37"/>
          <p:cNvSpPr/>
          <p:nvPr/>
        </p:nvSpPr>
        <p:spPr>
          <a:xfrm>
            <a:off x="2133580" y="2482383"/>
            <a:ext cx="4410363" cy="43410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Purchase Management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2128962" y="3026641"/>
            <a:ext cx="4410363" cy="434108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Warehouse Stock</a:t>
            </a:r>
            <a:endParaRPr lang="en-IN" dirty="0"/>
          </a:p>
        </p:txBody>
      </p:sp>
      <p:sp>
        <p:nvSpPr>
          <p:cNvPr id="40" name="Rectangle 39"/>
          <p:cNvSpPr/>
          <p:nvPr/>
        </p:nvSpPr>
        <p:spPr>
          <a:xfrm>
            <a:off x="2128964" y="3603967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Planning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2128966" y="5313216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Production </a:t>
            </a:r>
            <a:endParaRPr lang="en-IN" dirty="0"/>
          </a:p>
        </p:txBody>
      </p:sp>
      <p:sp>
        <p:nvSpPr>
          <p:cNvPr id="42" name="Rectangle 41"/>
          <p:cNvSpPr/>
          <p:nvPr/>
        </p:nvSpPr>
        <p:spPr>
          <a:xfrm>
            <a:off x="2128961" y="1971497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Create Collection and Run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2128967" y="5868554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FG Inbound</a:t>
            </a:r>
            <a:endParaRPr lang="en-IN" dirty="0"/>
          </a:p>
        </p:txBody>
      </p:sp>
      <p:sp>
        <p:nvSpPr>
          <p:cNvPr id="44" name="Rectangle 43"/>
          <p:cNvSpPr/>
          <p:nvPr/>
        </p:nvSpPr>
        <p:spPr>
          <a:xfrm>
            <a:off x="2128964" y="4750982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Fetching Issues</a:t>
            </a:r>
            <a:endParaRPr lang="en-IN" dirty="0"/>
          </a:p>
        </p:txBody>
      </p:sp>
      <p:sp>
        <p:nvSpPr>
          <p:cNvPr id="45" name="Rectangle 44"/>
          <p:cNvSpPr/>
          <p:nvPr/>
        </p:nvSpPr>
        <p:spPr>
          <a:xfrm>
            <a:off x="2128964" y="4175980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Fetching Generation</a:t>
            </a:r>
            <a:endParaRPr lang="en-IN" dirty="0"/>
          </a:p>
        </p:txBody>
      </p:sp>
      <p:sp>
        <p:nvSpPr>
          <p:cNvPr id="46" name="Rectangle 45"/>
          <p:cNvSpPr/>
          <p:nvPr/>
        </p:nvSpPr>
        <p:spPr>
          <a:xfrm>
            <a:off x="1163782" y="5868554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10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1163782" y="4750982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8</a:t>
            </a:r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1163782" y="5313216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9</a:t>
            </a:r>
            <a:endParaRPr lang="en-IN" dirty="0"/>
          </a:p>
        </p:txBody>
      </p:sp>
      <p:sp>
        <p:nvSpPr>
          <p:cNvPr id="49" name="Rectangle 48"/>
          <p:cNvSpPr/>
          <p:nvPr/>
        </p:nvSpPr>
        <p:spPr>
          <a:xfrm>
            <a:off x="2128974" y="6423892"/>
            <a:ext cx="4410363" cy="434108"/>
          </a:xfrm>
          <a:prstGeom prst="rect">
            <a:avLst/>
          </a:prstGeom>
          <a:solidFill>
            <a:schemeClr val="bg2">
              <a:lumMod val="50000"/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Shipment</a:t>
            </a:r>
            <a:endParaRPr lang="en-IN" dirty="0"/>
          </a:p>
        </p:txBody>
      </p:sp>
      <p:sp>
        <p:nvSpPr>
          <p:cNvPr id="50" name="Rectangle 49"/>
          <p:cNvSpPr/>
          <p:nvPr/>
        </p:nvSpPr>
        <p:spPr>
          <a:xfrm>
            <a:off x="1163782" y="6423892"/>
            <a:ext cx="711200" cy="43410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52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accent1">
                <a:satMod val="105000"/>
                <a:tint val="67000"/>
                <a:alpha val="51000"/>
                <a:lumMod val="86000"/>
                <a:lumOff val="14000"/>
              </a:schemeClr>
            </a:gs>
            <a:gs pos="54000">
              <a:srgbClr val="ABC6E7"/>
            </a:gs>
            <a:gs pos="41000">
              <a:schemeClr val="accent1">
                <a:lumMod val="105000"/>
                <a:satMod val="103000"/>
                <a:tint val="73000"/>
              </a:schemeClr>
            </a:gs>
            <a:gs pos="68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782" y="472787"/>
            <a:ext cx="9005455" cy="378691"/>
          </a:xfrm>
          <a:prstGeom prst="rect">
            <a:avLst/>
          </a:prstGeom>
          <a:solidFill>
            <a:schemeClr val="accent5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Placing Purchase Orders With the collection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7782" y="2944956"/>
            <a:ext cx="9005455" cy="378691"/>
          </a:xfrm>
          <a:prstGeom prst="rect">
            <a:avLst/>
          </a:prstGeom>
          <a:solidFill>
            <a:schemeClr val="accent5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Material Received in Warehouse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6726" y="3571585"/>
            <a:ext cx="10220038" cy="794327"/>
          </a:xfrm>
          <a:prstGeom prst="rect">
            <a:avLst/>
          </a:prstGeom>
          <a:solidFill>
            <a:schemeClr val="accent6">
              <a:lumMod val="75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>
                <a:solidFill>
                  <a:srgbClr val="000000"/>
                </a:solidFill>
                <a:latin typeface="Calibri" panose="020F0502020204030204" pitchFamily="34" charset="0"/>
              </a:rPr>
              <a:t>Campare material availability in WMS with SAP</a:t>
            </a:r>
            <a:endParaRPr lang="en-IN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6726" y="939800"/>
            <a:ext cx="10220038" cy="1757218"/>
          </a:xfrm>
          <a:prstGeom prst="rect">
            <a:avLst/>
          </a:prstGeom>
          <a:solidFill>
            <a:schemeClr val="accent6">
              <a:lumMod val="75000"/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1 . Need to check with warehouse department about stock quantity </a:t>
            </a:r>
            <a:b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2 . 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</a:rPr>
              <a:t>Avoid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to purchase over quantity</a:t>
            </a:r>
            <a:b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3 . Must be clear with BOM Team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337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94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621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44</cp:revision>
  <dcterms:created xsi:type="dcterms:W3CDTF">2025-06-24T08:32:07Z</dcterms:created>
  <dcterms:modified xsi:type="dcterms:W3CDTF">2025-06-26T03:35:12Z</dcterms:modified>
</cp:coreProperties>
</file>