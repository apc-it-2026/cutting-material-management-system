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80" r:id="rId3"/>
    <p:sldId id="258" r:id="rId4"/>
    <p:sldId id="279" r:id="rId5"/>
    <p:sldId id="259" r:id="rId6"/>
    <p:sldId id="265" r:id="rId7"/>
    <p:sldId id="266" r:id="rId8"/>
    <p:sldId id="267" r:id="rId9"/>
    <p:sldId id="268" r:id="rId10"/>
    <p:sldId id="269" r:id="rId11"/>
    <p:sldId id="260" r:id="rId12"/>
    <p:sldId id="283" r:id="rId13"/>
    <p:sldId id="275" r:id="rId14"/>
    <p:sldId id="281" r:id="rId15"/>
    <p:sldId id="284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t-software13\Desktop\cut%20line%20stop%2030%20day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Downtime Due To </a:t>
            </a:r>
            <a:r>
              <a:rPr lang="en-US" dirty="0" smtClean="0"/>
              <a:t>Raw material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9525" cap="flat" cmpd="sng" algn="ctr">
            <a:noFill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Lit>
              <c:ptCount val="4"/>
              <c:pt idx="0">
                <c:v>AP2</c:v>
              </c:pt>
              <c:pt idx="1">
                <c:v>AP6</c:v>
              </c:pt>
              <c:pt idx="2">
                <c:v>AP7</c:v>
              </c:pt>
              <c:pt idx="3">
                <c:v>AP8</c:v>
              </c:pt>
            </c:strLit>
          </c:cat>
          <c:val>
            <c:numLit>
              <c:formatCode>General</c:formatCode>
              <c:ptCount val="4"/>
              <c:pt idx="0">
                <c:v>18</c:v>
              </c:pt>
              <c:pt idx="1">
                <c:v>36.75</c:v>
              </c:pt>
              <c:pt idx="2">
                <c:v>8</c:v>
              </c:pt>
              <c:pt idx="3">
                <c:v>8</c:v>
              </c:pt>
            </c:numLit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1643240048"/>
        <c:axId val="-1643238960"/>
      </c:barChart>
      <c:catAx>
        <c:axId val="-1643240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643238960"/>
        <c:crosses val="autoZero"/>
        <c:auto val="1"/>
        <c:lblAlgn val="ctr"/>
        <c:lblOffset val="100"/>
        <c:noMultiLvlLbl val="0"/>
      </c:catAx>
      <c:valAx>
        <c:axId val="-164323896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1643240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400" dirty="0" smtClean="0"/>
              <a:t>Material Readiness by Plant</a:t>
            </a:r>
            <a:endParaRPr lang="en-IN" sz="1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1186971423336154E-2"/>
          <c:y val="6.5731891877519086E-2"/>
          <c:w val="0.94583058562992128"/>
          <c:h val="0.767486542354420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Plant -B</c:v>
                </c:pt>
                <c:pt idx="1">
                  <c:v>Plant -C</c:v>
                </c:pt>
                <c:pt idx="2">
                  <c:v>Plant -D</c:v>
                </c:pt>
                <c:pt idx="3">
                  <c:v>Plant - E</c:v>
                </c:pt>
                <c:pt idx="4">
                  <c:v>Plant - F</c:v>
                </c:pt>
                <c:pt idx="5">
                  <c:v>Plant - G</c:v>
                </c:pt>
                <c:pt idx="6">
                  <c:v>Plant - H</c:v>
                </c:pt>
                <c:pt idx="7">
                  <c:v>Plant - I</c:v>
                </c:pt>
                <c:pt idx="8">
                  <c:v>Plant - J</c:v>
                </c:pt>
                <c:pt idx="9">
                  <c:v>Plant - K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0.7</c:v>
                </c:pt>
                <c:pt idx="1">
                  <c:v>0.6</c:v>
                </c:pt>
                <c:pt idx="2">
                  <c:v>0.45</c:v>
                </c:pt>
                <c:pt idx="3">
                  <c:v>0.8</c:v>
                </c:pt>
                <c:pt idx="4">
                  <c:v>0.56000000000000005</c:v>
                </c:pt>
                <c:pt idx="5">
                  <c:v>0.68</c:v>
                </c:pt>
                <c:pt idx="6">
                  <c:v>0.98</c:v>
                </c:pt>
                <c:pt idx="7">
                  <c:v>0.75</c:v>
                </c:pt>
                <c:pt idx="8">
                  <c:v>0.65</c:v>
                </c:pt>
                <c:pt idx="9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-1568555040"/>
        <c:axId val="-1568555584"/>
      </c:barChart>
      <c:catAx>
        <c:axId val="-156855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568555584"/>
        <c:crossesAt val="0"/>
        <c:auto val="1"/>
        <c:lblAlgn val="ctr"/>
        <c:lblOffset val="100"/>
        <c:noMultiLvlLbl val="0"/>
      </c:catAx>
      <c:valAx>
        <c:axId val="-1568555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568555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8B69C-AFBE-431E-9596-3C6533AF8598}" type="datetimeFigureOut">
              <a:rPr lang="en-IN" smtClean="0"/>
              <a:t>2025/08/08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85F66-D5C5-46E6-AD12-5A0C13D87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285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200DB2-B003-4850-9B8F-14A94B56C16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456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2025/08/08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74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2025/08/08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44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2025/08/08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796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2025/08/08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538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2025/08/08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561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2025/08/08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343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2025/08/08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097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2025/08/08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883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2025/08/08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183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2025/08/08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72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2025/08/08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836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862C4-BBB8-4A53-B3C7-645B1935D5CB}" type="datetimeFigureOut">
              <a:rPr lang="en-IN" smtClean="0"/>
              <a:t>2025/08/08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11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14.png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826" y="16476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1">
                  <a:lumMod val="105000"/>
                  <a:satMod val="103000"/>
                  <a:tint val="73000"/>
                  <a:alpha val="65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Terminator 2"/>
          <p:cNvSpPr/>
          <p:nvPr/>
        </p:nvSpPr>
        <p:spPr>
          <a:xfrm rot="16200000">
            <a:off x="1184128" y="2740008"/>
            <a:ext cx="4419076" cy="1146184"/>
          </a:xfrm>
          <a:prstGeom prst="flowChartTerminator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5200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-8238" y="16476"/>
            <a:ext cx="3325091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079397" y="2185659"/>
            <a:ext cx="8022791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The</a:t>
            </a:r>
            <a:r>
              <a:rPr lang="en-US" sz="4000" b="1" dirty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</a:t>
            </a:r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Management</a:t>
            </a:r>
            <a:r>
              <a:rPr lang="en-US" sz="4000" b="1" dirty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</a:t>
            </a:r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Report</a:t>
            </a:r>
            <a:endParaRPr lang="en-US" sz="4000" b="1" dirty="0">
              <a:ln w="0"/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accent6"/>
                  </a:gs>
                  <a:gs pos="100000">
                    <a:schemeClr val="accent2"/>
                  </a:gs>
                </a:gsLst>
                <a:lin ang="5400000"/>
              </a:gradFill>
              <a:effectLst>
                <a:outerShdw blurRad="38100" dist="38100" dir="2700000" algn="tl">
                  <a:srgbClr val="9A0000"/>
                </a:outerShdw>
                <a:reflection blurRad="6350" stA="53000" endA="300" endPos="35500" dir="5400000" sy="-90000" algn="bl" rotWithShape="0"/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25091" y="5597237"/>
            <a:ext cx="8866910" cy="12607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Presented by : Manohar-G ( APC-IT ) </a:t>
            </a:r>
          </a:p>
          <a:p>
            <a:pPr algn="ctr"/>
            <a:r>
              <a:rPr lang="en-GB" b="1" dirty="0" smtClean="0">
                <a:solidFill>
                  <a:srgbClr val="FF0000"/>
                </a:solidFill>
              </a:rPr>
              <a:t>2025 July 28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371" y="6294820"/>
            <a:ext cx="877455" cy="5839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8" y="429914"/>
            <a:ext cx="307986" cy="3079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3418" y="462057"/>
            <a:ext cx="231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Apache Footwear India Private Limited </a:t>
            </a:r>
            <a:endParaRPr lang="en-IN" dirty="0"/>
          </a:p>
        </p:txBody>
      </p:sp>
      <p:sp>
        <p:nvSpPr>
          <p:cNvPr id="33" name="Flowchart: Delay 32"/>
          <p:cNvSpPr/>
          <p:nvPr/>
        </p:nvSpPr>
        <p:spPr>
          <a:xfrm rot="10800000">
            <a:off x="9652000" y="0"/>
            <a:ext cx="2540000" cy="1874982"/>
          </a:xfrm>
          <a:prstGeom prst="flowChartDelay">
            <a:avLst/>
          </a:prstGeom>
          <a:blipFill dpi="0" rotWithShape="0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4401128" y="4037642"/>
            <a:ext cx="217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/>
                </a:solidFill>
              </a:rPr>
              <a:t>Report Presented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rot="20602116">
            <a:off x="2570664" y="2385634"/>
            <a:ext cx="545249" cy="2388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rgbClr val="002060"/>
                </a:solidFill>
              </a:rPr>
              <a:t>APC</a:t>
            </a:r>
            <a:endParaRPr lang="en-IN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58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38" y="-10948"/>
            <a:ext cx="12160038" cy="435823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🛠 </a:t>
            </a:r>
            <a:r>
              <a:rPr lang="en-IN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Meeting Focus Areas</a:t>
            </a:r>
            <a:endParaRPr lang="en-GB" sz="2000" b="1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029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9637" y="2139222"/>
            <a:ext cx="10487198" cy="92363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Average Cutting Line Stoppage &amp; Future Goal To Be Implemented In Production</a:t>
            </a:r>
            <a:endParaRPr lang="en-IN" dirty="0"/>
          </a:p>
        </p:txBody>
      </p:sp>
      <p:sp>
        <p:nvSpPr>
          <p:cNvPr id="8" name="Rounded Rectangle 7"/>
          <p:cNvSpPr/>
          <p:nvPr/>
        </p:nvSpPr>
        <p:spPr>
          <a:xfrm>
            <a:off x="799637" y="3295776"/>
            <a:ext cx="10487198" cy="96133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The Prototype For Cutting Material Management </a:t>
            </a:r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799637" y="4530289"/>
            <a:ext cx="10487198" cy="89737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Tracking Real Time Production and SAP </a:t>
            </a:r>
            <a:r>
              <a:rPr lang="en-GB" smtClean="0"/>
              <a:t>Data &amp; </a:t>
            </a:r>
            <a:r>
              <a:rPr lang="en-GB" dirty="0" smtClean="0"/>
              <a:t>Suggestions To Departments </a:t>
            </a:r>
            <a:endParaRPr lang="en-IN" dirty="0"/>
          </a:p>
        </p:txBody>
      </p:sp>
      <p:sp>
        <p:nvSpPr>
          <p:cNvPr id="6" name="Rounded Rectangle 5"/>
          <p:cNvSpPr/>
          <p:nvPr/>
        </p:nvSpPr>
        <p:spPr>
          <a:xfrm>
            <a:off x="799637" y="5700844"/>
            <a:ext cx="10487198" cy="83850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Thanks To Derek-yang Sir  </a:t>
            </a:r>
            <a:endParaRPr lang="en-IN" dirty="0"/>
          </a:p>
        </p:txBody>
      </p:sp>
      <p:sp>
        <p:nvSpPr>
          <p:cNvPr id="11" name="Diamond 10"/>
          <p:cNvSpPr/>
          <p:nvPr/>
        </p:nvSpPr>
        <p:spPr>
          <a:xfrm>
            <a:off x="799637" y="794328"/>
            <a:ext cx="914400" cy="914400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</a:t>
            </a:r>
            <a:endParaRPr lang="en-IN" dirty="0"/>
          </a:p>
        </p:txBody>
      </p:sp>
      <p:sp>
        <p:nvSpPr>
          <p:cNvPr id="12" name="Diamond 11"/>
          <p:cNvSpPr/>
          <p:nvPr/>
        </p:nvSpPr>
        <p:spPr>
          <a:xfrm>
            <a:off x="3926492" y="794328"/>
            <a:ext cx="914400" cy="914400"/>
          </a:xfrm>
          <a:prstGeom prst="diamon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</a:t>
            </a:r>
            <a:endParaRPr lang="en-IN" dirty="0"/>
          </a:p>
        </p:txBody>
      </p:sp>
      <p:sp>
        <p:nvSpPr>
          <p:cNvPr id="13" name="Diamond 12"/>
          <p:cNvSpPr/>
          <p:nvPr/>
        </p:nvSpPr>
        <p:spPr>
          <a:xfrm>
            <a:off x="7149463" y="768756"/>
            <a:ext cx="914400" cy="914400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3</a:t>
            </a:r>
            <a:endParaRPr lang="en-IN" dirty="0"/>
          </a:p>
        </p:txBody>
      </p:sp>
      <p:sp>
        <p:nvSpPr>
          <p:cNvPr id="14" name="Diamond 13"/>
          <p:cNvSpPr/>
          <p:nvPr/>
        </p:nvSpPr>
        <p:spPr>
          <a:xfrm>
            <a:off x="10372435" y="794328"/>
            <a:ext cx="914400" cy="914400"/>
          </a:xfrm>
          <a:prstGeom prst="diamon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4</a:t>
            </a:r>
            <a:endParaRPr lang="en-IN" dirty="0"/>
          </a:p>
        </p:txBody>
      </p:sp>
      <p:sp>
        <p:nvSpPr>
          <p:cNvPr id="15" name="Right Arrow 14"/>
          <p:cNvSpPr/>
          <p:nvPr/>
        </p:nvSpPr>
        <p:spPr>
          <a:xfrm>
            <a:off x="1714037" y="1176963"/>
            <a:ext cx="2212455" cy="173227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ight Arrow 15"/>
          <p:cNvSpPr/>
          <p:nvPr/>
        </p:nvSpPr>
        <p:spPr>
          <a:xfrm>
            <a:off x="4813393" y="1164914"/>
            <a:ext cx="2433701" cy="173227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ight Arrow 16"/>
          <p:cNvSpPr/>
          <p:nvPr/>
        </p:nvSpPr>
        <p:spPr>
          <a:xfrm>
            <a:off x="8021649" y="1164913"/>
            <a:ext cx="2433701" cy="173227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44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826" y="16476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Terminator 2"/>
          <p:cNvSpPr/>
          <p:nvPr/>
        </p:nvSpPr>
        <p:spPr>
          <a:xfrm rot="16200000">
            <a:off x="1184128" y="2740008"/>
            <a:ext cx="4419076" cy="1146184"/>
          </a:xfrm>
          <a:prstGeom prst="flowChartTermina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-8238" y="16476"/>
            <a:ext cx="3325091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079397" y="2085791"/>
            <a:ext cx="8022791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 smtClean="0">
                <a:ln w="0"/>
                <a:gradFill>
                  <a:gsLst>
                    <a:gs pos="0">
                      <a:schemeClr val="accent5"/>
                    </a:gs>
                    <a:gs pos="50000">
                      <a:schemeClr val="accent1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Average Cutting Line Stoppage &amp; Future Goal To Be Implemented In Production</a:t>
            </a:r>
            <a:endParaRPr lang="en-US" sz="4000" b="1" dirty="0">
              <a:ln w="0"/>
              <a:gradFill>
                <a:gsLst>
                  <a:gs pos="0">
                    <a:schemeClr val="accent5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5400000"/>
              </a:gradFill>
              <a:effectLst>
                <a:outerShdw blurRad="38100" dist="38100" dir="2700000" algn="tl">
                  <a:srgbClr val="9A0000"/>
                </a:outerShdw>
                <a:reflection blurRad="6350" stA="53000" endA="300" endPos="35500" dir="5400000" sy="-90000" algn="bl" rotWithShape="0"/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25091" y="5597237"/>
            <a:ext cx="8866910" cy="12607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Presented by : Manohar-G ( APC-IT ) </a:t>
            </a:r>
          </a:p>
          <a:p>
            <a:pPr algn="ctr"/>
            <a:r>
              <a:rPr lang="en-GB" b="1" dirty="0" smtClean="0">
                <a:solidFill>
                  <a:srgbClr val="FF0000"/>
                </a:solidFill>
              </a:rPr>
              <a:t>2025 July 28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371" y="6294820"/>
            <a:ext cx="877455" cy="5839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8" y="429914"/>
            <a:ext cx="307986" cy="3079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3418" y="462057"/>
            <a:ext cx="231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Apache Footwear India Private Limited </a:t>
            </a:r>
            <a:endParaRPr lang="en-IN" dirty="0"/>
          </a:p>
        </p:txBody>
      </p:sp>
      <p:sp>
        <p:nvSpPr>
          <p:cNvPr id="33" name="Flowchart: Delay 32"/>
          <p:cNvSpPr/>
          <p:nvPr/>
        </p:nvSpPr>
        <p:spPr>
          <a:xfrm rot="10800000">
            <a:off x="9652000" y="0"/>
            <a:ext cx="2540000" cy="1874982"/>
          </a:xfrm>
          <a:prstGeom prst="flowChartDelay">
            <a:avLst/>
          </a:prstGeom>
          <a:blipFill dpi="0" rotWithShape="0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4318000" y="4178562"/>
            <a:ext cx="217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/>
                </a:solidFill>
              </a:rPr>
              <a:t>Report Presented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rot="20602116">
            <a:off x="2570664" y="2385634"/>
            <a:ext cx="545249" cy="2388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rgbClr val="002060"/>
                </a:solidFill>
              </a:rPr>
              <a:t>APC</a:t>
            </a:r>
            <a:endParaRPr lang="en-IN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57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611" y="1"/>
            <a:ext cx="12192000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Average Cutting Line Stoppage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330393"/>
              </p:ext>
            </p:extLst>
          </p:nvPr>
        </p:nvGraphicFramePr>
        <p:xfrm>
          <a:off x="527221" y="1298130"/>
          <a:ext cx="3424678" cy="2368293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1728725"/>
                <a:gridCol w="1695953"/>
              </a:tblGrid>
              <a:tr h="3789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Row Labels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Sum of DT </a:t>
                      </a:r>
                      <a:r>
                        <a:rPr lang="en-IN" sz="1400" b="1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Hours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789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solidFill>
                            <a:schemeClr val="bg1"/>
                          </a:solidFill>
                          <a:effectLst/>
                        </a:rPr>
                        <a:t>AP2</a:t>
                      </a:r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18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789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solidFill>
                            <a:schemeClr val="bg1"/>
                          </a:solidFill>
                          <a:effectLst/>
                        </a:rPr>
                        <a:t>AP6</a:t>
                      </a:r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36.75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789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solidFill>
                            <a:schemeClr val="bg1"/>
                          </a:solidFill>
                          <a:effectLst/>
                        </a:rPr>
                        <a:t>AP7</a:t>
                      </a:r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789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solidFill>
                            <a:schemeClr val="bg1"/>
                          </a:solidFill>
                          <a:effectLst/>
                        </a:rPr>
                        <a:t>AP8</a:t>
                      </a:r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47365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>
                          <a:solidFill>
                            <a:srgbClr val="C00000"/>
                          </a:solidFill>
                          <a:effectLst/>
                        </a:rPr>
                        <a:t>Grand Total</a:t>
                      </a:r>
                      <a:endParaRPr lang="en-IN" sz="1200" b="1" i="0" u="none" strike="noStrike">
                        <a:solidFill>
                          <a:srgbClr val="C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70.75</a:t>
                      </a:r>
                      <a:endParaRPr lang="en-IN" sz="1200" b="1" i="0" u="none" strike="noStrike" dirty="0">
                        <a:solidFill>
                          <a:srgbClr val="C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4114647"/>
              </p:ext>
            </p:extLst>
          </p:nvPr>
        </p:nvGraphicFramePr>
        <p:xfrm>
          <a:off x="4041741" y="1289064"/>
          <a:ext cx="7669968" cy="238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891" y="879834"/>
            <a:ext cx="10997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/>
              <a:t>To evaluate average machine downtime trends across production lines within the last 30 days, focusing on the </a:t>
            </a:r>
            <a:r>
              <a:rPr lang="en-GB" sz="1400" b="1" dirty="0"/>
              <a:t>Cutting</a:t>
            </a:r>
            <a:r>
              <a:rPr lang="en-GB" sz="1400" dirty="0"/>
              <a:t> process at </a:t>
            </a:r>
            <a:r>
              <a:rPr lang="en-GB" sz="1400" b="1" dirty="0"/>
              <a:t>Factory </a:t>
            </a:r>
            <a:r>
              <a:rPr lang="en-GB" sz="1400" b="1" dirty="0" smtClean="0"/>
              <a:t>APC</a:t>
            </a:r>
            <a:r>
              <a:rPr lang="en-GB" sz="1400" dirty="0" smtClean="0"/>
              <a:t>.</a:t>
            </a:r>
            <a:endParaRPr lang="en-IN" sz="1400" dirty="0"/>
          </a:p>
        </p:txBody>
      </p:sp>
      <p:sp>
        <p:nvSpPr>
          <p:cNvPr id="8" name="Rectangle 7"/>
          <p:cNvSpPr/>
          <p:nvPr/>
        </p:nvSpPr>
        <p:spPr>
          <a:xfrm>
            <a:off x="164756" y="3761828"/>
            <a:ext cx="8188412" cy="31706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>
                <a:ln w="0"/>
                <a:gradFill>
                  <a:gsLst>
                    <a:gs pos="0">
                      <a:schemeClr val="accent5"/>
                    </a:gs>
                    <a:gs pos="50000">
                      <a:schemeClr val="accent1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Future Goal To Be Implemented In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56" y="4273936"/>
            <a:ext cx="112421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b="1" dirty="0">
                <a:solidFill>
                  <a:srgbClr val="FF0000"/>
                </a:solidFill>
              </a:rPr>
              <a:t>🔹</a:t>
            </a:r>
            <a:r>
              <a:rPr lang="en-GB" sz="1400" b="1" dirty="0"/>
              <a:t> </a:t>
            </a:r>
            <a:r>
              <a:rPr lang="en-GB" sz="1400" b="1" dirty="0">
                <a:solidFill>
                  <a:srgbClr val="FF0000"/>
                </a:solidFill>
              </a:rPr>
              <a:t>Strategic </a:t>
            </a:r>
            <a:r>
              <a:rPr lang="en-GB" sz="1400" b="1" dirty="0" smtClean="0">
                <a:solidFill>
                  <a:srgbClr val="FF0000"/>
                </a:solidFill>
              </a:rPr>
              <a:t>Vision :</a:t>
            </a:r>
            <a:endParaRPr lang="en-GB" sz="1400" b="1" dirty="0">
              <a:solidFill>
                <a:srgbClr val="FF0000"/>
              </a:solidFill>
            </a:endParaRPr>
          </a:p>
          <a:p>
            <a:r>
              <a:rPr lang="en-GB" sz="1400" dirty="0" smtClean="0"/>
              <a:t>           To </a:t>
            </a:r>
            <a:r>
              <a:rPr lang="en-GB" sz="1400" dirty="0"/>
              <a:t>minimize overall equipment downtime and optimize productivity across APC lines</a:t>
            </a:r>
            <a:r>
              <a:rPr lang="en-GB" sz="14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b="1" dirty="0">
                <a:solidFill>
                  <a:srgbClr val="FF0000"/>
                </a:solidFill>
              </a:rPr>
              <a:t>🔹</a:t>
            </a:r>
            <a:r>
              <a:rPr lang="en-GB" sz="1400" b="1" dirty="0"/>
              <a:t> </a:t>
            </a:r>
            <a:r>
              <a:rPr lang="en-GB" sz="1400" b="1" dirty="0">
                <a:solidFill>
                  <a:srgbClr val="FF0000"/>
                </a:solidFill>
              </a:rPr>
              <a:t>Target </a:t>
            </a:r>
            <a:r>
              <a:rPr lang="en-GB" sz="1400" b="1" dirty="0" smtClean="0">
                <a:solidFill>
                  <a:srgbClr val="FF0000"/>
                </a:solidFill>
              </a:rPr>
              <a:t>Metrics :</a:t>
            </a:r>
            <a:endParaRPr lang="en-GB" sz="1400" b="1" dirty="0">
              <a:solidFill>
                <a:srgbClr val="FF0000"/>
              </a:solidFill>
            </a:endParaRPr>
          </a:p>
          <a:p>
            <a:r>
              <a:rPr lang="en-GB" sz="1400" dirty="0" smtClean="0"/>
              <a:t>           </a:t>
            </a:r>
            <a:r>
              <a:rPr lang="en-GB" sz="1400" dirty="0" smtClean="0">
                <a:solidFill>
                  <a:schemeClr val="accent5"/>
                </a:solidFill>
              </a:rPr>
              <a:t>📆</a:t>
            </a:r>
            <a:r>
              <a:rPr lang="en-GB" sz="1400" dirty="0" smtClean="0"/>
              <a:t> </a:t>
            </a:r>
            <a:r>
              <a:rPr lang="en-GB" sz="1400" b="1" dirty="0">
                <a:solidFill>
                  <a:schemeClr val="accent5"/>
                </a:solidFill>
              </a:rPr>
              <a:t>Next 3 </a:t>
            </a:r>
            <a:r>
              <a:rPr lang="en-GB" sz="1400" b="1" dirty="0" smtClean="0">
                <a:solidFill>
                  <a:schemeClr val="accent5"/>
                </a:solidFill>
              </a:rPr>
              <a:t>Months :</a:t>
            </a:r>
            <a:r>
              <a:rPr lang="en-GB" sz="1400" dirty="0"/>
              <a:t/>
            </a:r>
            <a:br>
              <a:rPr lang="en-GB" sz="1400" dirty="0"/>
            </a:br>
            <a:r>
              <a:rPr lang="en-GB" sz="1400" dirty="0" smtClean="0"/>
              <a:t>                 Reduce </a:t>
            </a:r>
            <a:r>
              <a:rPr lang="en-GB" sz="1400" dirty="0"/>
              <a:t>cumulative downtime to </a:t>
            </a:r>
            <a:r>
              <a:rPr lang="en-GB" sz="1400" b="1" dirty="0"/>
              <a:t>≤ 30 hours</a:t>
            </a:r>
            <a:r>
              <a:rPr lang="en-GB" sz="1400" dirty="0"/>
              <a:t>.</a:t>
            </a:r>
          </a:p>
          <a:p>
            <a:r>
              <a:rPr lang="en-GB" sz="1400" dirty="0" smtClean="0"/>
              <a:t>           </a:t>
            </a:r>
            <a:r>
              <a:rPr lang="en-GB" sz="1400" dirty="0" smtClean="0">
                <a:solidFill>
                  <a:schemeClr val="accent5"/>
                </a:solidFill>
              </a:rPr>
              <a:t>📆 </a:t>
            </a:r>
            <a:r>
              <a:rPr lang="en-GB" sz="1400" b="1" dirty="0">
                <a:solidFill>
                  <a:schemeClr val="accent5"/>
                </a:solidFill>
              </a:rPr>
              <a:t>Next 6 </a:t>
            </a:r>
            <a:r>
              <a:rPr lang="en-GB" sz="1400" b="1" dirty="0" smtClean="0">
                <a:solidFill>
                  <a:schemeClr val="accent5"/>
                </a:solidFill>
              </a:rPr>
              <a:t>Months :</a:t>
            </a:r>
            <a:r>
              <a:rPr lang="en-GB" sz="1400" dirty="0"/>
              <a:t/>
            </a:r>
            <a:br>
              <a:rPr lang="en-GB" sz="1400" dirty="0"/>
            </a:br>
            <a:r>
              <a:rPr lang="en-GB" sz="1400" dirty="0" smtClean="0"/>
              <a:t>                Sustain </a:t>
            </a:r>
            <a:r>
              <a:rPr lang="en-GB" sz="1400" dirty="0"/>
              <a:t>downtime below </a:t>
            </a:r>
            <a:r>
              <a:rPr lang="en-GB" sz="1400" b="1" dirty="0"/>
              <a:t>10 hours</a:t>
            </a:r>
            <a:r>
              <a:rPr lang="en-GB" sz="1400" dirty="0"/>
              <a:t> across all APC lines</a:t>
            </a:r>
            <a:r>
              <a:rPr lang="en-GB" sz="14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/>
              <a:t>To support the downtime reduction goal by implementing a </a:t>
            </a:r>
            <a:r>
              <a:rPr lang="en-GB" sz="1400" b="1" dirty="0"/>
              <a:t>3-level data visualization prototype</a:t>
            </a:r>
            <a:r>
              <a:rPr lang="en-GB" sz="1400" dirty="0"/>
              <a:t> that enables faster and more informed decision-making.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756" y="521045"/>
            <a:ext cx="8188412" cy="3109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 smtClean="0"/>
              <a:t>📊  </a:t>
            </a:r>
            <a:r>
              <a:rPr lang="en-US" sz="1600" b="1" dirty="0" smtClean="0">
                <a:ln w="0"/>
                <a:gradFill>
                  <a:gsLst>
                    <a:gs pos="0">
                      <a:schemeClr val="accent5"/>
                    </a:gs>
                    <a:gs pos="50000">
                      <a:schemeClr val="accent1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Average Downtime Analysis (</a:t>
            </a:r>
            <a:r>
              <a:rPr lang="en-GB" sz="1600" b="1" dirty="0">
                <a:ln w="0"/>
                <a:gradFill>
                  <a:gsLst>
                    <a:gs pos="0">
                      <a:schemeClr val="accent5"/>
                    </a:gs>
                    <a:gs pos="50000">
                      <a:schemeClr val="accent1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Period: July 24, 2025 – Past 30 Days)</a:t>
            </a:r>
            <a:endParaRPr lang="en-US" sz="1600" b="1" dirty="0">
              <a:ln w="0"/>
              <a:gradFill>
                <a:gsLst>
                  <a:gs pos="0">
                    <a:schemeClr val="accent5"/>
                  </a:gs>
                  <a:gs pos="50000">
                    <a:schemeClr val="accent1"/>
                  </a:gs>
                  <a:gs pos="100000">
                    <a:schemeClr val="accent6"/>
                  </a:gs>
                </a:gsLst>
                <a:lin ang="5400000"/>
              </a:gradFill>
              <a:effectLst>
                <a:outerShdw blurRad="38100" dist="38100" dir="2700000" algn="tl">
                  <a:srgbClr val="9A0000"/>
                </a:outerShdw>
                <a:reflection blurRad="6350" stA="53000" endA="300" endPos="35500" dir="5400000" sy="-90000" algn="bl" rotWithShape="0"/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060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826" y="16476"/>
            <a:ext cx="12192000" cy="6858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Terminator 2"/>
          <p:cNvSpPr/>
          <p:nvPr/>
        </p:nvSpPr>
        <p:spPr>
          <a:xfrm rot="16200000">
            <a:off x="1184128" y="2740008"/>
            <a:ext cx="4419076" cy="1146184"/>
          </a:xfrm>
          <a:prstGeom prst="flowChartTerminato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-8238" y="16476"/>
            <a:ext cx="3325091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079397" y="2061078"/>
            <a:ext cx="8022791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 smtClean="0">
                <a:ln w="0"/>
                <a:gradFill>
                  <a:gsLst>
                    <a:gs pos="0">
                      <a:schemeClr val="accent5"/>
                    </a:gs>
                    <a:gs pos="50000">
                      <a:schemeClr val="accent1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The Prototype For </a:t>
            </a:r>
          </a:p>
          <a:p>
            <a:r>
              <a:rPr lang="en-US" sz="4000" b="1" dirty="0" smtClean="0">
                <a:ln w="0"/>
                <a:gradFill>
                  <a:gsLst>
                    <a:gs pos="0">
                      <a:schemeClr val="accent5"/>
                    </a:gs>
                    <a:gs pos="50000">
                      <a:schemeClr val="accent1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 </a:t>
            </a:r>
          </a:p>
          <a:p>
            <a:r>
              <a:rPr lang="en-US" sz="4000" b="1" dirty="0" smtClean="0">
                <a:ln w="0"/>
                <a:gradFill>
                  <a:gsLst>
                    <a:gs pos="0">
                      <a:schemeClr val="accent5"/>
                    </a:gs>
                    <a:gs pos="50000">
                      <a:schemeClr val="accent1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Management Report </a:t>
            </a:r>
            <a:endParaRPr lang="en-US" sz="4000" b="1" dirty="0">
              <a:ln w="0"/>
              <a:gradFill>
                <a:gsLst>
                  <a:gs pos="0">
                    <a:schemeClr val="accent5"/>
                  </a:gs>
                  <a:gs pos="50000">
                    <a:schemeClr val="accent1"/>
                  </a:gs>
                  <a:gs pos="100000">
                    <a:schemeClr val="accent6"/>
                  </a:gs>
                </a:gsLst>
                <a:lin ang="5400000"/>
              </a:gradFill>
              <a:effectLst>
                <a:outerShdw blurRad="38100" dist="38100" dir="2700000" algn="tl">
                  <a:srgbClr val="9A0000"/>
                </a:outerShdw>
                <a:reflection blurRad="6350" stA="53000" endA="300" endPos="35500" dir="5400000" sy="-90000" algn="bl" rotWithShape="0"/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25091" y="5597237"/>
            <a:ext cx="8866910" cy="12607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Presented by : Manohar-G ( APC-IT ) </a:t>
            </a:r>
          </a:p>
          <a:p>
            <a:pPr algn="ctr"/>
            <a:r>
              <a:rPr lang="en-GB" b="1" dirty="0" smtClean="0">
                <a:solidFill>
                  <a:srgbClr val="FF0000"/>
                </a:solidFill>
              </a:rPr>
              <a:t>2025 July 28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371" y="6294820"/>
            <a:ext cx="877455" cy="5839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8" y="429914"/>
            <a:ext cx="307986" cy="3079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3418" y="462057"/>
            <a:ext cx="231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Apache Footwear India Private Limited </a:t>
            </a:r>
            <a:endParaRPr lang="en-IN" dirty="0"/>
          </a:p>
        </p:txBody>
      </p:sp>
      <p:sp>
        <p:nvSpPr>
          <p:cNvPr id="33" name="Flowchart: Delay 32"/>
          <p:cNvSpPr/>
          <p:nvPr/>
        </p:nvSpPr>
        <p:spPr>
          <a:xfrm rot="10800000">
            <a:off x="9652000" y="0"/>
            <a:ext cx="2540000" cy="1874982"/>
          </a:xfrm>
          <a:prstGeom prst="flowChartDelay">
            <a:avLst/>
          </a:prstGeom>
          <a:blipFill dpi="0" rotWithShape="0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4318000" y="4178562"/>
            <a:ext cx="217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/>
                </a:solidFill>
              </a:rPr>
              <a:t>Report Presented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rot="20602116">
            <a:off x="2570664" y="2385634"/>
            <a:ext cx="545249" cy="2388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rgbClr val="002060"/>
                </a:solidFill>
              </a:rPr>
              <a:t>APC</a:t>
            </a:r>
            <a:endParaRPr lang="en-IN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68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251" y="492961"/>
            <a:ext cx="1406502" cy="25138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Data Capture</a:t>
            </a:r>
            <a:endParaRPr lang="en-IN" sz="1600" dirty="0"/>
          </a:p>
        </p:txBody>
      </p:sp>
      <p:sp>
        <p:nvSpPr>
          <p:cNvPr id="3" name="Rectangle 2"/>
          <p:cNvSpPr/>
          <p:nvPr/>
        </p:nvSpPr>
        <p:spPr>
          <a:xfrm>
            <a:off x="17351" y="-289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Organizational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Workflow for Cutting 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Monitoring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351" y="5048033"/>
            <a:ext cx="1416654" cy="1355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Top </a:t>
            </a:r>
            <a:endParaRPr lang="en-GB" dirty="0" smtClean="0"/>
          </a:p>
          <a:p>
            <a:pPr algn="ctr"/>
            <a:r>
              <a:rPr lang="en-GB" sz="1600" dirty="0" smtClean="0"/>
              <a:t>Management</a:t>
            </a:r>
            <a:endParaRPr lang="en-IN" sz="1600" dirty="0"/>
          </a:p>
        </p:txBody>
      </p:sp>
      <p:sp>
        <p:nvSpPr>
          <p:cNvPr id="6" name="Rectangle 5"/>
          <p:cNvSpPr/>
          <p:nvPr/>
        </p:nvSpPr>
        <p:spPr>
          <a:xfrm>
            <a:off x="1566751" y="504332"/>
            <a:ext cx="10610638" cy="250932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566751" y="3059504"/>
            <a:ext cx="10610638" cy="191351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-8251" y="3059504"/>
            <a:ext cx="1416654" cy="193369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Production</a:t>
            </a:r>
            <a:endParaRPr lang="en-IN" sz="1600" dirty="0"/>
          </a:p>
        </p:txBody>
      </p:sp>
      <p:sp>
        <p:nvSpPr>
          <p:cNvPr id="10" name="Rectangle 9"/>
          <p:cNvSpPr/>
          <p:nvPr/>
        </p:nvSpPr>
        <p:spPr>
          <a:xfrm>
            <a:off x="1566752" y="5048033"/>
            <a:ext cx="10610637" cy="137827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5192415" y="1402676"/>
            <a:ext cx="1309881" cy="1172231"/>
          </a:xfrm>
          <a:prstGeom prst="ellipse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Cutting Material Report</a:t>
            </a:r>
            <a:endParaRPr lang="en-IN" sz="1400" dirty="0"/>
          </a:p>
        </p:txBody>
      </p:sp>
      <p:sp>
        <p:nvSpPr>
          <p:cNvPr id="12" name="Rounded Rectangle 11"/>
          <p:cNvSpPr/>
          <p:nvPr/>
        </p:nvSpPr>
        <p:spPr>
          <a:xfrm>
            <a:off x="1823466" y="1815169"/>
            <a:ext cx="1556117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Purchase Team</a:t>
            </a:r>
            <a:endParaRPr lang="en-IN"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8315128" y="1853973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Warehouse Team</a:t>
            </a:r>
            <a:endParaRPr lang="en-IN" sz="1400" dirty="0"/>
          </a:p>
        </p:txBody>
      </p:sp>
      <p:sp>
        <p:nvSpPr>
          <p:cNvPr id="14" name="Rounded Rectangle 13"/>
          <p:cNvSpPr/>
          <p:nvPr/>
        </p:nvSpPr>
        <p:spPr>
          <a:xfrm>
            <a:off x="4865571" y="557122"/>
            <a:ext cx="2142312" cy="38064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BOM</a:t>
            </a:r>
            <a:endParaRPr lang="en-IN" sz="1400" dirty="0"/>
          </a:p>
        </p:txBody>
      </p:sp>
      <p:sp>
        <p:nvSpPr>
          <p:cNvPr id="15" name="Rounded Rectangle 14"/>
          <p:cNvSpPr/>
          <p:nvPr/>
        </p:nvSpPr>
        <p:spPr>
          <a:xfrm>
            <a:off x="1815655" y="4019528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Planning Team</a:t>
            </a:r>
            <a:endParaRPr lang="en-IN" sz="1400" dirty="0"/>
          </a:p>
        </p:txBody>
      </p:sp>
      <p:sp>
        <p:nvSpPr>
          <p:cNvPr id="16" name="Rounded Rectangle 15"/>
          <p:cNvSpPr/>
          <p:nvPr/>
        </p:nvSpPr>
        <p:spPr>
          <a:xfrm>
            <a:off x="4881372" y="4019528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 In-charge</a:t>
            </a:r>
            <a:endParaRPr lang="en-IN" sz="1400" dirty="0"/>
          </a:p>
        </p:txBody>
      </p:sp>
      <p:sp>
        <p:nvSpPr>
          <p:cNvPr id="17" name="Rounded Rectangle 16"/>
          <p:cNvSpPr/>
          <p:nvPr/>
        </p:nvSpPr>
        <p:spPr>
          <a:xfrm>
            <a:off x="8342783" y="3981820"/>
            <a:ext cx="2142313" cy="387762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 Supervisor</a:t>
            </a:r>
            <a:endParaRPr lang="en-IN" sz="1400" dirty="0"/>
          </a:p>
        </p:txBody>
      </p:sp>
      <p:sp>
        <p:nvSpPr>
          <p:cNvPr id="18" name="Flowchart: Preparation 17"/>
          <p:cNvSpPr/>
          <p:nvPr/>
        </p:nvSpPr>
        <p:spPr>
          <a:xfrm>
            <a:off x="4872131" y="5536794"/>
            <a:ext cx="2142313" cy="511885"/>
          </a:xfrm>
          <a:prstGeom prst="flowChartPreparation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 Top Management </a:t>
            </a:r>
            <a:endParaRPr lang="en-IN" sz="1400" dirty="0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5883625" y="2574907"/>
            <a:ext cx="0" cy="86244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936727" y="4437001"/>
            <a:ext cx="5755" cy="104699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486079" y="1610119"/>
            <a:ext cx="19025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Issue materials, verify stock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1089" y="2178195"/>
            <a:ext cx="1634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C00000"/>
                </a:solidFill>
              </a:rPr>
              <a:t> Track </a:t>
            </a:r>
            <a:r>
              <a:rPr lang="en-GB" sz="1200" dirty="0" smtClean="0">
                <a:solidFill>
                  <a:srgbClr val="C00000"/>
                </a:solidFill>
              </a:rPr>
              <a:t>Purchase Status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725218" y="5535368"/>
            <a:ext cx="20720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>
                <a:solidFill>
                  <a:srgbClr val="C00000"/>
                </a:solidFill>
              </a:rPr>
              <a:t>View overall readiness </a:t>
            </a:r>
            <a:r>
              <a:rPr lang="en-GB" sz="1200" dirty="0" smtClean="0">
                <a:solidFill>
                  <a:srgbClr val="C00000"/>
                </a:solidFill>
              </a:rPr>
              <a:t>%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>
                <a:solidFill>
                  <a:srgbClr val="C00000"/>
                </a:solidFill>
              </a:rPr>
              <a:t>material trends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1293" y="5106961"/>
            <a:ext cx="2613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solidFill>
                  <a:srgbClr val="FF0000"/>
                </a:solidFill>
              </a:rPr>
              <a:t>Sees high-level overview</a:t>
            </a:r>
            <a:endParaRPr lang="en-IN" sz="1200" dirty="0">
              <a:solidFill>
                <a:srgbClr val="FF0000"/>
              </a:solidFill>
            </a:endParaRP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/>
          </p:nvPr>
        </p:nvGraphicFramePr>
        <p:xfrm>
          <a:off x="8437507" y="3155919"/>
          <a:ext cx="3061766" cy="863609"/>
        </p:xfrm>
        <a:graphic>
          <a:graphicData uri="http://schemas.openxmlformats.org/drawingml/2006/table">
            <a:tbl>
              <a:tblPr/>
              <a:tblGrid>
                <a:gridCol w="3061766"/>
              </a:tblGrid>
              <a:tr h="863609"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Check assigned </a:t>
                      </a: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start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cutting only if fully </a:t>
                      </a: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ready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escalate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4855846" y="3349630"/>
            <a:ext cx="27659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/>
              <a:t>Track PO-wise </a:t>
            </a:r>
            <a:r>
              <a:rPr lang="en-GB" sz="1200" dirty="0" smtClean="0"/>
              <a:t>readiness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material issues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escalate </a:t>
            </a:r>
            <a:r>
              <a:rPr lang="en-GB" sz="1200" dirty="0"/>
              <a:t>to teams</a:t>
            </a:r>
            <a:endParaRPr lang="en-IN" sz="1200" dirty="0"/>
          </a:p>
        </p:txBody>
      </p:sp>
      <p:sp>
        <p:nvSpPr>
          <p:cNvPr id="53" name="Rectangle 52"/>
          <p:cNvSpPr/>
          <p:nvPr/>
        </p:nvSpPr>
        <p:spPr>
          <a:xfrm>
            <a:off x="1733818" y="3335489"/>
            <a:ext cx="18864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/>
              <a:t>Ensure BOM is </a:t>
            </a:r>
            <a:r>
              <a:rPr lang="en-GB" sz="1200" dirty="0" smtClean="0"/>
              <a:t>accurate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validate </a:t>
            </a:r>
            <a:r>
              <a:rPr lang="en-GB" sz="1200" dirty="0"/>
              <a:t>material </a:t>
            </a:r>
            <a:r>
              <a:rPr lang="en-GB" sz="1200" dirty="0" smtClean="0"/>
              <a:t>need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resolve </a:t>
            </a:r>
            <a:r>
              <a:rPr lang="en-GB" sz="1200" dirty="0"/>
              <a:t>errors</a:t>
            </a:r>
            <a:endParaRPr lang="en-IN" sz="1200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3620235" y="2349969"/>
            <a:ext cx="1705087" cy="118721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6314682" y="2417934"/>
            <a:ext cx="2028101" cy="111712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7077455" y="4173085"/>
            <a:ext cx="1237673" cy="455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3985623" y="4214412"/>
            <a:ext cx="878605" cy="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031293" y="1017549"/>
            <a:ext cx="1736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Provides base material requirements.</a:t>
            </a: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5883625" y="937766"/>
            <a:ext cx="0" cy="4616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3404462" y="1967191"/>
            <a:ext cx="1801103" cy="2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3529265" y="1588138"/>
            <a:ext cx="14294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Input purchase data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 flipH="1" flipV="1">
            <a:off x="3395989" y="2079551"/>
            <a:ext cx="1788853" cy="256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6506011" y="1987783"/>
            <a:ext cx="1801103" cy="2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 flipV="1">
            <a:off x="6497538" y="2100143"/>
            <a:ext cx="1788853" cy="256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6677802" y="2196099"/>
            <a:ext cx="15702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 smtClean="0">
                <a:solidFill>
                  <a:srgbClr val="C00000"/>
                </a:solidFill>
              </a:rPr>
              <a:t>Warehouse stock data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1370" y="6404937"/>
            <a:ext cx="12192000" cy="4506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Cutting Material Report auto-syncs </a:t>
            </a:r>
            <a:r>
              <a:rPr lang="en-GB" sz="1400" dirty="0" smtClean="0"/>
              <a:t>BOM,PURCHASE, WAREHOUSE, PLANNING AND PO DATA| </a:t>
            </a:r>
            <a:r>
              <a:rPr lang="en-GB" sz="1400" dirty="0"/>
              <a:t>Triggers alerts and tracks material readiness</a:t>
            </a:r>
            <a:endParaRPr lang="en-IN" sz="1400" dirty="0"/>
          </a:p>
        </p:txBody>
      </p:sp>
      <p:sp>
        <p:nvSpPr>
          <p:cNvPr id="108" name="Rectangle 107"/>
          <p:cNvSpPr/>
          <p:nvPr/>
        </p:nvSpPr>
        <p:spPr>
          <a:xfrm>
            <a:off x="7260915" y="4154816"/>
            <a:ext cx="721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Assigns</a:t>
            </a:r>
            <a:endParaRPr lang="en-IN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4102189" y="4235751"/>
            <a:ext cx="6567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shares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9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64834" y="902460"/>
            <a:ext cx="2530764" cy="5911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📋 Assigned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/>
              <a:t>5</a:t>
            </a:r>
            <a:endParaRPr lang="en-IN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3144981" y="897858"/>
            <a:ext cx="2530764" cy="5911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✅ Ready to </a:t>
            </a:r>
            <a:r>
              <a:rPr lang="en-IN" sz="1600" dirty="0" smtClean="0"/>
              <a:t>Cutting</a:t>
            </a:r>
          </a:p>
          <a:p>
            <a:pPr algn="ctr"/>
            <a:r>
              <a:rPr lang="en-GB" sz="1600" dirty="0"/>
              <a:t>3</a:t>
            </a:r>
            <a:endParaRPr lang="en-IN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5966691" y="905547"/>
            <a:ext cx="2530764" cy="5911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❌ Not </a:t>
            </a:r>
            <a:r>
              <a:rPr lang="en-IN" sz="1600" dirty="0" smtClean="0"/>
              <a:t>Ready</a:t>
            </a:r>
          </a:p>
          <a:p>
            <a:pPr algn="ctr"/>
            <a:r>
              <a:rPr lang="en-GB" sz="1600" dirty="0" smtClean="0"/>
              <a:t>1</a:t>
            </a:r>
            <a:endParaRPr lang="en-IN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8913090" y="897730"/>
            <a:ext cx="2530764" cy="591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⚠ </a:t>
            </a:r>
            <a:r>
              <a:rPr lang="en-IN" dirty="0"/>
              <a:t>Escalated </a:t>
            </a:r>
            <a:endParaRPr lang="en-IN" dirty="0" smtClean="0"/>
          </a:p>
          <a:p>
            <a:pPr algn="ctr"/>
            <a:r>
              <a:rPr lang="en-GB" dirty="0"/>
              <a:t>1</a:t>
            </a:r>
            <a:endParaRPr lang="en-GB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364834" y="1922330"/>
          <a:ext cx="84512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255"/>
                <a:gridCol w="1690255"/>
                <a:gridCol w="1690255"/>
                <a:gridCol w="1690255"/>
                <a:gridCol w="1690255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Day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PO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Article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Material Status</a:t>
                      </a:r>
                      <a:r>
                        <a:rPr lang="en-GB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2025/07/05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AP11CO5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dirty="0" smtClean="0"/>
                        <a:t>Samba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✅ OK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❌ Short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415637" y="3942229"/>
          <a:ext cx="11203709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254"/>
                <a:gridCol w="785091"/>
                <a:gridCol w="868218"/>
                <a:gridCol w="1797398"/>
                <a:gridCol w="853438"/>
                <a:gridCol w="1016000"/>
                <a:gridCol w="923637"/>
                <a:gridCol w="905163"/>
                <a:gridCol w="1752139"/>
                <a:gridCol w="112037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PO 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Article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Required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Available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Shortage</a:t>
                      </a:r>
                      <a:r>
                        <a:rPr lang="en-GB" sz="1400" baseline="0" dirty="0" smtClean="0"/>
                        <a:t>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Status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Invoice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ETA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M001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1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OK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M002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520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300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220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❌ 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/>
                        <a:t>INV-MAT-20240620-0048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2025/07/05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50980" y="3592816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350980" y="3583580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3163450" y="3480508"/>
            <a:ext cx="745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By default the field takes short material status </a:t>
            </a:r>
            <a:r>
              <a:rPr lang="en-GB" dirty="0" err="1" smtClean="0"/>
              <a:t>po</a:t>
            </a:r>
            <a:r>
              <a:rPr lang="en-GB" dirty="0" smtClean="0"/>
              <a:t> in ascending order</a:t>
            </a:r>
            <a:endParaRPr lang="en-IN" dirty="0"/>
          </a:p>
        </p:txBody>
      </p:sp>
      <p:cxnSp>
        <p:nvCxnSpPr>
          <p:cNvPr id="18" name="Straight Arrow Connector 17"/>
          <p:cNvCxnSpPr>
            <a:stCxn id="46" idx="1"/>
            <a:endCxn id="14" idx="3"/>
          </p:cNvCxnSpPr>
          <p:nvPr/>
        </p:nvCxnSpPr>
        <p:spPr>
          <a:xfrm flipH="1">
            <a:off x="2964871" y="2811851"/>
            <a:ext cx="4987633" cy="9287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50980" y="5724222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350980" y="571498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22" name="Rectangle 21"/>
          <p:cNvSpPr/>
          <p:nvPr/>
        </p:nvSpPr>
        <p:spPr>
          <a:xfrm>
            <a:off x="3126510" y="5736459"/>
            <a:ext cx="5343236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Enter Issue</a:t>
            </a:r>
            <a:endParaRPr lang="en-IN" sz="1400" dirty="0"/>
          </a:p>
        </p:txBody>
      </p:sp>
      <p:sp>
        <p:nvSpPr>
          <p:cNvPr id="23" name="Rectangle 22"/>
          <p:cNvSpPr/>
          <p:nvPr/>
        </p:nvSpPr>
        <p:spPr>
          <a:xfrm>
            <a:off x="3126510" y="5727224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Issue</a:t>
            </a:r>
            <a:endParaRPr lang="en-IN" sz="1400" dirty="0"/>
          </a:p>
        </p:txBody>
      </p:sp>
      <p:sp>
        <p:nvSpPr>
          <p:cNvPr id="26" name="Rounded Rectangle 25"/>
          <p:cNvSpPr/>
          <p:nvPr/>
        </p:nvSpPr>
        <p:spPr>
          <a:xfrm>
            <a:off x="8811490" y="5727224"/>
            <a:ext cx="1016001" cy="3047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Submit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4834" y="6447006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350980" y="6437771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3228107" y="6419311"/>
            <a:ext cx="1016001" cy="30479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Check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228104" y="1576263"/>
            <a:ext cx="5089237" cy="28632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PO Readiness List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228104" y="3179582"/>
            <a:ext cx="5089237" cy="2863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Material Checklist by PO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253509" y="5360256"/>
            <a:ext cx="5089237" cy="2863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Raise Escalations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228104" y="6082503"/>
            <a:ext cx="5089237" cy="28632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Request store verification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64834" y="487780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2025/07/05</a:t>
            </a:r>
            <a:endParaRPr lang="en-IN" dirty="0"/>
          </a:p>
        </p:txBody>
      </p:sp>
      <p:sp>
        <p:nvSpPr>
          <p:cNvPr id="37" name="Rectangle 36"/>
          <p:cNvSpPr/>
          <p:nvPr/>
        </p:nvSpPr>
        <p:spPr>
          <a:xfrm>
            <a:off x="364834" y="478544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Day</a:t>
            </a:r>
            <a:endParaRPr lang="en-IN" sz="1400" dirty="0"/>
          </a:p>
        </p:txBody>
      </p:sp>
      <p:sp>
        <p:nvSpPr>
          <p:cNvPr id="38" name="Rectangle 37"/>
          <p:cNvSpPr/>
          <p:nvPr/>
        </p:nvSpPr>
        <p:spPr>
          <a:xfrm>
            <a:off x="3144981" y="483797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39" name="Rectangle 38"/>
          <p:cNvSpPr/>
          <p:nvPr/>
        </p:nvSpPr>
        <p:spPr>
          <a:xfrm>
            <a:off x="3144981" y="474561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40" name="Rectangle 39"/>
          <p:cNvSpPr/>
          <p:nvPr/>
        </p:nvSpPr>
        <p:spPr>
          <a:xfrm>
            <a:off x="5925128" y="50112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41" name="Rectangle 40"/>
          <p:cNvSpPr/>
          <p:nvPr/>
        </p:nvSpPr>
        <p:spPr>
          <a:xfrm>
            <a:off x="5925128" y="491893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42" name="Rectangle 41"/>
          <p:cNvSpPr/>
          <p:nvPr/>
        </p:nvSpPr>
        <p:spPr>
          <a:xfrm>
            <a:off x="8705275" y="50112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43" name="Rectangle 42"/>
          <p:cNvSpPr/>
          <p:nvPr/>
        </p:nvSpPr>
        <p:spPr>
          <a:xfrm>
            <a:off x="8705275" y="491893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45" name="Rounded Rectangle 44"/>
          <p:cNvSpPr/>
          <p:nvPr/>
        </p:nvSpPr>
        <p:spPr>
          <a:xfrm>
            <a:off x="7952504" y="2328536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46" name="Rounded Rectangle 45"/>
          <p:cNvSpPr/>
          <p:nvPr/>
        </p:nvSpPr>
        <p:spPr>
          <a:xfrm>
            <a:off x="7952504" y="2687160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47" name="Rectangle 46"/>
          <p:cNvSpPr/>
          <p:nvPr/>
        </p:nvSpPr>
        <p:spPr>
          <a:xfrm>
            <a:off x="30643" y="-10948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Availability – Line Supervisor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8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07819" y="1231076"/>
            <a:ext cx="2530764" cy="5911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📋 Total POs </a:t>
            </a:r>
            <a:r>
              <a:rPr lang="en-IN" sz="1600" dirty="0" smtClean="0"/>
              <a:t>Today</a:t>
            </a:r>
          </a:p>
          <a:p>
            <a:pPr algn="ctr"/>
            <a:r>
              <a:rPr lang="en-IN" sz="1600" dirty="0" smtClean="0"/>
              <a:t>28</a:t>
            </a:r>
            <a:endParaRPr lang="en-IN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3181926" y="1245329"/>
            <a:ext cx="2530764" cy="5911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✅ Fully Ready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 smtClean="0"/>
              <a:t>19</a:t>
            </a:r>
            <a:endParaRPr lang="en-IN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6220253" y="1231076"/>
            <a:ext cx="2530764" cy="5911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🚫 Shortage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/>
              <a:t>7</a:t>
            </a:r>
            <a:endParaRPr lang="en-IN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9232868" y="1231076"/>
            <a:ext cx="2530764" cy="591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🔁 Delayed </a:t>
            </a:r>
            <a:r>
              <a:rPr lang="en-IN" dirty="0" smtClean="0"/>
              <a:t>Pos</a:t>
            </a:r>
          </a:p>
          <a:p>
            <a:pPr algn="ctr"/>
            <a:r>
              <a:rPr lang="en-GB" dirty="0"/>
              <a:t>2</a:t>
            </a:r>
            <a:endParaRPr lang="en-GB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355603" y="2402194"/>
          <a:ext cx="1138381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924"/>
                <a:gridCol w="1136073"/>
                <a:gridCol w="1167987"/>
                <a:gridCol w="1531483"/>
                <a:gridCol w="873254"/>
                <a:gridCol w="1802840"/>
                <a:gridCol w="1551709"/>
                <a:gridCol w="840509"/>
                <a:gridCol w="1330034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Date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PO NO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Model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Line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Readiness 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Status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Delay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Action 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2025/07/02</a:t>
                      </a:r>
                      <a:endParaRPr lang="en-IN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AP11C02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Ready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1" dirty="0" smtClean="0"/>
                        <a:t>-</a:t>
                      </a:r>
                      <a:r>
                        <a:rPr lang="en-GB" sz="1800" b="1" i="1" baseline="0" dirty="0" smtClean="0"/>
                        <a:t> </a:t>
                      </a:r>
                      <a:endParaRPr lang="en-IN" sz="18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Start Cutting 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1000042525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STANSMITH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AP10C04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75%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❌ Short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 DAY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Escalate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1000215486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ULTIMATE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AP09CO3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90%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⚠ Partial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2175163" y="4446874"/>
          <a:ext cx="6502400" cy="7180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/>
                <a:gridCol w="1625600"/>
                <a:gridCol w="1625600"/>
                <a:gridCol w="16256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Required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Available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Short Qty</a:t>
                      </a:r>
                      <a:endParaRPr lang="en-IN" sz="1400" dirty="0"/>
                    </a:p>
                  </a:txBody>
                  <a:tcPr/>
                </a:tc>
              </a:tr>
              <a:tr h="34722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Fabric 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160m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40m 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769927" y="3203373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22" name="Rounded Rectangle 21"/>
          <p:cNvSpPr/>
          <p:nvPr/>
        </p:nvSpPr>
        <p:spPr>
          <a:xfrm>
            <a:off x="3168072" y="2003524"/>
            <a:ext cx="5089237" cy="2863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i="1" dirty="0">
                <a:solidFill>
                  <a:schemeClr val="tx1"/>
                </a:solidFill>
              </a:rPr>
              <a:t>PO-Wise Material Readiness Status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168072" y="3982507"/>
            <a:ext cx="5089237" cy="28632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i="1" dirty="0">
                <a:solidFill>
                  <a:schemeClr val="tx1"/>
                </a:solidFill>
              </a:rPr>
              <a:t>Material Shortage Tracker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12436" y="675705"/>
            <a:ext cx="2309092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2025/07/01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207819" y="675705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Date Range</a:t>
            </a:r>
            <a:endParaRPr lang="en-IN" sz="1400" dirty="0"/>
          </a:p>
        </p:txBody>
      </p:sp>
      <p:sp>
        <p:nvSpPr>
          <p:cNvPr id="28" name="Rectangle 27"/>
          <p:cNvSpPr/>
          <p:nvPr/>
        </p:nvSpPr>
        <p:spPr>
          <a:xfrm>
            <a:off x="2706258" y="675705"/>
            <a:ext cx="1981197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2706258" y="675705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30" name="Rectangle 29"/>
          <p:cNvSpPr/>
          <p:nvPr/>
        </p:nvSpPr>
        <p:spPr>
          <a:xfrm>
            <a:off x="4853715" y="683294"/>
            <a:ext cx="1597890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1" name="Rectangle 30"/>
          <p:cNvSpPr/>
          <p:nvPr/>
        </p:nvSpPr>
        <p:spPr>
          <a:xfrm>
            <a:off x="4853714" y="674059"/>
            <a:ext cx="722720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32" name="Rectangle 31"/>
          <p:cNvSpPr/>
          <p:nvPr/>
        </p:nvSpPr>
        <p:spPr>
          <a:xfrm>
            <a:off x="6601675" y="683294"/>
            <a:ext cx="1831123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3" name="Rectangle 32"/>
          <p:cNvSpPr/>
          <p:nvPr/>
        </p:nvSpPr>
        <p:spPr>
          <a:xfrm>
            <a:off x="6601674" y="674059"/>
            <a:ext cx="94518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34" name="Rectangle 33"/>
          <p:cNvSpPr/>
          <p:nvPr/>
        </p:nvSpPr>
        <p:spPr>
          <a:xfrm>
            <a:off x="8544388" y="700909"/>
            <a:ext cx="1831123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5" name="Rectangle 34"/>
          <p:cNvSpPr/>
          <p:nvPr/>
        </p:nvSpPr>
        <p:spPr>
          <a:xfrm>
            <a:off x="8544387" y="691674"/>
            <a:ext cx="94518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36" name="Bent Arrow 35"/>
          <p:cNvSpPr/>
          <p:nvPr/>
        </p:nvSpPr>
        <p:spPr>
          <a:xfrm rot="10800000">
            <a:off x="8793012" y="3471227"/>
            <a:ext cx="341752" cy="1399643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96514" y="5288575"/>
            <a:ext cx="11267118" cy="1474821"/>
          </a:xfrm>
          <a:prstGeom prst="rect">
            <a:avLst/>
          </a:prstGeom>
          <a:solidFill>
            <a:schemeClr val="accent5">
              <a:alpha val="19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61625" y="5365087"/>
            <a:ext cx="10763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Core operational view—monitor each PO’s readiness at the line level and Material-wise breakdown of </a:t>
            </a:r>
            <a:r>
              <a:rPr lang="en-GB" sz="1400" dirty="0" smtClean="0"/>
              <a:t>what’s </a:t>
            </a:r>
            <a:r>
              <a:rPr lang="en-GB" sz="1400" dirty="0"/>
              <a:t>short and how many POs are impacted</a:t>
            </a:r>
            <a:r>
              <a:rPr lang="en-GB" sz="1400" dirty="0" smtClean="0"/>
              <a:t>..</a:t>
            </a:r>
            <a:endParaRPr lang="en-IN" sz="1400" dirty="0"/>
          </a:p>
        </p:txBody>
      </p:sp>
      <p:sp>
        <p:nvSpPr>
          <p:cNvPr id="37" name="Rectangle 36"/>
          <p:cNvSpPr/>
          <p:nvPr/>
        </p:nvSpPr>
        <p:spPr>
          <a:xfrm>
            <a:off x="752389" y="6160968"/>
            <a:ext cx="107631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Benefits</a:t>
            </a:r>
            <a:r>
              <a:rPr lang="en-GB" sz="1400" dirty="0"/>
              <a:t> : Take immediate steps for POs with issues and Communicate to purchase team or prioritize allocation from existing stock.  </a:t>
            </a:r>
            <a:endParaRPr lang="en-IN" sz="1400" dirty="0"/>
          </a:p>
        </p:txBody>
      </p:sp>
      <p:sp>
        <p:nvSpPr>
          <p:cNvPr id="39" name="Rectangle 38"/>
          <p:cNvSpPr/>
          <p:nvPr/>
        </p:nvSpPr>
        <p:spPr>
          <a:xfrm>
            <a:off x="30643" y="-1094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Availability – Plant In-charge Dashboard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14400" y="3858308"/>
            <a:ext cx="10741891" cy="2976228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420433"/>
              </p:ext>
            </p:extLst>
          </p:nvPr>
        </p:nvGraphicFramePr>
        <p:xfrm>
          <a:off x="314040" y="1309390"/>
          <a:ext cx="8179172" cy="22275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73911"/>
                <a:gridCol w="1266318"/>
                <a:gridCol w="1217881"/>
                <a:gridCol w="1280159"/>
                <a:gridCol w="1404714"/>
                <a:gridCol w="1536189"/>
              </a:tblGrid>
              <a:tr h="341874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PO NO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Plant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Shortage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Delay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Escalated To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Status</a:t>
                      </a:r>
                      <a:endParaRPr lang="en-IN" sz="16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B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Fabric 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Planning Team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⚠</a:t>
                      </a:r>
                      <a:r>
                        <a:rPr lang="en-IN" sz="1400" baseline="0" dirty="0" smtClean="0"/>
                        <a:t> </a:t>
                      </a:r>
                      <a:r>
                        <a:rPr lang="en-IN" sz="1400" dirty="0" smtClean="0"/>
                        <a:t>Pending </a:t>
                      </a:r>
                      <a:endParaRPr lang="en-IN" sz="14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Purchase Team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Resolved </a:t>
                      </a:r>
                      <a:endParaRPr lang="en-IN" sz="14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1000042587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Warehouse Team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Resolved </a:t>
                      </a:r>
                      <a:endParaRPr lang="en-IN" sz="14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1000042592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K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Planning</a:t>
                      </a:r>
                      <a:r>
                        <a:rPr lang="en-GB" sz="1400" baseline="0" dirty="0" smtClean="0"/>
                        <a:t> Team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Resolved </a:t>
                      </a:r>
                      <a:endParaRPr lang="en-IN" sz="14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1000042466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F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5d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Purchase Team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⚠</a:t>
                      </a:r>
                      <a:r>
                        <a:rPr lang="en-IN" sz="1400" baseline="0" dirty="0" smtClean="0"/>
                        <a:t>  </a:t>
                      </a:r>
                      <a:r>
                        <a:rPr lang="en-IN" sz="1400" dirty="0" smtClean="0"/>
                        <a:t>Pending 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23273" y="3540754"/>
            <a:ext cx="2318328" cy="2493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Explanation For KPI Cards </a:t>
            </a:r>
            <a:endParaRPr lang="en-IN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715818" y="4130393"/>
          <a:ext cx="10515600" cy="216408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KPI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📦 </a:t>
                      </a:r>
                      <a:r>
                        <a:rPr lang="en-IN" sz="1400" b="1" dirty="0"/>
                        <a:t>Material Readiness %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% of POs for which all required materials are 100% available. Shows overall cutting readiness.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🚨 </a:t>
                      </a:r>
                      <a:r>
                        <a:rPr lang="en-IN" sz="1400" b="1" dirty="0"/>
                        <a:t>Open Escalations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Total number of escalated cases (shortage or delay) not yet resolved. Reflects risk and follow-up need.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📋 </a:t>
                      </a:r>
                      <a:r>
                        <a:rPr lang="en-IN" sz="1400" b="1" dirty="0"/>
                        <a:t>Total POs Today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</a:t>
                      </a:r>
                      <a:r>
                        <a:rPr lang="en-GB" sz="1400" dirty="0" smtClean="0"/>
                        <a:t>POs </a:t>
                      </a:r>
                      <a:r>
                        <a:rPr lang="en-GB" sz="1400" dirty="0"/>
                        <a:t>scheduled for cutting today. Shows daily load.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📈 </a:t>
                      </a:r>
                      <a:r>
                        <a:rPr lang="en-IN" sz="1400" b="1" dirty="0"/>
                        <a:t>Average Delay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Average days of delay for POs with shortages. Helps GM assess the severity.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232726" y="521823"/>
            <a:ext cx="4378037" cy="26779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Critical Escalated Pos : </a:t>
            </a:r>
            <a:endParaRPr lang="en-IN" b="1" i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25236" y="3858308"/>
            <a:ext cx="85251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/>
              <a:t>Purpose</a:t>
            </a:r>
            <a:r>
              <a:rPr lang="en-GB" sz="1400" dirty="0"/>
              <a:t>: Give an instant overview of today’s key metrics</a:t>
            </a:r>
            <a:endParaRPr lang="en-IN" sz="1400" dirty="0"/>
          </a:p>
        </p:txBody>
      </p:sp>
      <p:sp>
        <p:nvSpPr>
          <p:cNvPr id="21" name="Rectangle 20"/>
          <p:cNvSpPr/>
          <p:nvPr/>
        </p:nvSpPr>
        <p:spPr>
          <a:xfrm>
            <a:off x="1025236" y="6425376"/>
            <a:ext cx="85251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/>
              <a:t>Benefits </a:t>
            </a:r>
            <a:r>
              <a:rPr lang="en-GB" sz="1400" dirty="0"/>
              <a:t>: Quick health check of plant’s material readiness and performance for the </a:t>
            </a:r>
            <a:r>
              <a:rPr lang="en-GB" sz="1400" dirty="0" smtClean="0"/>
              <a:t>day.</a:t>
            </a:r>
            <a:endParaRPr lang="en-IN" sz="1400" dirty="0"/>
          </a:p>
        </p:txBody>
      </p:sp>
      <p:sp>
        <p:nvSpPr>
          <p:cNvPr id="22" name="Rectangle 21"/>
          <p:cNvSpPr/>
          <p:nvPr/>
        </p:nvSpPr>
        <p:spPr>
          <a:xfrm>
            <a:off x="323273" y="901151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323273" y="89191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24" name="Rectangle 23"/>
          <p:cNvSpPr/>
          <p:nvPr/>
        </p:nvSpPr>
        <p:spPr>
          <a:xfrm>
            <a:off x="3232726" y="901151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3232726" y="89191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26" name="Rectangle 25"/>
          <p:cNvSpPr/>
          <p:nvPr/>
        </p:nvSpPr>
        <p:spPr>
          <a:xfrm>
            <a:off x="6142179" y="89678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6142179" y="887554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28" name="Rounded Rectangle 27"/>
          <p:cNvSpPr/>
          <p:nvPr/>
        </p:nvSpPr>
        <p:spPr>
          <a:xfrm>
            <a:off x="9097818" y="896789"/>
            <a:ext cx="1182255" cy="29556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Submit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608540" y="1331129"/>
            <a:ext cx="3470874" cy="2221898"/>
          </a:xfrm>
          <a:prstGeom prst="rect">
            <a:avLst/>
          </a:prstGeom>
          <a:solidFill>
            <a:schemeClr val="accent1">
              <a:alpha val="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729360" y="1396251"/>
            <a:ext cx="322923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Highlight urgent POs that are delayed due to material unavailability and require attention.</a:t>
            </a:r>
            <a:endParaRPr lang="en-IN" sz="1400" dirty="0"/>
          </a:p>
        </p:txBody>
      </p:sp>
      <p:sp>
        <p:nvSpPr>
          <p:cNvPr id="30" name="Rectangle 29"/>
          <p:cNvSpPr/>
          <p:nvPr/>
        </p:nvSpPr>
        <p:spPr>
          <a:xfrm>
            <a:off x="8756070" y="2234711"/>
            <a:ext cx="31940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Spot improvement or decline in readiness over time. A dropping trend might signal deeper issues in supply or coordination.</a:t>
            </a:r>
            <a:endParaRPr lang="en-IN" sz="1400" dirty="0"/>
          </a:p>
        </p:txBody>
      </p:sp>
      <p:sp>
        <p:nvSpPr>
          <p:cNvPr id="4" name="Right Arrow 3"/>
          <p:cNvSpPr/>
          <p:nvPr/>
        </p:nvSpPr>
        <p:spPr>
          <a:xfrm>
            <a:off x="8295503" y="2347784"/>
            <a:ext cx="313037" cy="17299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30643" y="-1094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Availability Dashboard – Plant In-charge Dashboard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28599" y="804320"/>
            <a:ext cx="2313711" cy="46529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📦 Material Readiness </a:t>
            </a:r>
            <a:r>
              <a:rPr lang="en-IN" sz="1400" dirty="0" smtClean="0"/>
              <a:t>%</a:t>
            </a:r>
          </a:p>
          <a:p>
            <a:pPr algn="ctr"/>
            <a:r>
              <a:rPr lang="en-IN" sz="1400" dirty="0"/>
              <a:t>82%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81913" y="822790"/>
            <a:ext cx="3915244" cy="44091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🚨 Open </a:t>
            </a:r>
            <a:r>
              <a:rPr lang="en-IN" sz="1400" dirty="0" smtClean="0"/>
              <a:t>Escalations (issues not yet resolved)</a:t>
            </a:r>
          </a:p>
          <a:p>
            <a:pPr algn="ctr"/>
            <a:r>
              <a:rPr lang="en-GB" sz="1400" dirty="0"/>
              <a:t>5</a:t>
            </a:r>
            <a:endParaRPr lang="en-IN"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6801332" y="822060"/>
            <a:ext cx="1971964" cy="4416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📋 Total POs </a:t>
            </a:r>
            <a:r>
              <a:rPr lang="en-IN" sz="1400" dirty="0" smtClean="0"/>
              <a:t>Today</a:t>
            </a:r>
          </a:p>
          <a:p>
            <a:pPr algn="ctr"/>
            <a:r>
              <a:rPr lang="en-GB" sz="1400" dirty="0" smtClean="0"/>
              <a:t>36</a:t>
            </a:r>
            <a:endParaRPr lang="en-IN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9032401" y="822060"/>
            <a:ext cx="1846299" cy="44164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📈 Avg </a:t>
            </a:r>
            <a:r>
              <a:rPr lang="en-IN" sz="1600" dirty="0" smtClean="0"/>
              <a:t>Delay</a:t>
            </a:r>
          </a:p>
          <a:p>
            <a:pPr algn="ctr"/>
            <a:r>
              <a:rPr lang="en-GB" sz="1600" dirty="0" smtClean="0"/>
              <a:t>2.1 days</a:t>
            </a:r>
            <a:endParaRPr lang="en-IN" sz="1600" dirty="0"/>
          </a:p>
        </p:txBody>
      </p:sp>
      <p:graphicFrame>
        <p:nvGraphicFramePr>
          <p:cNvPr id="11" name="Chart 10"/>
          <p:cNvGraphicFramePr/>
          <p:nvPr>
            <p:extLst/>
          </p:nvPr>
        </p:nvGraphicFramePr>
        <p:xfrm>
          <a:off x="244762" y="1319126"/>
          <a:ext cx="6156037" cy="1805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/>
          </p:nvPr>
        </p:nvGraphicFramePr>
        <p:xfrm>
          <a:off x="228599" y="3431022"/>
          <a:ext cx="6496809" cy="1836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5603"/>
                <a:gridCol w="2165603"/>
                <a:gridCol w="2165603"/>
              </a:tblGrid>
              <a:tr h="312121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Material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Short Quantity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Affected</a:t>
                      </a:r>
                      <a:r>
                        <a:rPr lang="en-GB" sz="1400" baseline="0" dirty="0" smtClean="0"/>
                        <a:t> Pos </a:t>
                      </a:r>
                      <a:endParaRPr lang="en-IN" sz="1400" dirty="0"/>
                    </a:p>
                  </a:txBody>
                  <a:tcPr/>
                </a:tc>
              </a:tr>
              <a:tr h="2726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FTWR WHITE 01F7 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340m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3</a:t>
                      </a:r>
                      <a:endParaRPr lang="en-IN" sz="14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1.4MM ECO SOFT MATTE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220m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8</a:t>
                      </a:r>
                      <a:endParaRPr lang="en-IN" sz="14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CEMENT TWICE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165m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21</a:t>
                      </a:r>
                      <a:endParaRPr lang="en-IN" sz="14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WHITE LATEX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100m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4</a:t>
                      </a:r>
                      <a:endParaRPr lang="en-IN" sz="14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ST-A990-06E EPM5 MESH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92m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1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611" y="5446243"/>
            <a:ext cx="2448725" cy="1514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Rounded Rectangle 21"/>
          <p:cNvSpPr/>
          <p:nvPr/>
        </p:nvSpPr>
        <p:spPr>
          <a:xfrm>
            <a:off x="228599" y="3155943"/>
            <a:ext cx="1921477" cy="24938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i="1" dirty="0">
                <a:solidFill>
                  <a:schemeClr val="tx1"/>
                </a:solidFill>
              </a:rPr>
              <a:t>Top 5 Short Materials :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5329" y="5446243"/>
            <a:ext cx="2426981" cy="98750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Cutting Availability Trend ( Weekly ) ( Line Wise )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44762" y="439105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2025/07/01</a:t>
            </a:r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244762" y="429870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Date Range</a:t>
            </a:r>
            <a:endParaRPr lang="en-IN" sz="1400" dirty="0"/>
          </a:p>
        </p:txBody>
      </p:sp>
      <p:sp>
        <p:nvSpPr>
          <p:cNvPr id="26" name="Rectangle 25"/>
          <p:cNvSpPr/>
          <p:nvPr/>
        </p:nvSpPr>
        <p:spPr>
          <a:xfrm>
            <a:off x="3038764" y="440102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3038764" y="430867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28" name="Rectangle 27"/>
          <p:cNvSpPr/>
          <p:nvPr/>
        </p:nvSpPr>
        <p:spPr>
          <a:xfrm>
            <a:off x="5906030" y="448340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5906030" y="439105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8773296" y="439105"/>
            <a:ext cx="1182255" cy="28632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Submit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6497157" y="1317232"/>
            <a:ext cx="5604227" cy="1800138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497159" y="1431246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Compare different plants to see which ones are better prepared for cutting.</a:t>
            </a:r>
            <a:endParaRPr lang="en-IN" sz="1400" dirty="0"/>
          </a:p>
        </p:txBody>
      </p:sp>
      <p:sp>
        <p:nvSpPr>
          <p:cNvPr id="32" name="Rectangle 31"/>
          <p:cNvSpPr/>
          <p:nvPr/>
        </p:nvSpPr>
        <p:spPr>
          <a:xfrm>
            <a:off x="6528861" y="2019541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Description</a:t>
            </a:r>
            <a:r>
              <a:rPr lang="en-GB" sz="1400" dirty="0" smtClean="0"/>
              <a:t> : Shows </a:t>
            </a:r>
            <a:r>
              <a:rPr lang="en-GB" sz="1400" dirty="0"/>
              <a:t>% of material availability across all assigned POs</a:t>
            </a:r>
            <a:endParaRPr lang="en-IN" sz="1400" dirty="0"/>
          </a:p>
        </p:txBody>
      </p:sp>
      <p:sp>
        <p:nvSpPr>
          <p:cNvPr id="33" name="Rectangle 32"/>
          <p:cNvSpPr/>
          <p:nvPr/>
        </p:nvSpPr>
        <p:spPr>
          <a:xfrm>
            <a:off x="6497159" y="2589365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Identify which plant is performing well and where attention or escalation is needed</a:t>
            </a:r>
            <a:r>
              <a:rPr lang="en-GB" sz="1400" dirty="0" smtClean="0"/>
              <a:t>. </a:t>
            </a:r>
            <a:endParaRPr lang="en-IN" sz="1400" dirty="0"/>
          </a:p>
        </p:txBody>
      </p:sp>
      <p:sp>
        <p:nvSpPr>
          <p:cNvPr id="34" name="Rectangle 33"/>
          <p:cNvSpPr/>
          <p:nvPr/>
        </p:nvSpPr>
        <p:spPr>
          <a:xfrm>
            <a:off x="6819319" y="3438277"/>
            <a:ext cx="5282065" cy="1800988"/>
          </a:xfrm>
          <a:prstGeom prst="rect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909204" y="3690698"/>
            <a:ext cx="51409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Highlight the most frequently short or unavailable materials, across all POs.</a:t>
            </a:r>
            <a:endParaRPr lang="en-IN" sz="1400" dirty="0"/>
          </a:p>
        </p:txBody>
      </p:sp>
      <p:sp>
        <p:nvSpPr>
          <p:cNvPr id="36" name="Rectangle 35"/>
          <p:cNvSpPr/>
          <p:nvPr/>
        </p:nvSpPr>
        <p:spPr>
          <a:xfrm>
            <a:off x="6909204" y="4404674"/>
            <a:ext cx="51921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Quickly identify which raw materials are causing the biggest disruptions—helps guide procurement priorities</a:t>
            </a:r>
            <a:endParaRPr lang="en-IN" sz="1400" dirty="0"/>
          </a:p>
        </p:txBody>
      </p:sp>
      <p:sp>
        <p:nvSpPr>
          <p:cNvPr id="37" name="Rectangle 36"/>
          <p:cNvSpPr/>
          <p:nvPr/>
        </p:nvSpPr>
        <p:spPr>
          <a:xfrm>
            <a:off x="5652654" y="5430021"/>
            <a:ext cx="6397509" cy="1333244"/>
          </a:xfrm>
          <a:prstGeom prst="rect">
            <a:avLst/>
          </a:prstGeom>
          <a:solidFill>
            <a:schemeClr val="accent1"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785955" y="5602754"/>
            <a:ext cx="45575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Visualize the trend of material readiness over time</a:t>
            </a:r>
            <a:endParaRPr lang="en-IN" sz="1400" dirty="0"/>
          </a:p>
        </p:txBody>
      </p:sp>
      <p:sp>
        <p:nvSpPr>
          <p:cNvPr id="39" name="Rectangle 38"/>
          <p:cNvSpPr/>
          <p:nvPr/>
        </p:nvSpPr>
        <p:spPr>
          <a:xfrm>
            <a:off x="5785955" y="6048444"/>
            <a:ext cx="59746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Spot improvement or decline in readiness over time. A dropping trend might signal deeper issues in supply or coordination.</a:t>
            </a:r>
            <a:endParaRPr lang="en-IN" sz="1400" dirty="0"/>
          </a:p>
        </p:txBody>
      </p:sp>
      <p:sp>
        <p:nvSpPr>
          <p:cNvPr id="41" name="Rectangle 40"/>
          <p:cNvSpPr/>
          <p:nvPr/>
        </p:nvSpPr>
        <p:spPr>
          <a:xfrm>
            <a:off x="0" y="-17105"/>
            <a:ext cx="12160038" cy="392926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Availability Dashboard – Top Management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1066" y="-6157"/>
            <a:ext cx="465680" cy="36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8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826" y="16476"/>
            <a:ext cx="12192000" cy="6858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Terminator 2"/>
          <p:cNvSpPr/>
          <p:nvPr/>
        </p:nvSpPr>
        <p:spPr>
          <a:xfrm rot="16200000">
            <a:off x="1184128" y="2740008"/>
            <a:ext cx="4419076" cy="1146184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-8238" y="16476"/>
            <a:ext cx="3325091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079397" y="2262605"/>
            <a:ext cx="8022791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 smtClean="0">
                <a:ln w="0"/>
                <a:gradFill>
                  <a:gsLst>
                    <a:gs pos="0">
                      <a:schemeClr val="accent2"/>
                    </a:gs>
                    <a:gs pos="50000">
                      <a:schemeClr val="accent2">
                        <a:lumMod val="75000"/>
                      </a:schemeClr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Track Real Time Production Data And SAP Data </a:t>
            </a:r>
            <a:endParaRPr lang="en-US" sz="4000" b="1" dirty="0">
              <a:ln w="0"/>
              <a:gradFill>
                <a:gsLst>
                  <a:gs pos="0">
                    <a:schemeClr val="accent2"/>
                  </a:gs>
                  <a:gs pos="50000">
                    <a:schemeClr val="accent2">
                      <a:lumMod val="75000"/>
                    </a:schemeClr>
                  </a:gs>
                  <a:gs pos="100000">
                    <a:schemeClr val="accent6"/>
                  </a:gs>
                </a:gsLst>
                <a:lin ang="5400000"/>
              </a:gradFill>
              <a:effectLst>
                <a:outerShdw blurRad="38100" dist="38100" dir="2700000" algn="tl">
                  <a:srgbClr val="9A0000"/>
                </a:outerShdw>
                <a:reflection blurRad="6350" stA="53000" endA="300" endPos="35500" dir="5400000" sy="-90000" algn="bl" rotWithShape="0"/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25091" y="5597237"/>
            <a:ext cx="8866910" cy="12607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Presented by : Manohar-G ( APC-IT ) </a:t>
            </a:r>
          </a:p>
          <a:p>
            <a:pPr algn="ctr"/>
            <a:r>
              <a:rPr lang="en-GB" b="1" dirty="0" smtClean="0">
                <a:solidFill>
                  <a:srgbClr val="FF0000"/>
                </a:solidFill>
              </a:rPr>
              <a:t>2025 July 28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371" y="6294820"/>
            <a:ext cx="877455" cy="5839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8" y="429914"/>
            <a:ext cx="307986" cy="3079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3418" y="462057"/>
            <a:ext cx="231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Apache Footwear India Private Limited </a:t>
            </a:r>
            <a:endParaRPr lang="en-IN" dirty="0"/>
          </a:p>
        </p:txBody>
      </p:sp>
      <p:sp>
        <p:nvSpPr>
          <p:cNvPr id="33" name="Flowchart: Delay 32"/>
          <p:cNvSpPr/>
          <p:nvPr/>
        </p:nvSpPr>
        <p:spPr>
          <a:xfrm rot="10800000">
            <a:off x="9652000" y="0"/>
            <a:ext cx="2540000" cy="1874982"/>
          </a:xfrm>
          <a:prstGeom prst="flowChartDelay">
            <a:avLst/>
          </a:prstGeom>
          <a:blipFill dpi="0" rotWithShape="0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4318000" y="4178562"/>
            <a:ext cx="217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/>
                </a:solidFill>
              </a:rPr>
              <a:t>Report Presented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rot="20602116">
            <a:off x="2570664" y="2385634"/>
            <a:ext cx="545249" cy="2388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>
                <a:solidFill>
                  <a:srgbClr val="002060"/>
                </a:solidFill>
              </a:rPr>
              <a:t>APC</a:t>
            </a:r>
            <a:endParaRPr lang="en-IN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96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20073" y="5070763"/>
            <a:ext cx="12024365" cy="14041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8352840" y="3211150"/>
            <a:ext cx="3732578" cy="172306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8352840" y="1908770"/>
            <a:ext cx="3732578" cy="11238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8352840" y="590750"/>
            <a:ext cx="3732578" cy="116159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Schedule Data For One Line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86544" y="1088331"/>
            <a:ext cx="33988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Rescheduled </a:t>
            </a:r>
            <a:r>
              <a:rPr lang="en-GB" sz="1200" dirty="0" err="1" smtClean="0"/>
              <a:t>pos</a:t>
            </a:r>
            <a:r>
              <a:rPr lang="en-GB" sz="1200" dirty="0" smtClean="0"/>
              <a:t> and </a:t>
            </a:r>
            <a:r>
              <a:rPr lang="en-GB" sz="1200" dirty="0"/>
              <a:t>notice </a:t>
            </a:r>
            <a:r>
              <a:rPr lang="en-GB" sz="1200" dirty="0" err="1" smtClean="0"/>
              <a:t>pos</a:t>
            </a:r>
            <a:r>
              <a:rPr lang="en-GB" sz="1200" dirty="0" smtClean="0"/>
              <a:t> are </a:t>
            </a:r>
            <a:r>
              <a:rPr lang="en-GB" sz="1200" dirty="0"/>
              <a:t>also not yet updated in the SAP system.</a:t>
            </a:r>
            <a:endParaRPr lang="en-IN" sz="1200" dirty="0"/>
          </a:p>
        </p:txBody>
      </p:sp>
      <p:sp>
        <p:nvSpPr>
          <p:cNvPr id="6" name="Rectangle 5"/>
          <p:cNvSpPr/>
          <p:nvPr/>
        </p:nvSpPr>
        <p:spPr>
          <a:xfrm>
            <a:off x="8441959" y="666013"/>
            <a:ext cx="30757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Reschedule Pos : 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544" y="2399639"/>
            <a:ext cx="3258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Schedules are uploaded </a:t>
            </a: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in SAP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leads to misalignment with production CRD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41959" y="2000316"/>
            <a:ext cx="30757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 Schedule : 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03187" y="5183544"/>
            <a:ext cx="30757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 Quantity Mismatch : 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544" y="3706395"/>
            <a:ext cx="33112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discrepancy between the actual schedule 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dates and Line 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in production and the schedule 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dates and </a:t>
            </a:r>
            <a:r>
              <a:rPr lang="en-GB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in SAP, leading to misalignment in material planning and execution.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436027" y="5555743"/>
            <a:ext cx="9721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discrepancy between the actual schedule 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Qty followed 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production and the schedule 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Qty maintained 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SAP, leading to misalignment in material planning and execution.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441959" y="3304884"/>
            <a:ext cx="30757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Mismatch Schedule : 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73" y="582808"/>
            <a:ext cx="8155709" cy="435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9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7662409" y="5186258"/>
            <a:ext cx="4391046" cy="1589742"/>
          </a:xfrm>
          <a:prstGeom prst="rect">
            <a:avLst/>
          </a:prstGeom>
          <a:solidFill>
            <a:srgbClr val="7030A0">
              <a:alpha val="38000"/>
            </a:srgbClr>
          </a:solidFill>
          <a:ln>
            <a:solidFill>
              <a:schemeClr val="accent1">
                <a:alpha val="1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7662409" y="3472997"/>
            <a:ext cx="4391046" cy="15129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7640933" y="2027399"/>
            <a:ext cx="4391046" cy="126735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7640933" y="431111"/>
            <a:ext cx="4391046" cy="14262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450909"/>
              </p:ext>
            </p:extLst>
          </p:nvPr>
        </p:nvGraphicFramePr>
        <p:xfrm>
          <a:off x="75302" y="439915"/>
          <a:ext cx="7516990" cy="6356304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33152"/>
                <a:gridCol w="782595"/>
                <a:gridCol w="1112108"/>
                <a:gridCol w="691978"/>
                <a:gridCol w="889687"/>
                <a:gridCol w="486032"/>
                <a:gridCol w="551935"/>
                <a:gridCol w="609600"/>
                <a:gridCol w="856735"/>
                <a:gridCol w="903168"/>
              </a:tblGrid>
              <a:tr h="1017529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Sales Order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Material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Material Name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Total</a:t>
                      </a:r>
                      <a:r>
                        <a:rPr lang="en-IN" sz="1200" baseline="0" dirty="0" smtClean="0"/>
                        <a:t> Dosage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Material Fetching</a:t>
                      </a:r>
                      <a:r>
                        <a:rPr lang="en-IN" sz="1200" baseline="0" dirty="0" smtClean="0"/>
                        <a:t> sheet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Required</a:t>
                      </a:r>
                      <a:r>
                        <a:rPr lang="en-IN" sz="1200" baseline="0" dirty="0" smtClean="0"/>
                        <a:t>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Issued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Un-issue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create date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Issue Date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u="none" strike="noStrike" dirty="0" smtClean="0">
                          <a:effectLst/>
                        </a:rPr>
                        <a:t>1000225437</a:t>
                      </a:r>
                      <a:endParaRPr lang="en-IN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4040300019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NEW SIZE LABEL 25.4X28MM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840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4040402339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65X22MM (MESH HEAT TRANSFER)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164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4040402288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59X20.5MM (MESH HEAT TRANSFER)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676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3100195320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LETO SUEDE RC 100+FA 7100 P TPU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2.511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C102770862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2.512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2.512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2025/05/20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2025/05/23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3100195232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BETA MATTE RE5 TPU+FA 7100 P TPU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0.5460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C102770868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0.551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0.362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0.189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2025/05/20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2025/05/31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3100195001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YH-M1093+FA 7100 P TPU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15.8608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C102770864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15.863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15.863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2025/05/20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2025/05/22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4040100097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T50(50KG)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5.867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C102777629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5.871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5.871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kern="1200" dirty="0" smtClean="0">
                          <a:effectLst/>
                        </a:rPr>
                        <a:t>2025/05/23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2025/05/31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</a:tr>
              <a:tr h="613165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3100195267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0.7MM QUEEN TEX HY-100+012 25C DC R45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6.91350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C102777626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6.917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6.917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kern="1200" dirty="0" smtClean="0">
                          <a:effectLst/>
                        </a:rPr>
                        <a:t>2025/05/23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2025/06/03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3100189294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DJT 2836 JC MESH </a:t>
                      </a:r>
                      <a:r>
                        <a:rPr lang="en-GB" sz="10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III+TOP:Ortholite</a:t>
                      </a:r>
                      <a:r>
                        <a:rPr lang="en-GB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lazy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9.77311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C102777626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9.776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9.776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kern="1200" dirty="0" smtClean="0">
                          <a:effectLst/>
                        </a:rPr>
                        <a:t>2025/05/23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2025/06/03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4030500497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1.0MM B15 HMT NON WOVEN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5.314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C102777624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5.318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5.318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kern="1200" dirty="0" smtClean="0">
                          <a:effectLst/>
                        </a:rPr>
                        <a:t>2025/05/23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2025/05/31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4040708467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23BYE02 WOVEN TAPE 18MM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26,865.200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C102770865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293.812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293.812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2025/05/20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2025/05/23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Material Tracking For schedule PO -- 1000225437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40933" y="536461"/>
            <a:ext cx="4295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 Created but </a:t>
            </a:r>
            <a:r>
              <a:rPr lang="en-GB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Fetching : 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 rot="10800000" flipV="1">
            <a:off x="7960252" y="931420"/>
            <a:ext cx="40832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Materials: 4040402339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4040402288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 Cause: BOM planned but purchase not triggered, leading to delay in production readiness.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0900" y="2191637"/>
            <a:ext cx="2254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Issues 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GB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Fetching : 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7794838" y="2610292"/>
            <a:ext cx="400811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Materials: 3100195232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 Cause: Purchase completed, but material not fetched or errors in issuance (highlighted in red).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62409" y="3537495"/>
            <a:ext cx="36698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High Total Dosage </a:t>
            </a:r>
            <a:r>
              <a:rPr lang="en-GB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Quantity: 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7806347" y="3926831"/>
            <a:ext cx="396516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Material: 4040708467 (26,865.200 dosage for just 951.129 requirement)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 Cause: Likely a BOM error—dosage quantity too high for the required qty. Needs rechecking of BOM accuracy.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11946" y="5236835"/>
            <a:ext cx="35707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 In Fetching Issue Process : 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7806347" y="5647177"/>
            <a:ext cx="398040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delay in the fetching process — fetching is being done two or more days after the creation date, which affects timely material availability and process flow.</a:t>
            </a:r>
            <a:endParaRPr kumimoji="0" lang="en-US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399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418276" y="948925"/>
            <a:ext cx="3140364" cy="346364"/>
          </a:xfrm>
          <a:prstGeom prst="roundRect">
            <a:avLst/>
          </a:prstGeom>
          <a:solidFill>
            <a:srgbClr val="BCFAE5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Pull BOM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8276" y="3741406"/>
            <a:ext cx="1369791" cy="103329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Purchase Department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52207" y="3741406"/>
            <a:ext cx="1301472" cy="103329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Warehouse Department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8276" y="2218893"/>
            <a:ext cx="3140364" cy="346364"/>
          </a:xfrm>
          <a:prstGeom prst="roundRect">
            <a:avLst/>
          </a:prstGeom>
          <a:solidFill>
            <a:srgbClr val="C00000">
              <a:alpha val="4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bg1"/>
                </a:solidFill>
              </a:rPr>
              <a:t>Planning Department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8277" y="6057250"/>
            <a:ext cx="3140364" cy="34636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Production 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1897386" y="1295289"/>
            <a:ext cx="183436" cy="871164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Down Arrow 11"/>
          <p:cNvSpPr/>
          <p:nvPr/>
        </p:nvSpPr>
        <p:spPr>
          <a:xfrm>
            <a:off x="1896095" y="2597428"/>
            <a:ext cx="184727" cy="550922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Down Arrow 12"/>
          <p:cNvSpPr/>
          <p:nvPr/>
        </p:nvSpPr>
        <p:spPr>
          <a:xfrm>
            <a:off x="1008258" y="4774701"/>
            <a:ext cx="186228" cy="57165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>
            <a:off x="1896095" y="5442551"/>
            <a:ext cx="184727" cy="59362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3704007" y="891303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Chevron 17"/>
          <p:cNvSpPr/>
          <p:nvPr/>
        </p:nvSpPr>
        <p:spPr>
          <a:xfrm>
            <a:off x="4031675" y="843248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690153" y="2190302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Chevron 19"/>
          <p:cNvSpPr/>
          <p:nvPr/>
        </p:nvSpPr>
        <p:spPr>
          <a:xfrm>
            <a:off x="4008585" y="2142247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3717867" y="341744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Chevron 21"/>
          <p:cNvSpPr/>
          <p:nvPr/>
        </p:nvSpPr>
        <p:spPr>
          <a:xfrm>
            <a:off x="4036299" y="336938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3699388" y="469207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Chevron 23"/>
          <p:cNvSpPr/>
          <p:nvPr/>
        </p:nvSpPr>
        <p:spPr>
          <a:xfrm>
            <a:off x="4017820" y="464401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3717857" y="603617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Chevron 32"/>
          <p:cNvSpPr/>
          <p:nvPr/>
        </p:nvSpPr>
        <p:spPr>
          <a:xfrm>
            <a:off x="4036289" y="598811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761571" y="456732"/>
            <a:ext cx="7291884" cy="1226660"/>
          </a:xfrm>
          <a:prstGeom prst="rect">
            <a:avLst/>
          </a:prstGeom>
          <a:solidFill>
            <a:srgbClr val="BCFAE5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smtClean="0">
                <a:solidFill>
                  <a:srgbClr val="FF0000"/>
                </a:solidFill>
              </a:rPr>
              <a:t>BOM Department – Enhancing Accuracy and Efficiency : </a:t>
            </a:r>
          </a:p>
          <a:p>
            <a:endParaRPr lang="en-GB" sz="1400" dirty="0" smtClean="0">
              <a:solidFill>
                <a:srgbClr val="FF0000"/>
              </a:solidFill>
            </a:endParaRPr>
          </a:p>
          <a:p>
            <a:r>
              <a:rPr lang="en-GB" sz="1400" dirty="0" smtClean="0">
                <a:solidFill>
                  <a:schemeClr val="tx1"/>
                </a:solidFill>
              </a:rPr>
              <a:t>1 . Ensure Accuracy in BOM Pulling</a:t>
            </a:r>
          </a:p>
          <a:p>
            <a:r>
              <a:rPr lang="en-GB" sz="1400" dirty="0" smtClean="0">
                <a:solidFill>
                  <a:schemeClr val="tx1"/>
                </a:solidFill>
              </a:rPr>
              <a:t>2 . Create BOM Based on Actual Article Usage</a:t>
            </a:r>
            <a:br>
              <a:rPr lang="en-GB" sz="1400" dirty="0" smtClean="0">
                <a:solidFill>
                  <a:schemeClr val="tx1"/>
                </a:solidFill>
              </a:rPr>
            </a:br>
            <a:r>
              <a:rPr lang="en-GB" sz="1400" dirty="0" smtClean="0">
                <a:solidFill>
                  <a:schemeClr val="tx1"/>
                </a:solidFill>
              </a:rPr>
              <a:t>3 . </a:t>
            </a:r>
            <a:r>
              <a:rPr lang="en-IN" sz="1400" dirty="0" smtClean="0">
                <a:solidFill>
                  <a:schemeClr val="tx1"/>
                </a:solidFill>
              </a:rPr>
              <a:t>Avoid Unnecessary Material Creation</a:t>
            </a:r>
            <a:endParaRPr lang="en-GB" sz="1400" dirty="0" smtClean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761571" y="3093438"/>
            <a:ext cx="7291884" cy="12064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 smtClean="0">
                <a:solidFill>
                  <a:srgbClr val="FF0000"/>
                </a:solidFill>
              </a:rPr>
              <a:t> </a:t>
            </a:r>
            <a:r>
              <a:rPr lang="en-GB" sz="1400" dirty="0" smtClean="0">
                <a:solidFill>
                  <a:srgbClr val="FF0000"/>
                </a:solidFill>
              </a:rPr>
              <a:t>Purchase Department – Ensuring Timely and Aligned Procurement</a:t>
            </a:r>
          </a:p>
          <a:p>
            <a:endParaRPr lang="en-GB" sz="1200" b="1" dirty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200" dirty="0" smtClean="0">
                <a:solidFill>
                  <a:schemeClr val="tx1"/>
                </a:solidFill>
              </a:rPr>
              <a:t>Procure Based on Finalized BOM Requirements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 smtClean="0">
                <a:solidFill>
                  <a:schemeClr val="tx1"/>
                </a:solidFill>
              </a:rPr>
              <a:t>Monitor Material Lead Times Proactively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 smtClean="0">
                <a:solidFill>
                  <a:schemeClr val="tx1"/>
                </a:solidFill>
              </a:rPr>
              <a:t>Avoid Over-Purchasing or Excess Inventory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761571" y="5555838"/>
            <a:ext cx="7291884" cy="11867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rgbClr val="FF0000"/>
                </a:solidFill>
              </a:rPr>
              <a:t>Production Department – Ensuring Smooth Execution and Timely </a:t>
            </a:r>
            <a:r>
              <a:rPr lang="en-GB" sz="1400" dirty="0" smtClean="0">
                <a:solidFill>
                  <a:srgbClr val="FF0000"/>
                </a:solidFill>
              </a:rPr>
              <a:t>Output</a:t>
            </a:r>
          </a:p>
          <a:p>
            <a:endParaRPr lang="en-GB" sz="1400" dirty="0" smtClean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Follow Updated Cutting and Production </a:t>
            </a:r>
            <a:r>
              <a:rPr lang="en-GB" sz="1400" dirty="0" smtClean="0">
                <a:solidFill>
                  <a:schemeClr val="tx1"/>
                </a:solidFill>
              </a:rPr>
              <a:t>Plans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Communicate Line Stoppages </a:t>
            </a:r>
            <a:r>
              <a:rPr lang="en-IN" sz="1400" dirty="0" smtClean="0">
                <a:solidFill>
                  <a:schemeClr val="tx1"/>
                </a:solidFill>
              </a:rPr>
              <a:t>Immediately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Track and Share Real-Time Progress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761571" y="4335244"/>
            <a:ext cx="7291884" cy="11673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smtClean="0">
                <a:solidFill>
                  <a:srgbClr val="FF0000"/>
                </a:solidFill>
              </a:rPr>
              <a:t>Warehouse Department – Maintaining Data Accuracy and Stock Readiness</a:t>
            </a:r>
          </a:p>
          <a:p>
            <a:endParaRPr lang="en-GB" sz="14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dirty="0" smtClean="0">
                <a:solidFill>
                  <a:schemeClr val="tx1"/>
                </a:solidFill>
              </a:rPr>
              <a:t>Ensure Accurate Stock Data Maintenance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Fetch and Share Stock Data Correctly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Support Cutting Material Availability Checks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761571" y="1711046"/>
            <a:ext cx="7291884" cy="1347033"/>
          </a:xfrm>
          <a:prstGeom prst="rect">
            <a:avLst/>
          </a:prstGeom>
          <a:solidFill>
            <a:srgbClr val="C00000">
              <a:alpha val="42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bg1"/>
                </a:solidFill>
              </a:rPr>
              <a:t>Planning Department – Driving Accurate Schedules and </a:t>
            </a:r>
            <a:r>
              <a:rPr lang="en-GB" sz="1400" dirty="0" smtClean="0">
                <a:solidFill>
                  <a:schemeClr val="bg1"/>
                </a:solidFill>
              </a:rPr>
              <a:t>Coordination</a:t>
            </a:r>
          </a:p>
          <a:p>
            <a:endParaRPr lang="en-GB" sz="1400" dirty="0" smtClean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Maintain Accurate Planning </a:t>
            </a:r>
            <a:r>
              <a:rPr lang="en-IN" sz="1400" dirty="0" smtClean="0">
                <a:solidFill>
                  <a:schemeClr val="tx1"/>
                </a:solidFill>
              </a:rPr>
              <a:t>Data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Update Schedules </a:t>
            </a:r>
            <a:r>
              <a:rPr lang="en-IN" sz="1400" dirty="0" smtClean="0">
                <a:solidFill>
                  <a:schemeClr val="tx1"/>
                </a:solidFill>
              </a:rPr>
              <a:t>Promptly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Coordinate Closely with Other </a:t>
            </a:r>
            <a:r>
              <a:rPr lang="en-GB" sz="1400" dirty="0" smtClean="0">
                <a:solidFill>
                  <a:schemeClr val="tx1"/>
                </a:solidFill>
              </a:rPr>
              <a:t>Departments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Escalate Issues </a:t>
            </a:r>
            <a:r>
              <a:rPr lang="en-IN" sz="1400" dirty="0" smtClean="0">
                <a:solidFill>
                  <a:schemeClr val="tx1"/>
                </a:solidFill>
              </a:rPr>
              <a:t>Proactively</a:t>
            </a:r>
            <a:endParaRPr lang="en-GB" sz="1400" dirty="0" smtClean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0643" y="-10948"/>
            <a:ext cx="12160038" cy="435823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Key Responsibilities For Cutting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Management Report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02975"/>
          </a:xfrm>
          <a:prstGeom prst="rect">
            <a:avLst/>
          </a:prstGeom>
        </p:spPr>
      </p:pic>
      <p:sp>
        <p:nvSpPr>
          <p:cNvPr id="30" name="Down Arrow 29"/>
          <p:cNvSpPr/>
          <p:nvPr/>
        </p:nvSpPr>
        <p:spPr>
          <a:xfrm>
            <a:off x="2809829" y="4795781"/>
            <a:ext cx="186228" cy="57165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1008258" y="5353265"/>
            <a:ext cx="1987799" cy="6820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/>
          <p:cNvSpPr/>
          <p:nvPr/>
        </p:nvSpPr>
        <p:spPr>
          <a:xfrm>
            <a:off x="1008258" y="3156551"/>
            <a:ext cx="1987799" cy="6820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Down Arrow 33"/>
          <p:cNvSpPr/>
          <p:nvPr/>
        </p:nvSpPr>
        <p:spPr>
          <a:xfrm>
            <a:off x="923717" y="3148350"/>
            <a:ext cx="186228" cy="57165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Down Arrow 34"/>
          <p:cNvSpPr/>
          <p:nvPr/>
        </p:nvSpPr>
        <p:spPr>
          <a:xfrm>
            <a:off x="2864912" y="3156551"/>
            <a:ext cx="186228" cy="57165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189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6000">
                <a:schemeClr val="accent1">
                  <a:lumMod val="110000"/>
                  <a:satMod val="105000"/>
                  <a:tint val="67000"/>
                  <a:alpha val="74000"/>
                </a:schemeClr>
              </a:gs>
              <a:gs pos="50000">
                <a:schemeClr val="accent1">
                  <a:lumMod val="105000"/>
                  <a:satMod val="103000"/>
                  <a:tint val="73000"/>
                  <a:alpha val="68000"/>
                </a:schemeClr>
              </a:gs>
              <a:gs pos="91000">
                <a:schemeClr val="accent1">
                  <a:lumMod val="105000"/>
                  <a:satMod val="109000"/>
                  <a:tint val="81000"/>
                  <a:alpha val="54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567033" y="577833"/>
            <a:ext cx="94314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n w="0"/>
                <a:gradFill>
                  <a:gsLst>
                    <a:gs pos="0">
                      <a:schemeClr val="accent2"/>
                    </a:gs>
                    <a:gs pos="50000">
                      <a:schemeClr val="accent2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Thank You Derek-yang Sir For Your Valuable Guidance </a:t>
            </a:r>
            <a:endParaRPr lang="en-US" sz="2400" b="1" dirty="0">
              <a:ln w="0"/>
              <a:gradFill>
                <a:gsLst>
                  <a:gs pos="0">
                    <a:schemeClr val="accent2"/>
                  </a:gs>
                  <a:gs pos="50000">
                    <a:schemeClr val="accent2"/>
                  </a:gs>
                  <a:gs pos="100000">
                    <a:schemeClr val="accent6"/>
                  </a:gs>
                </a:gsLst>
                <a:lin ang="5400000"/>
              </a:gradFill>
              <a:effectLst>
                <a:outerShdw blurRad="38100" dist="38100" dir="2700000" algn="tl">
                  <a:srgbClr val="9A0000"/>
                </a:outerShdw>
                <a:reflection blurRad="6350" stA="53000" endA="300" endPos="35500" dir="5400000" sy="-90000" algn="bl" rotWithShape="0"/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708829" y="2010396"/>
            <a:ext cx="3274415" cy="3186545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4692072" y="1820799"/>
            <a:ext cx="6096000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We would like to extend our sincere thanks to </a:t>
            </a:r>
            <a:r>
              <a:rPr lang="en-GB" b="1" dirty="0"/>
              <a:t>Derek Sir</a:t>
            </a:r>
            <a:r>
              <a:rPr lang="en-GB" dirty="0"/>
              <a:t> for his valuable guidance, continuous support, and collaborative efforts throughout the review process. </a:t>
            </a:r>
          </a:p>
        </p:txBody>
      </p:sp>
      <p:sp>
        <p:nvSpPr>
          <p:cNvPr id="7" name="Rectangle 6"/>
          <p:cNvSpPr/>
          <p:nvPr/>
        </p:nvSpPr>
        <p:spPr>
          <a:xfrm>
            <a:off x="4692072" y="3354222"/>
            <a:ext cx="6096000" cy="9233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His insights and leadership have played a key role in helping us identify the core issues and shape the direction for improvement.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92072" y="4873776"/>
            <a:ext cx="60960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W</a:t>
            </a:r>
            <a:r>
              <a:rPr lang="en-GB" dirty="0" smtClean="0"/>
              <a:t>e </a:t>
            </a:r>
            <a:r>
              <a:rPr lang="en-GB" dirty="0"/>
              <a:t>look forward to your continued involvement in our initiatives.</a:t>
            </a:r>
          </a:p>
        </p:txBody>
      </p:sp>
    </p:spTree>
    <p:extLst>
      <p:ext uri="{BB962C8B-B14F-4D97-AF65-F5344CB8AC3E}">
        <p14:creationId xmlns:p14="http://schemas.microsoft.com/office/powerpoint/2010/main" val="3019983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utoShape 6" descr="PowerPoint And Google Slides Templ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8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3252488" cy="32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2567030" cy="256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382"/>
          </a:xfrm>
          <a:prstGeom prst="rect">
            <a:avLst/>
          </a:prstGeom>
        </p:spPr>
      </p:pic>
      <p:sp>
        <p:nvSpPr>
          <p:cNvPr id="8" name="AutoShape 4" descr="Free Thanks PowerPoint, Canva, and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618"/>
            <a:ext cx="12192000" cy="68626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049" y="1171842"/>
            <a:ext cx="7667840" cy="43085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93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1750</TotalTime>
  <Words>1687</Words>
  <Application>Microsoft Office PowerPoint</Application>
  <PresentationFormat>Widescreen</PresentationFormat>
  <Paragraphs>498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72 Black</vt:lpstr>
      <vt:lpstr>Arial</vt:lpstr>
      <vt:lpstr>Calibri</vt:lpstr>
      <vt:lpstr>Calibri Light</vt:lpstr>
      <vt:lpstr>Segoe UI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51</cp:revision>
  <dcterms:created xsi:type="dcterms:W3CDTF">2025-07-24T08:52:43Z</dcterms:created>
  <dcterms:modified xsi:type="dcterms:W3CDTF">2025-08-08T09:55:02Z</dcterms:modified>
</cp:coreProperties>
</file>