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9" r:id="rId4"/>
    <p:sldId id="268" r:id="rId5"/>
    <p:sldId id="264" r:id="rId6"/>
    <p:sldId id="265" r:id="rId7"/>
    <p:sldId id="266" r:id="rId8"/>
    <p:sldId id="267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5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36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6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22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15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3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8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85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72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31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40216-EC6B-4ACB-B7E0-A8A4FF240709}" type="datetimeFigureOut">
              <a:rPr lang="en-IN" smtClean="0"/>
              <a:t>2025/07/10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19E28-28E5-4509-B8CD-281D83260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5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1">
                <a:lumMod val="20000"/>
                <a:lumOff val="80000"/>
              </a:schemeClr>
            </a:gs>
            <a:gs pos="67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67984" y="2193403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 Prototype for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</a:t>
            </a:r>
            <a:r>
              <a:rPr lang="en-GB" b="1" dirty="0" smtClean="0">
                <a:solidFill>
                  <a:srgbClr val="FF0000"/>
                </a:solidFill>
              </a:rPr>
              <a:t>10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6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724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1" y="492963"/>
            <a:ext cx="1406502" cy="2513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Capture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Organizational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Workflow for Cutting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Monitoring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371" y="5049329"/>
            <a:ext cx="1416654" cy="1355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Top </a:t>
            </a:r>
            <a:endParaRPr lang="en-GB" dirty="0" smtClean="0"/>
          </a:p>
          <a:p>
            <a:pPr algn="ctr"/>
            <a:r>
              <a:rPr lang="en-GB" sz="1600" dirty="0" smtClean="0"/>
              <a:t>Management</a:t>
            </a:r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1566751" y="504332"/>
            <a:ext cx="10610638" cy="2509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566751" y="3059504"/>
            <a:ext cx="10610638" cy="1913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9371" y="3061224"/>
            <a:ext cx="1416654" cy="1933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Production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566752" y="5048033"/>
            <a:ext cx="10610637" cy="13782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192415" y="1402676"/>
            <a:ext cx="1309881" cy="1172231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Cutting Material Report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1823466" y="1815169"/>
            <a:ext cx="1556117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Purchase Team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315128" y="1853973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Warehouse Team</a:t>
            </a:r>
            <a:endParaRPr lang="en-IN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4865571" y="557122"/>
            <a:ext cx="2142312" cy="38064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BOM</a:t>
            </a:r>
            <a:endParaRPr lang="en-IN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1815655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Planning Team</a:t>
            </a:r>
            <a:endParaRPr lang="en-IN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4881372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 In-charge</a:t>
            </a:r>
            <a:endParaRPr lang="en-IN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8342783" y="3981820"/>
            <a:ext cx="2142313" cy="387762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 Supervisor</a:t>
            </a:r>
            <a:endParaRPr lang="en-IN" sz="1400" dirty="0"/>
          </a:p>
        </p:txBody>
      </p:sp>
      <p:sp>
        <p:nvSpPr>
          <p:cNvPr id="18" name="Flowchart: Preparation 17"/>
          <p:cNvSpPr/>
          <p:nvPr/>
        </p:nvSpPr>
        <p:spPr>
          <a:xfrm>
            <a:off x="4872131" y="5536794"/>
            <a:ext cx="2142313" cy="511885"/>
          </a:xfrm>
          <a:prstGeom prst="flowChartPreparation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 Top Management </a:t>
            </a:r>
            <a:endParaRPr lang="en-IN" sz="14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883625" y="2574907"/>
            <a:ext cx="0" cy="8624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36727" y="4437001"/>
            <a:ext cx="5755" cy="104699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440274" y="1656338"/>
            <a:ext cx="1902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Issue materials, verify 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270" y="2131264"/>
            <a:ext cx="1634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 Track </a:t>
            </a:r>
            <a:r>
              <a:rPr lang="en-GB" sz="1200" dirty="0" smtClean="0">
                <a:solidFill>
                  <a:srgbClr val="C00000"/>
                </a:solidFill>
              </a:rPr>
              <a:t>Purchase Status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140364" y="5456810"/>
            <a:ext cx="20720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rgbClr val="C00000"/>
                </a:solidFill>
              </a:rPr>
              <a:t>View overall readiness </a:t>
            </a:r>
            <a:r>
              <a:rPr lang="en-GB" sz="1200" dirty="0" smtClean="0">
                <a:solidFill>
                  <a:srgbClr val="C00000"/>
                </a:solidFill>
              </a:rPr>
              <a:t>%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material trends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escalations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1293" y="5106961"/>
            <a:ext cx="2613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Sees high-level overview</a:t>
            </a:r>
            <a:endParaRPr lang="en-IN" sz="1200" dirty="0">
              <a:solidFill>
                <a:srgbClr val="FF0000"/>
              </a:solidFill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923488"/>
              </p:ext>
            </p:extLst>
          </p:nvPr>
        </p:nvGraphicFramePr>
        <p:xfrm>
          <a:off x="8437507" y="3155919"/>
          <a:ext cx="3061766" cy="863609"/>
        </p:xfrm>
        <a:graphic>
          <a:graphicData uri="http://schemas.openxmlformats.org/drawingml/2006/table">
            <a:tbl>
              <a:tblPr/>
              <a:tblGrid>
                <a:gridCol w="3061766"/>
              </a:tblGrid>
              <a:tr h="863609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cutting only if fully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ready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855846" y="3349630"/>
            <a:ext cx="2765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Track PO-wise </a:t>
            </a:r>
            <a:r>
              <a:rPr lang="en-GB" sz="1200" dirty="0" smtClean="0"/>
              <a:t>readiness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material issues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escalate </a:t>
            </a:r>
            <a:r>
              <a:rPr lang="en-GB" sz="1200" dirty="0"/>
              <a:t>to teams</a:t>
            </a:r>
            <a:endParaRPr lang="en-IN" sz="1200" dirty="0"/>
          </a:p>
        </p:txBody>
      </p:sp>
      <p:sp>
        <p:nvSpPr>
          <p:cNvPr id="53" name="Rectangle 52"/>
          <p:cNvSpPr/>
          <p:nvPr/>
        </p:nvSpPr>
        <p:spPr>
          <a:xfrm>
            <a:off x="1733818" y="3335489"/>
            <a:ext cx="1886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Ensure BOM is </a:t>
            </a:r>
            <a:r>
              <a:rPr lang="en-GB" sz="1200" dirty="0" smtClean="0"/>
              <a:t>accurate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validate </a:t>
            </a:r>
            <a:r>
              <a:rPr lang="en-GB" sz="1200" dirty="0"/>
              <a:t>material </a:t>
            </a:r>
            <a:r>
              <a:rPr lang="en-GB" sz="1200" dirty="0" smtClean="0"/>
              <a:t>need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resolve </a:t>
            </a:r>
            <a:r>
              <a:rPr lang="en-GB" sz="1200" dirty="0"/>
              <a:t>errors</a:t>
            </a:r>
            <a:endParaRPr lang="en-IN" sz="1200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3620235" y="2349969"/>
            <a:ext cx="1705087" cy="11872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314682" y="2417934"/>
            <a:ext cx="2028101" cy="1117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7077455" y="4173085"/>
            <a:ext cx="1237673" cy="45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985623" y="4214412"/>
            <a:ext cx="878605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943288" y="937766"/>
            <a:ext cx="1736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Provides base material requirements.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883625" y="937766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404462" y="1967191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526153" y="1683242"/>
            <a:ext cx="14294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Input purchase data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H="1" flipV="1">
            <a:off x="3395989" y="2079551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506011" y="1987783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6497538" y="2100143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471285" y="2163573"/>
            <a:ext cx="1570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solidFill>
                  <a:srgbClr val="C00000"/>
                </a:solidFill>
              </a:rPr>
              <a:t>Warehouse stock data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-14611" y="6404936"/>
            <a:ext cx="12192000" cy="450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Cutting Material Report auto-syncs </a:t>
            </a:r>
            <a:r>
              <a:rPr lang="en-GB" sz="1400" dirty="0" smtClean="0"/>
              <a:t>BOM,PURCHASE, WAREHOUSE, PLANNING AND PO DATA| </a:t>
            </a:r>
            <a:r>
              <a:rPr lang="en-GB" sz="1400" dirty="0"/>
              <a:t>Triggers alerts and tracks material readiness</a:t>
            </a:r>
            <a:endParaRPr lang="en-IN" sz="1400" dirty="0"/>
          </a:p>
        </p:txBody>
      </p:sp>
      <p:sp>
        <p:nvSpPr>
          <p:cNvPr id="108" name="Rectangle 107"/>
          <p:cNvSpPr/>
          <p:nvPr/>
        </p:nvSpPr>
        <p:spPr>
          <a:xfrm>
            <a:off x="7260915" y="4154816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102189" y="4235751"/>
            <a:ext cx="656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4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325091" y="1248903"/>
            <a:ext cx="8672944" cy="5475170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52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Data Connectivity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for Cutting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Report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325091" y="641197"/>
            <a:ext cx="8672944" cy="5286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644" y="641197"/>
            <a:ext cx="3128193" cy="52862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Transform From SAP to Oracle</a:t>
            </a:r>
            <a:endParaRPr lang="en-IN"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3686757" y="688454"/>
            <a:ext cx="1688885" cy="4341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SAP System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6442364" y="701965"/>
            <a:ext cx="2022764" cy="4341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FMS – ETL Process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9559637" y="688455"/>
            <a:ext cx="1782618" cy="43410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Oracle Database</a:t>
            </a:r>
            <a:endParaRPr lang="en-IN" sz="1600" dirty="0"/>
          </a:p>
        </p:txBody>
      </p:sp>
      <p:cxnSp>
        <p:nvCxnSpPr>
          <p:cNvPr id="14" name="Straight Arrow Connector 13"/>
          <p:cNvCxnSpPr>
            <a:stCxn id="4" idx="3"/>
          </p:cNvCxnSpPr>
          <p:nvPr/>
        </p:nvCxnSpPr>
        <p:spPr>
          <a:xfrm flipV="1">
            <a:off x="5375642" y="905508"/>
            <a:ext cx="106672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8479021" y="919019"/>
            <a:ext cx="106672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0643" y="1236943"/>
            <a:ext cx="3128193" cy="5487130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6600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52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6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ounded Rectangle 17"/>
          <p:cNvSpPr/>
          <p:nvPr/>
        </p:nvSpPr>
        <p:spPr>
          <a:xfrm>
            <a:off x="477139" y="1882504"/>
            <a:ext cx="2068946" cy="39716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SAP to Oracle ( Via FMS )</a:t>
            </a:r>
            <a:endParaRPr lang="en-IN" sz="1400" dirty="0"/>
          </a:p>
        </p:txBody>
      </p:sp>
      <p:sp>
        <p:nvSpPr>
          <p:cNvPr id="19" name="Rounded Rectangle 18"/>
          <p:cNvSpPr/>
          <p:nvPr/>
        </p:nvSpPr>
        <p:spPr>
          <a:xfrm>
            <a:off x="471054" y="3193445"/>
            <a:ext cx="2068947" cy="39716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Oracle to Backend</a:t>
            </a:r>
            <a:endParaRPr lang="en-IN" sz="1400" dirty="0"/>
          </a:p>
        </p:txBody>
      </p:sp>
      <p:sp>
        <p:nvSpPr>
          <p:cNvPr id="20" name="Rounded Rectangle 19"/>
          <p:cNvSpPr/>
          <p:nvPr/>
        </p:nvSpPr>
        <p:spPr>
          <a:xfrm>
            <a:off x="471054" y="4504385"/>
            <a:ext cx="2068947" cy="39716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Backend to Frontend</a:t>
            </a:r>
            <a:endParaRPr lang="en-IN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471054" y="5836893"/>
            <a:ext cx="2068947" cy="3971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Frontend Vue.js</a:t>
            </a:r>
            <a:endParaRPr lang="en-IN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15321" y="1248903"/>
            <a:ext cx="3158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smtClean="0"/>
              <a:t>Cutting Material Management Report</a:t>
            </a:r>
          </a:p>
          <a:p>
            <a:r>
              <a:rPr lang="en-GB" sz="1400" b="1" dirty="0"/>
              <a:t> </a:t>
            </a:r>
            <a:r>
              <a:rPr lang="en-GB" sz="1400" b="1" dirty="0" smtClean="0"/>
              <a:t>                       Data Flow</a:t>
            </a:r>
            <a:endParaRPr lang="en-IN" sz="1400" b="1" dirty="0"/>
          </a:p>
        </p:txBody>
      </p:sp>
      <p:sp>
        <p:nvSpPr>
          <p:cNvPr id="23" name="Rectangle 22"/>
          <p:cNvSpPr/>
          <p:nvPr/>
        </p:nvSpPr>
        <p:spPr>
          <a:xfrm>
            <a:off x="3400431" y="1600028"/>
            <a:ext cx="8311278" cy="9605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FMS runs automatically at a defined time (e.g.,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Before 11:30 PM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daily).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Extracts relevant data (Done Cutting materials) from SAP using T-Code.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Transforms and pushes the data to Oracle DB tables</a:t>
            </a:r>
            <a:endParaRPr lang="en-IN" sz="1400" dirty="0"/>
          </a:p>
        </p:txBody>
      </p:sp>
      <p:sp>
        <p:nvSpPr>
          <p:cNvPr id="25" name="Rectangle 24"/>
          <p:cNvSpPr/>
          <p:nvPr/>
        </p:nvSpPr>
        <p:spPr>
          <a:xfrm>
            <a:off x="3400431" y="2911735"/>
            <a:ext cx="8311278" cy="9605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Backend (C# API) queries relevant Oracle tables.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Applies any required business logic (e.g., grouping, filtering, validation).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0431" y="4196727"/>
            <a:ext cx="8311278" cy="9865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API exposes endpoints for the Vue.js frontend to 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consume. 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 Unicode MS" panose="020B0604020202020204" pitchFamily="34" charset="-128"/>
              </a:rPr>
              <a:t>/</a:t>
            </a:r>
            <a:r>
              <a:rPr lang="en-US" sz="1400" dirty="0" smtClean="0">
                <a:solidFill>
                  <a:schemeClr val="tx1"/>
                </a:solidFill>
                <a:latin typeface="Arial Unicode MS" panose="020B0604020202020204" pitchFamily="34" charset="-128"/>
              </a:rPr>
              <a:t>api/materials/done-cutting. </a:t>
            </a:r>
            <a:endParaRPr lang="en-US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Supports filtering by date, batch, material type, etc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00431" y="5559801"/>
            <a:ext cx="8311278" cy="9513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Dashboards / Reports showing Done Cutting data.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Features: filtering, searching, exporting to Excel/PDF, pagination</a:t>
            </a:r>
            <a:endParaRPr lang="en-IN" sz="14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1394691" y="2279668"/>
            <a:ext cx="9236" cy="91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1385455" y="3569040"/>
            <a:ext cx="9236" cy="91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1370135" y="4876012"/>
            <a:ext cx="9236" cy="9137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4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1">
                <a:lumMod val="20000"/>
                <a:lumOff val="80000"/>
              </a:schemeClr>
            </a:gs>
            <a:gs pos="67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928133"/>
              </p:ext>
            </p:extLst>
          </p:nvPr>
        </p:nvGraphicFramePr>
        <p:xfrm>
          <a:off x="173845" y="1426458"/>
          <a:ext cx="11954164" cy="5340926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{68D230F3-CF80-4859-8CE7-A43EE81993B5}</a:tableStyleId>
              </a:tblPr>
              <a:tblGrid>
                <a:gridCol w="898236"/>
                <a:gridCol w="937882"/>
                <a:gridCol w="1364158"/>
                <a:gridCol w="1364158"/>
                <a:gridCol w="1405104"/>
                <a:gridCol w="1803793"/>
                <a:gridCol w="2137829"/>
                <a:gridCol w="2043004"/>
              </a:tblGrid>
              <a:tr h="93687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Sales Order 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>
                          <a:effectLst/>
                        </a:rPr>
                        <a:t>Order Quantity</a:t>
                      </a:r>
                      <a:endParaRPr lang="en-IN" sz="14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Material 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BOM Dosage Qty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PURCHASE </a:t>
                      </a:r>
                      <a:r>
                        <a:rPr lang="en-IN" sz="1400" b="1" u="none" strike="noStrike" dirty="0" smtClean="0">
                          <a:effectLst/>
                        </a:rPr>
                        <a:t>Quantity 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>
                          <a:effectLst/>
                        </a:rPr>
                        <a:t>FETCHING </a:t>
                      </a:r>
                      <a:r>
                        <a:rPr lang="en-IN" sz="1400" b="1" u="none" strike="noStrike" smtClean="0">
                          <a:effectLst/>
                        </a:rPr>
                        <a:t>Quantity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WAREHOUSE COMPONENT STOCK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Material Used In Production 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1000241164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234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3100109815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18.868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193.678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18.868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18.868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3100169880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2.099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21.201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2.104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2.104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4010201784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277.43972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1,415.70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139.658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139.658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4010400004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96.13403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510.488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51.704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51.704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4020100305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0.8481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8.648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0.853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4020109418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2.466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25.131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2.471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2.471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4030800019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4.1808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42.333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4.184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4.184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4040300029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468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Purchase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No Fetching Data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4040402608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Purchase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Fetching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4040403276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184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Purchase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Fetching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No Data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4040600043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14.1904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142.619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14.201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28.723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004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4040600041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28.7144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399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28.723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14.201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TRUE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90" marR="5690" marT="56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Track Material Process flow in SAP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3845" y="580062"/>
            <a:ext cx="11847049" cy="759211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/>
              <a:t>The Material information for SO ( 1000241164 ) from SAP.   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4767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1">
                <a:lumMod val="20000"/>
                <a:lumOff val="80000"/>
              </a:schemeClr>
            </a:gs>
            <a:gs pos="67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Sales Order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3606" y="646463"/>
            <a:ext cx="4628540" cy="6113742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This slide presents the extraction of key order information directly from SAP for reference and processing</a:t>
            </a:r>
            <a:r>
              <a:rPr lang="en-GB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Displays the complete order overview, including customer </a:t>
            </a:r>
            <a:r>
              <a:rPr lang="en-GB" dirty="0" smtClean="0"/>
              <a:t>information, </a:t>
            </a:r>
            <a:r>
              <a:rPr lang="en-GB" dirty="0"/>
              <a:t>and delivery details</a:t>
            </a:r>
            <a:r>
              <a:rPr lang="en-GB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T-Code : VA03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2"/>
                </a:solidFill>
              </a:rPr>
              <a:t>SO Details : 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Sales Order : 1000241164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Sales Order Total Quantity : 234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dirty="0" smtClean="0"/>
              <a:t>Material </a:t>
            </a:r>
            <a:r>
              <a:rPr lang="en-GB" dirty="0"/>
              <a:t>: </a:t>
            </a:r>
            <a:r>
              <a:rPr lang="en-GB" dirty="0" smtClean="0"/>
              <a:t>3100109815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982" y="572655"/>
            <a:ext cx="7152807" cy="61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3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1">
                <a:lumMod val="20000"/>
                <a:lumOff val="80000"/>
              </a:schemeClr>
            </a:gs>
            <a:gs pos="67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BOM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0603" y="617007"/>
            <a:ext cx="8766306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This </a:t>
            </a:r>
            <a:r>
              <a:rPr lang="en-GB" dirty="0"/>
              <a:t>slide </a:t>
            </a:r>
            <a:r>
              <a:rPr lang="en-GB" dirty="0" smtClean="0"/>
              <a:t>provides </a:t>
            </a:r>
            <a:r>
              <a:rPr lang="en-GB" dirty="0"/>
              <a:t>a summary of the total dosage quantity for one specific material</a:t>
            </a:r>
            <a:r>
              <a:rPr lang="en-GB" dirty="0" smtClean="0"/>
              <a:t>.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Displays the complete </a:t>
            </a:r>
            <a:r>
              <a:rPr lang="en-GB" dirty="0" smtClean="0"/>
              <a:t>BOM overview with total dosage quantity for cutting material only using the t-code ( ZMM123 )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3" y="1701717"/>
            <a:ext cx="11843946" cy="480068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085895" y="617007"/>
            <a:ext cx="2858654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200" b="1" dirty="0">
                <a:solidFill>
                  <a:schemeClr val="accent2"/>
                </a:solidFill>
              </a:rPr>
              <a:t>SO Details :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: 1000241164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Total Quantity : 234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Material : 3100109815</a:t>
            </a:r>
          </a:p>
        </p:txBody>
      </p:sp>
    </p:spTree>
    <p:extLst>
      <p:ext uri="{BB962C8B-B14F-4D97-AF65-F5344CB8AC3E}">
        <p14:creationId xmlns:p14="http://schemas.microsoft.com/office/powerpoint/2010/main" val="77525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1">
                <a:lumMod val="20000"/>
                <a:lumOff val="80000"/>
              </a:schemeClr>
            </a:gs>
            <a:gs pos="67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PURCHASE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5480" y="580366"/>
            <a:ext cx="8890047" cy="941155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Requirement quantity and allocated quantity and purchase quantity of material using t-code ( ZMM017_BB ) 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79" y="1643312"/>
            <a:ext cx="11723780" cy="15110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476" y="3290700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FETCHING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420" y="3301000"/>
            <a:ext cx="465680" cy="4584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79" y="4940235"/>
            <a:ext cx="11723780" cy="147124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35479" y="3875160"/>
            <a:ext cx="8890047" cy="943283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Fetching Details for material using t-code ( ZPP005B ) 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9240672" y="570611"/>
            <a:ext cx="2858654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200" b="1" dirty="0">
                <a:solidFill>
                  <a:schemeClr val="accent2"/>
                </a:solidFill>
              </a:rPr>
              <a:t>SO Details :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: 1000241164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Total Quantity : 234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Material : 3100109815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1384" y="3857780"/>
            <a:ext cx="2858654" cy="960664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200" b="1" dirty="0">
                <a:solidFill>
                  <a:schemeClr val="accent2"/>
                </a:solidFill>
              </a:rPr>
              <a:t>SO Details : </a:t>
            </a:r>
            <a:endParaRPr lang="en-GB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: 1000241164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Sales Order Total Quantity : 234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200" dirty="0"/>
              <a:t>Material : 3100109815</a:t>
            </a:r>
          </a:p>
        </p:txBody>
      </p:sp>
    </p:spTree>
    <p:extLst>
      <p:ext uri="{BB962C8B-B14F-4D97-AF65-F5344CB8AC3E}">
        <p14:creationId xmlns:p14="http://schemas.microsoft.com/office/powerpoint/2010/main" val="243727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1">
                <a:lumMod val="20000"/>
                <a:lumOff val="80000"/>
              </a:schemeClr>
            </a:gs>
            <a:gs pos="67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WAREHOUSE STOCK Data Capture From SAP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5489" y="552996"/>
            <a:ext cx="7850911" cy="519066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warehouse stock for upper Material using the t-code ( MB51 ) 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75489" y="3231199"/>
            <a:ext cx="11167884" cy="579101"/>
          </a:xfrm>
          <a:prstGeom prst="rect">
            <a:avLst/>
          </a:prstGeom>
          <a:gradFill>
            <a:gsLst>
              <a:gs pos="0">
                <a:schemeClr val="accent3">
                  <a:lumMod val="110000"/>
                  <a:satMod val="105000"/>
                  <a:tint val="67000"/>
                  <a:alpha val="0"/>
                </a:schemeClr>
              </a:gs>
              <a:gs pos="50000">
                <a:schemeClr val="accent3">
                  <a:lumMod val="105000"/>
                  <a:satMod val="103000"/>
                  <a:tint val="73000"/>
                  <a:alpha val="68000"/>
                </a:schemeClr>
              </a:gs>
              <a:gs pos="100000">
                <a:schemeClr val="accent3">
                  <a:lumMod val="105000"/>
                  <a:satMod val="109000"/>
                  <a:tint val="81000"/>
                  <a:alpha val="15000"/>
                </a:schemeClr>
              </a:gs>
            </a:gsLst>
          </a:gradFill>
          <a:ln w="28575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The material information using the t-code ( ZMM113 ) 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34" y="1072062"/>
            <a:ext cx="11756515" cy="202125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87" y="3879243"/>
            <a:ext cx="11756515" cy="2873483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88122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4917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1089</TotalTime>
  <Words>609</Words>
  <Application>Microsoft Office PowerPoint</Application>
  <PresentationFormat>Widescreen</PresentationFormat>
  <Paragraphs>177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 Unicode MS</vt:lpstr>
      <vt:lpstr>72 Black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51</cp:revision>
  <dcterms:created xsi:type="dcterms:W3CDTF">2025-07-04T03:31:49Z</dcterms:created>
  <dcterms:modified xsi:type="dcterms:W3CDTF">2025-07-10T03:56:14Z</dcterms:modified>
</cp:coreProperties>
</file>