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56" r:id="rId11"/>
    <p:sldId id="258" r:id="rId12"/>
    <p:sldId id="259" r:id="rId13"/>
    <p:sldId id="260" r:id="rId14"/>
    <p:sldId id="257" r:id="rId15"/>
    <p:sldId id="261" r:id="rId16"/>
    <p:sldId id="263" r:id="rId17"/>
    <p:sldId id="264" r:id="rId18"/>
    <p:sldId id="269" r:id="rId19"/>
    <p:sldId id="270" r:id="rId20"/>
    <p:sldId id="271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707" autoAdjust="0"/>
  </p:normalViewPr>
  <p:slideViewPr>
    <p:cSldViewPr snapToGrid="0">
      <p:cViewPr varScale="1">
        <p:scale>
          <a:sx n="110" d="100"/>
          <a:sy n="110" d="100"/>
        </p:scale>
        <p:origin x="54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859595280"/>
        <c:axId val="859592016"/>
      </c:barChart>
      <c:catAx>
        <c:axId val="85959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592016"/>
        <c:crossesAt val="0"/>
        <c:auto val="1"/>
        <c:lblAlgn val="ctr"/>
        <c:lblOffset val="100"/>
        <c:noMultiLvlLbl val="0"/>
      </c:catAx>
      <c:valAx>
        <c:axId val="85959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595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ADB9D-BA38-47C4-B6EC-B7B10721F907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FFB1D-1D8A-4363-916D-EC549ADC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9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00DB2-B003-4850-9B8F-14A94B56C16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85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2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7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44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70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1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3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14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55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65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B41B1-023D-4AAB-A5E8-BD63B7A94E43}" type="datetimeFigureOut">
              <a:rPr lang="en-IN" smtClean="0"/>
              <a:t>2025/07/22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20D9C-2AB4-4F23-9DF0-31AB148B2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97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2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-1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67984" y="2193403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 Prototype For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19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24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251" y="492961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Organizational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Workflow 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Monitoring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51" y="5048033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8251" y="305950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40274" y="1656338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270" y="2131264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40364" y="5456810"/>
            <a:ext cx="2072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escalations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943288" y="937766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6153" y="1683242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471285" y="2163573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370" y="6404937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1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8276" y="948925"/>
            <a:ext cx="3140364" cy="346364"/>
          </a:xfrm>
          <a:prstGeom prst="round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Pull BOM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276" y="2213910"/>
            <a:ext cx="3140364" cy="3463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Purchase Department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8276" y="3451726"/>
            <a:ext cx="3140364" cy="3463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Warehouse Department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277" y="4713150"/>
            <a:ext cx="3140364" cy="346364"/>
          </a:xfrm>
          <a:prstGeom prst="roundRect">
            <a:avLst/>
          </a:prstGeom>
          <a:solidFill>
            <a:srgbClr val="C0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Planning Department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277" y="6057250"/>
            <a:ext cx="3140364" cy="3463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Production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897386" y="1295289"/>
            <a:ext cx="183436" cy="8711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1896095" y="2597427"/>
            <a:ext cx="186519" cy="83018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1890996" y="3798090"/>
            <a:ext cx="189826" cy="88647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1893545" y="5030923"/>
            <a:ext cx="187277" cy="100524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704007" y="89130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hevron 17"/>
          <p:cNvSpPr/>
          <p:nvPr/>
        </p:nvSpPr>
        <p:spPr>
          <a:xfrm>
            <a:off x="4031675" y="84324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90153" y="219030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hevron 19"/>
          <p:cNvSpPr/>
          <p:nvPr/>
        </p:nvSpPr>
        <p:spPr>
          <a:xfrm>
            <a:off x="4008585" y="2142247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17867" y="341744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hevron 21"/>
          <p:cNvSpPr/>
          <p:nvPr/>
        </p:nvSpPr>
        <p:spPr>
          <a:xfrm>
            <a:off x="4036299" y="336938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99388" y="46920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hevron 23"/>
          <p:cNvSpPr/>
          <p:nvPr/>
        </p:nvSpPr>
        <p:spPr>
          <a:xfrm>
            <a:off x="4017820" y="46440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717857" y="60361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Chevron 32"/>
          <p:cNvSpPr/>
          <p:nvPr/>
        </p:nvSpPr>
        <p:spPr>
          <a:xfrm>
            <a:off x="4036289" y="59881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1571" y="456732"/>
            <a:ext cx="7291884" cy="1226660"/>
          </a:xfrm>
          <a:prstGeom prst="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BOM Department – Enhancing Accuracy and Efficiency : 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r>
              <a:rPr lang="en-GB" sz="1400" dirty="0" smtClean="0">
                <a:solidFill>
                  <a:schemeClr val="tx1"/>
                </a:solidFill>
              </a:rPr>
              <a:t>1 . Ensure Accuracy in BOM Pulling</a:t>
            </a:r>
          </a:p>
          <a:p>
            <a:r>
              <a:rPr lang="en-GB" sz="1400" dirty="0" smtClean="0">
                <a:solidFill>
                  <a:schemeClr val="tx1"/>
                </a:solidFill>
              </a:rPr>
              <a:t>2 . Create BOM Based on Actual Article Usage</a:t>
            </a:r>
            <a:br>
              <a:rPr lang="en-GB" sz="1400" dirty="0" smtClean="0">
                <a:solidFill>
                  <a:schemeClr val="tx1"/>
                </a:solidFill>
              </a:rPr>
            </a:br>
            <a:r>
              <a:rPr lang="en-GB" sz="1400" dirty="0" smtClean="0">
                <a:solidFill>
                  <a:schemeClr val="tx1"/>
                </a:solidFill>
              </a:rPr>
              <a:t>3 . </a:t>
            </a:r>
            <a:r>
              <a:rPr lang="en-IN" sz="1400" dirty="0" smtClean="0">
                <a:solidFill>
                  <a:schemeClr val="tx1"/>
                </a:solidFill>
              </a:rPr>
              <a:t>Avoid Unnecessary Material Creation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61571" y="1715249"/>
            <a:ext cx="7291884" cy="12064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rgbClr val="FF0000"/>
                </a:solidFill>
              </a:rPr>
              <a:t>Purchase Department – Ensuring Timely and Aligned Procurement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Procure Based on Finalized BOM Requirements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Monitor Material Lead Times Proactively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Avoid Over-Purchasing or Excess Inventory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61571" y="5555838"/>
            <a:ext cx="7291884" cy="1186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FF0000"/>
                </a:solidFill>
              </a:rPr>
              <a:t>Production Department – Ensuring Smooth Execution and Timely </a:t>
            </a:r>
            <a:r>
              <a:rPr lang="en-GB" sz="1400" dirty="0" smtClean="0">
                <a:solidFill>
                  <a:srgbClr val="FF0000"/>
                </a:solidFill>
              </a:rPr>
              <a:t>Output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Follow Updated Cutting and Production </a:t>
            </a:r>
            <a:r>
              <a:rPr lang="en-GB" sz="1400" dirty="0" smtClean="0">
                <a:solidFill>
                  <a:schemeClr val="tx1"/>
                </a:solidFill>
              </a:rPr>
              <a:t>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Communicate Line Stoppages </a:t>
            </a:r>
            <a:r>
              <a:rPr lang="en-IN" sz="1400" dirty="0" smtClean="0">
                <a:solidFill>
                  <a:schemeClr val="tx1"/>
                </a:solidFill>
              </a:rPr>
              <a:t>Immediately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Track and Share Real-Time Progress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1571" y="2961616"/>
            <a:ext cx="7291884" cy="1167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Warehouse Department – Maintaining Data Accuracy and Stock Readiness</a:t>
            </a:r>
          </a:p>
          <a:p>
            <a:endParaRPr lang="en-GB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solidFill>
                  <a:schemeClr val="tx1"/>
                </a:solidFill>
              </a:rPr>
              <a:t>Ensure Accurate Stock Data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Fetch and Share Stock Data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Support Cutting Material Availability Checks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1571" y="4168885"/>
            <a:ext cx="7291884" cy="1347033"/>
          </a:xfrm>
          <a:prstGeom prst="rect">
            <a:avLst/>
          </a:prstGeom>
          <a:solidFill>
            <a:srgbClr val="C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Planning Department – Driving Accurate Schedules and </a:t>
            </a:r>
            <a:r>
              <a:rPr lang="en-GB" sz="1400" dirty="0" smtClean="0">
                <a:solidFill>
                  <a:schemeClr val="bg1"/>
                </a:solidFill>
              </a:rPr>
              <a:t>Coordination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Maintain Accurate Planning </a:t>
            </a:r>
            <a:r>
              <a:rPr lang="en-IN" sz="1400" dirty="0" smtClean="0">
                <a:solidFill>
                  <a:schemeClr val="tx1"/>
                </a:solidFill>
              </a:rPr>
              <a:t>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Update Schedules </a:t>
            </a:r>
            <a:r>
              <a:rPr lang="en-IN" sz="1400" dirty="0" smtClean="0">
                <a:solidFill>
                  <a:schemeClr val="tx1"/>
                </a:solidFill>
              </a:rPr>
              <a:t>Promptly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Coordinate Closely with Other </a:t>
            </a:r>
            <a:r>
              <a:rPr lang="en-GB" sz="1400" dirty="0" smtClean="0">
                <a:solidFill>
                  <a:schemeClr val="tx1"/>
                </a:solidFill>
              </a:rPr>
              <a:t>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Escalate Issues </a:t>
            </a:r>
            <a:r>
              <a:rPr lang="en-IN" sz="1400" dirty="0" smtClean="0">
                <a:solidFill>
                  <a:schemeClr val="tx1"/>
                </a:solidFill>
              </a:rPr>
              <a:t>Proactively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643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Key Responsibilities For 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Management Report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6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163450" y="3480508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4834" y="48778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2025/07/05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364834" y="47854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Day</a:t>
            </a:r>
            <a:endParaRPr lang="en-IN" sz="1400" dirty="0"/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5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7889" y="1231078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011056" y="1231077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02034" y="123107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793012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55603" y="2402194"/>
          <a:ext cx="113838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Ready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❌ Short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⚠ Partial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2175163" y="4446874"/>
          <a:ext cx="6502400" cy="718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34722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68072" y="3982507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Material Shortage Tracker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2436" y="675705"/>
            <a:ext cx="2309092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07819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2706258" y="675705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706258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4853715" y="683294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4853714" y="674059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601675" y="683294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6601674" y="674059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8544388" y="700909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8544387" y="691674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6" name="Bent Arrow 35"/>
          <p:cNvSpPr/>
          <p:nvPr/>
        </p:nvSpPr>
        <p:spPr>
          <a:xfrm rot="10800000">
            <a:off x="8793012" y="3471227"/>
            <a:ext cx="341752" cy="1399643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6514" y="5288575"/>
            <a:ext cx="11267118" cy="1474821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61625" y="5365087"/>
            <a:ext cx="10763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Core operational view—monitor each PO’s readiness at the line level and Material-wise breakdown of </a:t>
            </a:r>
            <a:r>
              <a:rPr lang="en-GB" sz="1400" dirty="0" smtClean="0"/>
              <a:t>what’s </a:t>
            </a:r>
            <a:r>
              <a:rPr lang="en-GB" sz="1400" dirty="0"/>
              <a:t>short and how many POs are impacted</a:t>
            </a:r>
            <a:r>
              <a:rPr lang="en-GB" sz="1400" dirty="0" smtClean="0"/>
              <a:t>..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752389" y="6160968"/>
            <a:ext cx="107631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Benefits</a:t>
            </a:r>
            <a:r>
              <a:rPr lang="en-GB" sz="1400" dirty="0"/>
              <a:t> : Take immediate steps for POs with issues and Communicate to purchase team or prioritize allocation from existing stock.  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Plant In-charge Dashboard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3858308"/>
            <a:ext cx="10741891" cy="2976228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314040" y="1309390"/>
          <a:ext cx="8179172" cy="22275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3911"/>
                <a:gridCol w="1266318"/>
                <a:gridCol w="1217881"/>
                <a:gridCol w="1280159"/>
                <a:gridCol w="1404714"/>
                <a:gridCol w="1536189"/>
              </a:tblGrid>
              <a:tr h="341874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PO NO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Plant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Shortage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Delay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Escalated To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Status</a:t>
                      </a:r>
                      <a:endParaRPr lang="en-IN" sz="16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1000042587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6d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Warehouse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1000042592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r>
                        <a:rPr lang="en-GB" sz="1400" baseline="0" dirty="0" smtClean="0"/>
                        <a:t>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1000042466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3273" y="354075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15818" y="4130393"/>
          <a:ext cx="10515600" cy="2164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📦 </a:t>
                      </a:r>
                      <a:r>
                        <a:rPr lang="en-IN" sz="1400" b="1" dirty="0"/>
                        <a:t>Material Readiness %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% of POs for which all required materials are 100% available. Shows overall cutting readiness.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🚨 </a:t>
                      </a:r>
                      <a:r>
                        <a:rPr lang="en-IN" sz="1400" b="1" dirty="0"/>
                        <a:t>Open Escalations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Total number of escalated cases (shortage or delay) not yet resolved. Reflects risk and follow-up need.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</a:t>
                      </a:r>
                      <a:r>
                        <a:rPr lang="en-IN" sz="1400" b="1" dirty="0"/>
                        <a:t>Total POs Today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</a:t>
                      </a:r>
                      <a:r>
                        <a:rPr lang="en-GB" sz="1400" dirty="0" smtClean="0"/>
                        <a:t>POs </a:t>
                      </a:r>
                      <a:r>
                        <a:rPr lang="en-GB" sz="1400" dirty="0"/>
                        <a:t>scheduled for cutting today. Shows daily load.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📈 </a:t>
                      </a:r>
                      <a:r>
                        <a:rPr lang="en-IN" sz="1400" b="1" dirty="0"/>
                        <a:t>Average Delay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Average days of delay for POs with shortages. Helps GM assess the severity.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232726" y="521823"/>
            <a:ext cx="4378037" cy="2677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Critical Escalated Pos : 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5236" y="3858308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Purpose</a:t>
            </a:r>
            <a:r>
              <a:rPr lang="en-GB" sz="1400" dirty="0"/>
              <a:t>: Give an instant overview of today’s key metrics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1025236" y="6425376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Benefits </a:t>
            </a:r>
            <a:r>
              <a:rPr lang="en-GB" sz="1400" dirty="0"/>
              <a:t>: Quick health check of plant’s material readiness and performance for the </a:t>
            </a:r>
            <a:r>
              <a:rPr lang="en-GB" sz="1400" dirty="0" smtClean="0"/>
              <a:t>day.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23273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23273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232726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232726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6142179" y="89678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142179" y="88755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097818" y="896789"/>
            <a:ext cx="1182255" cy="2955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08540" y="1331129"/>
            <a:ext cx="3470874" cy="2221898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29360" y="1396251"/>
            <a:ext cx="32292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urgent POs that are delayed due to material unavailability and require attention.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8756070" y="2234711"/>
            <a:ext cx="3194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" name="Right Arrow 3"/>
          <p:cNvSpPr/>
          <p:nvPr/>
        </p:nvSpPr>
        <p:spPr>
          <a:xfrm>
            <a:off x="8295503" y="2347784"/>
            <a:ext cx="313037" cy="1729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Plant In-charge Dashboard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/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28599" y="3431022"/>
          <a:ext cx="6496809" cy="183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Short Quantity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Affected</a:t>
                      </a:r>
                      <a:r>
                        <a:rPr lang="en-GB" sz="1400" baseline="0" dirty="0" smtClean="0"/>
                        <a:t> Pos </a:t>
                      </a:r>
                      <a:endParaRPr lang="en-IN" sz="14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340m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1.4MM ECO SOFT MATTE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220m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8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CEMENT TWICE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165m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21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WHITE LATEX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4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ST-A990-06E EPM5 MESH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92m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611" y="5446243"/>
            <a:ext cx="2448725" cy="1514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329" y="5446243"/>
            <a:ext cx="2426981" cy="9875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Cutting Availability Trend ( Weekly ) ( Line Wise 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4762" y="439105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44762" y="42987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3038764" y="44010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038764" y="430867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5906030" y="44834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5906030" y="4391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773296" y="439105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800988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5652654" y="5430021"/>
            <a:ext cx="6397509" cy="1333244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785955" y="5602754"/>
            <a:ext cx="45575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Visualize the trend of material readiness over time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5785955" y="6048444"/>
            <a:ext cx="5974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1" name="Rectangle 40"/>
          <p:cNvSpPr/>
          <p:nvPr/>
        </p:nvSpPr>
        <p:spPr>
          <a:xfrm>
            <a:off x="0" y="-17105"/>
            <a:ext cx="12160038" cy="392926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Top Management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66" y="-6157"/>
            <a:ext cx="465680" cy="3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7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128067" y="691704"/>
          <a:ext cx="11942612" cy="32428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5653"/>
                <a:gridCol w="2985653"/>
                <a:gridCol w="2985653"/>
                <a:gridCol w="2985653"/>
              </a:tblGrid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Escalation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Trigger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Target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Medium</a:t>
                      </a:r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Shortage Alert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Required material not available in stock &amp; no PO before CRD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Purchase,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Delayed PO Delivery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PO delivery date exceeds CRD or cutting plan date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Cutting Plan at Risk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not ready 2 days before scheduled cutting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Production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Line Stoppage Notification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Production halted due to missing material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Purchase, 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Fetch Delay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request issued but not fetched from warehouse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Schedule Escalation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Cutting not started on planned date</a:t>
                      </a:r>
                      <a:endParaRPr lang="en-GB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Email</a:t>
                      </a:r>
                      <a:endParaRPr lang="en-IN" sz="14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Mail Escalations And WhatsApp Escalations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9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67984" y="2193403"/>
            <a:ext cx="802279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Track Real time and SAP Data for 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ne Line In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19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79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60000"/>
                <a:lumOff val="40000"/>
              </a:schemeClr>
            </a:gs>
            <a:gs pos="13000">
              <a:schemeClr val="accent1">
                <a:lumMod val="40000"/>
                <a:lumOff val="60000"/>
              </a:schemeClr>
            </a:gs>
            <a:gs pos="7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578982"/>
              </p:ext>
            </p:extLst>
          </p:nvPr>
        </p:nvGraphicFramePr>
        <p:xfrm>
          <a:off x="352249" y="914401"/>
          <a:ext cx="11798645" cy="532180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48835"/>
                <a:gridCol w="1184063"/>
                <a:gridCol w="1028985"/>
                <a:gridCol w="1007006"/>
                <a:gridCol w="1294723"/>
                <a:gridCol w="1338987"/>
                <a:gridCol w="1449647"/>
                <a:gridCol w="1338987"/>
                <a:gridCol w="1507412"/>
              </a:tblGrid>
              <a:tr h="55253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Schedule uploaded in SAP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Sales</a:t>
                      </a:r>
                      <a:r>
                        <a:rPr lang="en-GB" sz="1200" baseline="0" dirty="0" smtClean="0"/>
                        <a:t> Order 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CRD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Line</a:t>
                      </a:r>
                      <a:r>
                        <a:rPr lang="en-GB" sz="1200" baseline="0" dirty="0" smtClean="0"/>
                        <a:t> in SAP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</a:t>
                      </a: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2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r>
                        <a:rPr lang="en-GB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</a:t>
                      </a:r>
                      <a:r>
                        <a:rPr lang="en-GB" sz="12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SAP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r>
                        <a:rPr lang="en-IN" sz="12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Cutting</a:t>
                      </a:r>
                      <a:r>
                        <a:rPr lang="en-IN" sz="12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</a:t>
                      </a:r>
                      <a:r>
                        <a:rPr lang="en-IN" sz="12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tx1"/>
                          </a:solidFill>
                        </a:rPr>
                        <a:t>05/20-06/07</a:t>
                      </a:r>
                      <a:endParaRPr lang="en-IN" sz="12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1000225437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2025/06/07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</a:rPr>
                        <a:t>AP7C02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5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tx1"/>
                          </a:solidFill>
                        </a:rPr>
                        <a:t>05/27-06/18</a:t>
                      </a:r>
                      <a:endParaRPr lang="en-IN" sz="12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1000229526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2025/06/15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3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05/27-06/18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1000225450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2025/06/23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06/04-06-30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1000201174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2025/08/07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82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06/04-06/30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1000229882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2025/08/23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6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06/04-06/30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2025/08/23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tx1"/>
                          </a:solidFill>
                        </a:rPr>
                        <a:t>06/16-07/15</a:t>
                      </a:r>
                      <a:endParaRPr lang="en-IN" sz="12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effectLst/>
                        </a:rPr>
                        <a:t>1000229868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2025/07/15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</a:rPr>
                        <a:t>AP7C07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246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06/19-07/30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1000249646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2025/07/31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06/19-07/30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1000246596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2025/08/15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06/30-07/30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1000246594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2025/07/15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07/07-07/30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1000246611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2025/07/15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269748" y="1490822"/>
            <a:ext cx="0" cy="99669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716" y="1888586"/>
            <a:ext cx="210312" cy="2011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9144" y="534671"/>
            <a:ext cx="324612" cy="2507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0480" y="497920"/>
            <a:ext cx="11506694" cy="3242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uploaded </a:t>
            </a: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late in SAP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leads to misalignment with production CRD.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Track Material Readiness Flow For one Line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8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60000"/>
                <a:lumOff val="40000"/>
              </a:schemeClr>
            </a:gs>
            <a:gs pos="13000">
              <a:schemeClr val="accent1">
                <a:lumMod val="40000"/>
                <a:lumOff val="60000"/>
              </a:schemeClr>
            </a:gs>
            <a:gs pos="7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173735"/>
              </p:ext>
            </p:extLst>
          </p:nvPr>
        </p:nvGraphicFramePr>
        <p:xfrm>
          <a:off x="364030" y="1234052"/>
          <a:ext cx="11827970" cy="560282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92345"/>
                <a:gridCol w="1211066"/>
                <a:gridCol w="869692"/>
                <a:gridCol w="833137"/>
                <a:gridCol w="717001"/>
                <a:gridCol w="739644"/>
                <a:gridCol w="950971"/>
                <a:gridCol w="983483"/>
                <a:gridCol w="1075194"/>
                <a:gridCol w="1064763"/>
                <a:gridCol w="983483"/>
                <a:gridCol w="1107191"/>
              </a:tblGrid>
              <a:tr h="527222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</a:t>
                      </a:r>
                      <a:r>
                        <a:rPr lang="en-GB" sz="12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 in production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 uploaded in SAP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  <a:r>
                        <a:rPr lang="en-GB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Order 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CRD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lang="en-GB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</a:t>
                      </a:r>
                      <a:r>
                        <a:rPr lang="en-GB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SAP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Quantity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 </a:t>
                      </a:r>
                      <a:r>
                        <a:rPr lang="en-GB" sz="12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SAP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schedule </a:t>
                      </a:r>
                      <a:r>
                        <a:rPr lang="en-GB" sz="1200" b="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r>
                        <a:rPr lang="en-IN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Cutting</a:t>
                      </a:r>
                      <a:r>
                        <a:rPr lang="en-IN" sz="1200" b="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Qty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Qty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06/22-06/28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05/20-06/07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1000225437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2025/06/07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AP7C02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6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06/22-06/28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05/27-06/18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1000229526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2025/06/15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1017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8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06/22-06/28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05/27-06/18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1000225450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2025/06/23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358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06/29-07/05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06/04-06-30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1000201174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2025/08/07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06/29-07/05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06/04-06/30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1000229882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2025/08/23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6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06/29-07/05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06/04-06/30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1000229868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2025/08/23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06/29-07/05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06/16-07/15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1000229878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2025/07/15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AP7C07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246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07/06-07/12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06/19-07/30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1000249646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2025/07/31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07/06-07/12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06/19-07/30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1000246596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2025/08/15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07/06-07/12</a:t>
                      </a:r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06/30-07/30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1000246594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2025/07/15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07/13-07/19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07/07-07/30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1000246611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2025/07/15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713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07/06-07/12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07/07-07/30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1000246611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2025/07/15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-16175" y="430198"/>
            <a:ext cx="324612" cy="2507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474" y="430198"/>
            <a:ext cx="11712723" cy="2507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uploaded </a:t>
            </a: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late in SAP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leads to misalignment with production CRD.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Track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Readiness Flow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one PO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-6384" y="682170"/>
            <a:ext cx="324612" cy="250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473" y="689171"/>
            <a:ext cx="11712723" cy="2425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dates followed in production and the schedule dates maintained 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3472" y="943059"/>
            <a:ext cx="11712723" cy="2660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lines followed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maintained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7" y="916646"/>
            <a:ext cx="310422" cy="2493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2263455"/>
            <a:ext cx="164592" cy="2507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63191" y="1917503"/>
            <a:ext cx="0" cy="111556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746263" y="2556893"/>
            <a:ext cx="206481" cy="1253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87839" y="4957240"/>
            <a:ext cx="233915" cy="1435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02807" y="1772350"/>
            <a:ext cx="0" cy="50856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4328556"/>
            <a:ext cx="160020" cy="1729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8782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60000"/>
                <a:lumOff val="40000"/>
              </a:schemeClr>
            </a:gs>
            <a:gs pos="13000">
              <a:schemeClr val="accent1">
                <a:lumMod val="40000"/>
                <a:lumOff val="60000"/>
              </a:schemeClr>
            </a:gs>
            <a:gs pos="7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136083"/>
              </p:ext>
            </p:extLst>
          </p:nvPr>
        </p:nvGraphicFramePr>
        <p:xfrm>
          <a:off x="163025" y="1706479"/>
          <a:ext cx="11987867" cy="41412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09816"/>
                <a:gridCol w="1227438"/>
                <a:gridCol w="881449"/>
                <a:gridCol w="766004"/>
                <a:gridCol w="805089"/>
                <a:gridCol w="749643"/>
                <a:gridCol w="963827"/>
                <a:gridCol w="996778"/>
                <a:gridCol w="1089729"/>
                <a:gridCol w="1079157"/>
                <a:gridCol w="996778"/>
                <a:gridCol w="1122159"/>
              </a:tblGrid>
              <a:tr h="77736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</a:t>
                      </a:r>
                      <a:r>
                        <a:rPr lang="en-GB" sz="12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 in production</a:t>
                      </a:r>
                      <a:endParaRPr lang="en-IN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Schedule uploaded in SAP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Sales</a:t>
                      </a:r>
                      <a:r>
                        <a:rPr lang="en-GB" sz="1200" baseline="0" dirty="0" smtClean="0"/>
                        <a:t> Order 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CRD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Actual</a:t>
                      </a:r>
                      <a:r>
                        <a:rPr lang="en-GB" sz="1200" baseline="0" dirty="0" smtClean="0"/>
                        <a:t> </a:t>
                      </a:r>
                      <a:r>
                        <a:rPr lang="en-GB" sz="1200" dirty="0" smtClean="0"/>
                        <a:t>Line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Line</a:t>
                      </a:r>
                      <a:r>
                        <a:rPr lang="en-GB" sz="1200" baseline="0" dirty="0" smtClean="0"/>
                        <a:t> in SAP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Quantity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 </a:t>
                      </a:r>
                      <a:r>
                        <a:rPr lang="en-GB" sz="12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SAP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r>
                        <a:rPr lang="en-GB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schedule </a:t>
                      </a:r>
                      <a:r>
                        <a:rPr lang="en-GB" sz="1200" b="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r>
                        <a:rPr lang="en-IN" sz="12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Cutting</a:t>
                      </a:r>
                      <a:r>
                        <a:rPr lang="en-IN" sz="1200" b="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Qty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 Qty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43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06/01-06/07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05/20-06/07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1000225437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2025/06/07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K3,5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AP7C02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0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06/01-06/07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05/27-06/18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1000229526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2025/06/15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K3,5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1118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7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06/08-06/14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05/27-06/18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1000225450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2025/06/23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447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4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06/22-06/28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06/04-06-30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1000201174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2025/08/07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06/22-06/28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06/04-06/30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2025/08/23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G1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AP7C01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06/22-06/28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06/16-07/15</a:t>
                      </a:r>
                      <a:endParaRPr lang="en-IN" sz="1200" b="1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1000229878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2025/07/15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+mn-lt"/>
                          <a:cs typeface="+mn-cs"/>
                        </a:rPr>
                        <a:t>E6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AP7C07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OK</a:t>
                      </a:r>
                      <a:endParaRPr lang="en-IN" sz="1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246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Actual Schedule For re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862" y="485243"/>
            <a:ext cx="324612" cy="2507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70" y="448492"/>
            <a:ext cx="11712723" cy="3242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uploaded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in SAP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leads to misalignment with production CRD.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862" y="828754"/>
            <a:ext cx="324612" cy="250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171" y="809505"/>
            <a:ext cx="11712723" cy="3200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dates followed in production and the schedule dates maintained 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8169" y="1166296"/>
            <a:ext cx="11712723" cy="32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lines followed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maintained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862" y="1200936"/>
            <a:ext cx="324612" cy="2507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290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81" y="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 out Issues While 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" y="476338"/>
            <a:ext cx="447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Created but No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Purchase/Fetching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548640" y="882061"/>
            <a:ext cx="103836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4040402339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4040402288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BOM planned but purchase not triggered, leading to delay in production readiness.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" y="1401833"/>
            <a:ext cx="582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Done but No Fetching Info / Issues in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Fetching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48640" y="1752404"/>
            <a:ext cx="107015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3100195232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Purchase completed, but material not fetched or errors in issuance (highlighted in red).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250869"/>
            <a:ext cx="3748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Total Dosage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48640" y="2624387"/>
            <a:ext cx="11018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 4040708467 (26,865.200 dosage for just 951.129 requirement)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Likely a BOM error—dosage quantity too high for the required qty. Needs rechecking of BOM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3101579"/>
            <a:ext cx="3615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In Fetching Issue Process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48640" y="3494787"/>
            <a:ext cx="990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delay in the fetching process — fetching is being done two or more days after the creation date, which affects timely material availability and process flow.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1145" y="3986968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Delay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76729" y="4395939"/>
            <a:ext cx="990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GB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cutting quantity has been fully completed; however, procurement for certain materials associated with these POs is still pending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729" y="5354020"/>
            <a:ext cx="83313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Rescheduled </a:t>
            </a:r>
            <a:r>
              <a:rPr lang="en-GB" sz="1400" dirty="0" err="1" smtClean="0"/>
              <a:t>pos</a:t>
            </a:r>
            <a:r>
              <a:rPr lang="en-GB" sz="1400" dirty="0" smtClean="0"/>
              <a:t> and </a:t>
            </a:r>
            <a:r>
              <a:rPr lang="en-GB" sz="1400" dirty="0"/>
              <a:t>notice </a:t>
            </a:r>
            <a:r>
              <a:rPr lang="en-GB" sz="1400" dirty="0" err="1" smtClean="0"/>
              <a:t>pos</a:t>
            </a:r>
            <a:r>
              <a:rPr lang="en-GB" sz="1400" dirty="0" smtClean="0"/>
              <a:t> are </a:t>
            </a:r>
            <a:r>
              <a:rPr lang="en-GB" sz="1400" dirty="0"/>
              <a:t>also not yet updated in the SAP system.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109728" y="4934360"/>
            <a:ext cx="3325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Reschedule Pos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9728" y="5697086"/>
            <a:ext cx="3325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Excess Quantity :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6135016"/>
            <a:ext cx="83313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Purchasing excess quantity for some materials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38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47870"/>
              </p:ext>
            </p:extLst>
          </p:nvPr>
        </p:nvGraphicFramePr>
        <p:xfrm>
          <a:off x="167666" y="609599"/>
          <a:ext cx="11847219" cy="600039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830510"/>
                <a:gridCol w="956345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9822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</a:rPr>
                        <a:t>1000225437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4040300019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840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4040402339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164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476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FC2504049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-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4040402288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676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2,246.000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FC2504049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3100195320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2.511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8.124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42.524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C102770862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2.512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2.512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3100195232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0.5460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1.752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1.752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FC2504049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C102770868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0.551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0.362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0.189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3100195001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15.8608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51.346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340.171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C102770864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15.863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15.863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4040100097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5.867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18.961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58.000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C102777629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5.871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5.871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3100195267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6.91350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22.388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167.059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C102777626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6.917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6.917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3100189294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9.77311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31.652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120.163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C102777626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9.776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9.776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4030500497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5.314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17.189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67.831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C102777624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5.318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5.318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4040708467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26,865.200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951.129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952.000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FC2504049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C102770865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293.812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293.812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20346" y="609599"/>
            <a:ext cx="1820562" cy="98030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40908" y="609599"/>
            <a:ext cx="3542270" cy="980304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83178" y="609599"/>
            <a:ext cx="5531707" cy="980304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281" y="609599"/>
            <a:ext cx="972065" cy="980304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8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5946" y="667265"/>
            <a:ext cx="10313773" cy="137571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41180"/>
              </p:ext>
            </p:extLst>
          </p:nvPr>
        </p:nvGraphicFramePr>
        <p:xfrm>
          <a:off x="147265" y="2392558"/>
          <a:ext cx="11847219" cy="35057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916856"/>
                <a:gridCol w="869999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1055277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</a:rPr>
                        <a:t>1000225437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40304105062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FC2504049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C102770857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91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40304105063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82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229.000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229.000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ysClr val="windowText" lastClr="000000"/>
                          </a:solidFill>
                        </a:rPr>
                        <a:t>FC2504049</a:t>
                      </a:r>
                      <a:endParaRPr lang="en-IN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C102770857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82.000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82.000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91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4030404850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238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807.000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807.000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ysClr val="windowText" lastClr="000000"/>
                          </a:solidFill>
                        </a:rPr>
                        <a:t>FC2504049</a:t>
                      </a:r>
                      <a:endParaRPr lang="en-IN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C102770857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238.000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238.000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91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4041705326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5.90850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19.113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/>
                        <a:t>FC2504049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C102770870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5.916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5.916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91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31001100794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30.60470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98.761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98.761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FC2504049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C102777623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30.608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30.608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19330" y="2392557"/>
            <a:ext cx="1820562" cy="1053149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39892" y="2392558"/>
            <a:ext cx="3542270" cy="1053149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82162" y="2392558"/>
            <a:ext cx="5531707" cy="1053149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7265" y="2392558"/>
            <a:ext cx="972065" cy="1053149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 Cutting Material Tracking For schedule Pos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2956" y="829958"/>
            <a:ext cx="87650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cutting process materials —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indicating BOM accuracy, successful purchase alignment, and timely fetching. All process checks passed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but difference between fetching creation date and fetching issue date.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59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832262"/>
              </p:ext>
            </p:extLst>
          </p:nvPr>
        </p:nvGraphicFramePr>
        <p:xfrm>
          <a:off x="159428" y="551934"/>
          <a:ext cx="11847219" cy="50920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830510"/>
                <a:gridCol w="956345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9822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</a:rPr>
                        <a:t>1000229526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4040402289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2,236.0000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3,600.000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FC2505050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3100155395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22.99170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37.022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205.601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22.996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22.996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3100168682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1.73930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2.789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14.817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1.745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1.745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2025.05.27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2025.05.29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4040706157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77,184.500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1,359.261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1,360.000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844.113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844.113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3100163469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8.07490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13.000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47.337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C102788023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8.077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8.077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3100163468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53.51250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86.182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154.891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53.519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53.519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4040100918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19.18640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30.894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37.621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19.190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19.190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2025/06/11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3100161679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31.65960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50.991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191.901</a:t>
                      </a:r>
                    </a:p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31.665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31.665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4030500393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17.22340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27.734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27.734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C102805159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17.227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17.227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12108" y="551934"/>
            <a:ext cx="1820562" cy="98030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32670" y="551934"/>
            <a:ext cx="3542270" cy="980304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74940" y="551934"/>
            <a:ext cx="5531707" cy="980304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043" y="551934"/>
            <a:ext cx="972065" cy="980304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8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09879"/>
              </p:ext>
            </p:extLst>
          </p:nvPr>
        </p:nvGraphicFramePr>
        <p:xfrm>
          <a:off x="140043" y="1721708"/>
          <a:ext cx="11847219" cy="417562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830510"/>
                <a:gridCol w="956345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9822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</a:rPr>
                        <a:t>1000229526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165.00000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267.000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267.000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175.000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175.00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337.00000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540.000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540.000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FC2505050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337.000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337.000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155.00000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254.000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254.000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FC2505050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155.000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155.000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43.000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43.000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FC2505050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4041703174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19.12250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30.790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42.436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FC2505050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C102788025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19.131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3100199331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106.64660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171.708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171.708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FC2505050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C102805158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106.650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106.650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2025.06.11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4030403937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435.00000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696.000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696.000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FC2505050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435.000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435.000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12108" y="1738186"/>
            <a:ext cx="1820562" cy="98030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932670" y="1738186"/>
            <a:ext cx="3542270" cy="980304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474940" y="1738186"/>
            <a:ext cx="5531707" cy="980304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40043" y="1738186"/>
            <a:ext cx="972065" cy="980304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703" y="484385"/>
            <a:ext cx="10313773" cy="10167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3876" y="485211"/>
            <a:ext cx="87650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cutting process materials —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indicating BOM accuracy, successful purchase alignment, and timely fetching. All process checks passed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but difference between fetching creation date and fetching issue date.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77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0901"/>
              </p:ext>
            </p:extLst>
          </p:nvPr>
        </p:nvGraphicFramePr>
        <p:xfrm>
          <a:off x="159428" y="551934"/>
          <a:ext cx="11847219" cy="600442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830510"/>
                <a:gridCol w="956345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9822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1000225450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4040402289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856.00000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856.000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>
                          <a:solidFill>
                            <a:schemeClr val="bg1"/>
                          </a:solidFill>
                        </a:rPr>
                        <a:t>FC2506028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4040402290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38.00000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38.000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>
                          <a:solidFill>
                            <a:schemeClr val="bg1"/>
                          </a:solidFill>
                        </a:rPr>
                        <a:t>FC2506028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-</a:t>
                      </a:r>
                      <a:endParaRPr lang="en-IN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-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4040100918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/>
                    </a:p>
                    <a:p>
                      <a:pPr algn="ctr"/>
                      <a:r>
                        <a:rPr lang="en-IN" sz="1200" dirty="0" smtClean="0"/>
                        <a:t>7.54560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7.542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8.000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7.550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2025.06.11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3100168682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0.69030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0.685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0.685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0.696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0.696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3100163469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3.18500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3.183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3.183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C102788023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3.188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3.188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4040706157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335.61134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335.606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336.000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170.378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170.378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C102804562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165.247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165.247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2025.06.03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4030500393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6.78320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6.779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C102805159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6.789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6.789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3100161679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12.45900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12.454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0</a:t>
                      </a:r>
                    </a:p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12.454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12.465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12.465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3100155395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9.06180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9.057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9.057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C102805161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9.066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9.066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2025/06/03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2025/06/09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3100163468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21.03420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21.029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21.029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21.038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21.038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12108" y="551934"/>
            <a:ext cx="1820562" cy="98030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32670" y="551934"/>
            <a:ext cx="3542270" cy="980304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74940" y="551934"/>
            <a:ext cx="5531707" cy="980304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043" y="551934"/>
            <a:ext cx="972065" cy="980304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8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9555"/>
              </p:ext>
            </p:extLst>
          </p:nvPr>
        </p:nvGraphicFramePr>
        <p:xfrm>
          <a:off x="140043" y="1721708"/>
          <a:ext cx="11847219" cy="46318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6700"/>
                <a:gridCol w="830510"/>
                <a:gridCol w="956345"/>
                <a:gridCol w="1015068"/>
                <a:gridCol w="780176"/>
                <a:gridCol w="813732"/>
                <a:gridCol w="931178"/>
                <a:gridCol w="1015068"/>
                <a:gridCol w="788565"/>
                <a:gridCol w="704675"/>
                <a:gridCol w="729842"/>
                <a:gridCol w="1051289"/>
                <a:gridCol w="1264071"/>
              </a:tblGrid>
              <a:tr h="9822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Requirement </a:t>
                      </a:r>
                    </a:p>
                    <a:p>
                      <a:pPr algn="ctr"/>
                      <a:r>
                        <a:rPr lang="en-IN" sz="1200" dirty="0" smtClean="0"/>
                        <a:t>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Allocated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Purchase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Number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1000225450</a:t>
                      </a:r>
                      <a:endParaRPr lang="en-IN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19.000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19.000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64.00000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64.000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64.000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FC2506028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64.000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64.000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116.00000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116.000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116.000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>
                          <a:solidFill>
                            <a:schemeClr val="tx1"/>
                          </a:solidFill>
                        </a:rPr>
                        <a:t>FC2506028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116.000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116.000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FC2506028</a:t>
                      </a:r>
                      <a:endParaRPr lang="en-IN" sz="1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59.000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4030404105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FC2506028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19.131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19.131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2025/05/27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4030403937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188.00000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188.000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188.000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FC2506028</a:t>
                      </a:r>
                      <a:endParaRPr lang="en-IN" sz="1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C102788022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188.000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188.000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2025.05.27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2025.05.27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4041703174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7.53340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7.528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7.528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FC2506028</a:t>
                      </a:r>
                      <a:endParaRPr lang="en-IN" sz="1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C102788025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7.546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7.546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2025/05/27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2025/05/29</a:t>
                      </a:r>
                      <a:endParaRPr lang="en-IN" sz="1200" dirty="0"/>
                    </a:p>
                  </a:txBody>
                  <a:tcPr anchor="ctr"/>
                </a:tc>
              </a:tr>
              <a:tr h="456192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3100199331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42.34070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42.334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42.334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 smtClean="0"/>
                        <a:t>FC2506028</a:t>
                      </a:r>
                      <a:endParaRPr lang="en-IN" sz="1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C102805158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42.344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42.344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smtClean="0"/>
                        <a:t>2025/06/03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2025/06/11</a:t>
                      </a:r>
                      <a:endParaRPr lang="en-IN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12108" y="1738186"/>
            <a:ext cx="1820562" cy="98030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39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932670" y="1738186"/>
            <a:ext cx="3542270" cy="980304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  <a:alpha val="49000"/>
                </a:schemeClr>
              </a:gs>
              <a:gs pos="50000">
                <a:schemeClr val="accent5">
                  <a:lumMod val="105000"/>
                  <a:satMod val="103000"/>
                  <a:tint val="73000"/>
                  <a:alpha val="72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474940" y="1738186"/>
            <a:ext cx="5531707" cy="980304"/>
          </a:xfrm>
          <a:prstGeom prst="rect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68000"/>
                </a:schemeClr>
              </a:gs>
              <a:gs pos="50000">
                <a:schemeClr val="accent6">
                  <a:lumMod val="105000"/>
                  <a:satMod val="103000"/>
                  <a:tint val="73000"/>
                  <a:alpha val="74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40043" y="1738186"/>
            <a:ext cx="972065" cy="980304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50000"/>
                </a:schemeClr>
              </a:gs>
              <a:gs pos="50000">
                <a:schemeClr val="accent2">
                  <a:lumMod val="105000"/>
                  <a:satMod val="103000"/>
                  <a:tint val="73000"/>
                  <a:alpha val="56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  <a:alpha val="66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Tracking For schedule POs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703" y="484385"/>
            <a:ext cx="10313773" cy="10167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3876" y="485211"/>
            <a:ext cx="87650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automatic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cutting process materials —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indicating BOM accuracy, successful purchase alignment, and timely fetching. All process checks passed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but difference between fetching creation date and fetching issue date.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46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7000">
              <a:schemeClr val="accent1">
                <a:lumMod val="40000"/>
                <a:lumOff val="60000"/>
              </a:schemeClr>
            </a:gs>
            <a:gs pos="29000">
              <a:schemeClr val="accent1">
                <a:lumMod val="40000"/>
                <a:lumOff val="60000"/>
              </a:schemeClr>
            </a:gs>
            <a:gs pos="55000">
              <a:schemeClr val="accent1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58689" y="5160939"/>
            <a:ext cx="11813309" cy="15816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64218" y="3841245"/>
            <a:ext cx="11813309" cy="1247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64219" y="1899591"/>
            <a:ext cx="11813309" cy="18873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64220" y="447452"/>
            <a:ext cx="11813309" cy="14078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MPS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7545" y="577951"/>
            <a:ext cx="16546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C00000"/>
                </a:solidFill>
              </a:rPr>
              <a:t>Purpose of MPS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63419" y="1000202"/>
            <a:ext cx="121735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MPS is designed to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production planning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collects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order information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processes it, and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schedules production line-wise and article-wise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improve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and visibility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0" y="1911795"/>
            <a:ext cx="29012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solidFill>
                  <a:srgbClr val="C00000"/>
                </a:solidFill>
              </a:rPr>
              <a:t>Why MPS is Not in Use Currently</a:t>
            </a:r>
            <a:endParaRPr lang="en-IN" sz="1400" b="1" dirty="0">
              <a:solidFill>
                <a:srgbClr val="C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77273" y="2273907"/>
            <a:ext cx="1207192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current MPS system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excess production schedules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leading to: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Overproduction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Misalignment with actual order requirements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Confusion at the execution level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issues caused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 in the production process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545" y="3872178"/>
            <a:ext cx="21749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C00000"/>
                </a:solidFill>
              </a:rPr>
              <a:t>APE Team Involvement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77273" y="4246773"/>
            <a:ext cx="95819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APE Team has been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informed about the issue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currently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on modifying and correcting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MPS logic.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Timeline for resolution is still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discussion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545" y="5274759"/>
            <a:ext cx="31406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 smtClean="0">
                <a:solidFill>
                  <a:srgbClr val="C00000"/>
                </a:solidFill>
              </a:rPr>
              <a:t>Temporary </a:t>
            </a:r>
            <a:r>
              <a:rPr lang="en-GB" sz="1400" b="1" dirty="0">
                <a:solidFill>
                  <a:srgbClr val="C00000"/>
                </a:solidFill>
              </a:rPr>
              <a:t>Action by Planning Team</a:t>
            </a:r>
            <a:endParaRPr lang="en-IN" sz="14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7237" y="576805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200" dirty="0"/>
              <a:t>Until the MPS tool is stabilized: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200" dirty="0"/>
              <a:t>The Planning team is using </a:t>
            </a:r>
            <a:r>
              <a:rPr lang="en-GB" sz="1200" b="1" dirty="0"/>
              <a:t>SAP</a:t>
            </a:r>
            <a:r>
              <a:rPr lang="en-GB" sz="1200" dirty="0"/>
              <a:t> directly to execute and manage production schedules manually.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200" dirty="0"/>
              <a:t>This ensures </a:t>
            </a:r>
            <a:r>
              <a:rPr lang="en-GB" sz="1200" b="1" dirty="0"/>
              <a:t>more control and accuracy</a:t>
            </a:r>
            <a:r>
              <a:rPr lang="en-GB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4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9618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3007</Words>
  <Application>Microsoft Office PowerPoint</Application>
  <PresentationFormat>Widescreen</PresentationFormat>
  <Paragraphs>1471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72 Black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97</cp:revision>
  <dcterms:created xsi:type="dcterms:W3CDTF">2025-07-14T03:15:28Z</dcterms:created>
  <dcterms:modified xsi:type="dcterms:W3CDTF">2025-07-22T11:32:41Z</dcterms:modified>
</cp:coreProperties>
</file>